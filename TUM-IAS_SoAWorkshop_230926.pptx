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60" r:id="rId3"/>
    <p:sldId id="264" r:id="rId4"/>
    <p:sldId id="267" r:id="rId5"/>
    <p:sldId id="270" r:id="rId6"/>
    <p:sldId id="271" r:id="rId7"/>
    <p:sldId id="273" r:id="rId8"/>
    <p:sldId id="275" r:id="rId9"/>
    <p:sldId id="277" r:id="rId10"/>
    <p:sldId id="278" r:id="rId11"/>
    <p:sldId id="281" r:id="rId12"/>
    <p:sldId id="283" r:id="rId13"/>
    <p:sldId id="287" r:id="rId14"/>
    <p:sldId id="289" r:id="rId15"/>
    <p:sldId id="290" r:id="rId16"/>
    <p:sldId id="291" r:id="rId17"/>
    <p:sldId id="301" r:id="rId18"/>
    <p:sldId id="302" r:id="rId19"/>
  </p:sldIdLst>
  <p:sldSz cx="18288000" cy="10287000"/>
  <p:notesSz cx="6858000" cy="9144000"/>
  <p:embeddedFontLst>
    <p:embeddedFont>
      <p:font typeface="Arimo" panose="020B0604020202020204" charset="0"/>
      <p:regular r:id="rId21"/>
    </p:embeddedFont>
    <p:embeddedFont>
      <p:font typeface="Open Sans" panose="020B0606030504020204" pitchFamily="34" charset="0"/>
      <p:regular r:id="rId22"/>
    </p:embeddedFont>
    <p:embeddedFont>
      <p:font typeface="Open Sans Bold" panose="020B0604020202020204" charset="0"/>
      <p:regular r:id="rId23"/>
    </p:embeddedFont>
    <p:embeddedFont>
      <p:font typeface="Open Sans Bold Italics" panose="020B0604020202020204" charset="0"/>
      <p:regular r:id="rId24"/>
    </p:embeddedFont>
    <p:embeddedFont>
      <p:font typeface="Open Sans Italics" panose="020B0604020202020204" charset="0"/>
      <p:regular r:id="rId25"/>
    </p:embeddedFont>
    <p:embeddedFont>
      <p:font typeface="Open Sauce Bold" panose="020B0604020202020204" charset="0"/>
      <p:regular r:id="rId26"/>
    </p:embeddedFont>
    <p:embeddedFont>
      <p:font typeface="Playfair Display Bold" panose="020B0604020202020204" charset="0"/>
      <p:regular r:id="rId27"/>
    </p:embeddedFont>
    <p:embeddedFont>
      <p:font typeface="Playfair Display Bold Italics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09.10.2026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would occur only if existing expectation is high control (Wen &amp; Haggard, 2018; Wen et al., 2020)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would occur only if existing expectation is high control (Wen &amp; Haggard, 2018; Wen et al., 2020)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sv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image" Target="../media/image6.sv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7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88577" y="6490434"/>
            <a:ext cx="15670723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3" name="AutoShape 3"/>
          <p:cNvSpPr/>
          <p:nvPr/>
        </p:nvSpPr>
        <p:spPr>
          <a:xfrm flipH="1" flipV="1">
            <a:off x="990600" y="-142991"/>
            <a:ext cx="0" cy="10572982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4" name="Freeform 4"/>
          <p:cNvSpPr/>
          <p:nvPr/>
        </p:nvSpPr>
        <p:spPr>
          <a:xfrm>
            <a:off x="1590675" y="371475"/>
            <a:ext cx="2683588" cy="1341794"/>
          </a:xfrm>
          <a:custGeom>
            <a:avLst/>
            <a:gdLst/>
            <a:ahLst/>
            <a:cxnLst/>
            <a:rect l="l" t="t" r="r" b="b"/>
            <a:pathLst>
              <a:path w="2683588" h="1341794">
                <a:moveTo>
                  <a:pt x="0" y="0"/>
                </a:moveTo>
                <a:lnTo>
                  <a:pt x="2683588" y="0"/>
                </a:lnTo>
                <a:lnTo>
                  <a:pt x="2683588" y="1341794"/>
                </a:lnTo>
                <a:lnTo>
                  <a:pt x="0" y="1341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3048" t="-155567" r="-104923" b="-155061"/>
            </a:stretch>
          </a:blipFill>
        </p:spPr>
        <p:txBody>
          <a:bodyPr/>
          <a:lstStyle/>
          <a:p>
            <a:endParaRPr lang="en-DE"/>
          </a:p>
        </p:txBody>
      </p:sp>
      <p:sp>
        <p:nvSpPr>
          <p:cNvPr id="5" name="Freeform 5"/>
          <p:cNvSpPr/>
          <p:nvPr/>
        </p:nvSpPr>
        <p:spPr>
          <a:xfrm>
            <a:off x="14505494" y="374347"/>
            <a:ext cx="3398077" cy="1325250"/>
          </a:xfrm>
          <a:custGeom>
            <a:avLst/>
            <a:gdLst/>
            <a:ahLst/>
            <a:cxnLst/>
            <a:rect l="l" t="t" r="r" b="b"/>
            <a:pathLst>
              <a:path w="3398077" h="1325250">
                <a:moveTo>
                  <a:pt x="0" y="0"/>
                </a:moveTo>
                <a:lnTo>
                  <a:pt x="3398077" y="0"/>
                </a:lnTo>
                <a:lnTo>
                  <a:pt x="3398077" y="1325250"/>
                </a:lnTo>
                <a:lnTo>
                  <a:pt x="0" y="1325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  <p:sp>
        <p:nvSpPr>
          <p:cNvPr id="6" name="TextBox 6"/>
          <p:cNvSpPr txBox="1"/>
          <p:nvPr/>
        </p:nvSpPr>
        <p:spPr>
          <a:xfrm>
            <a:off x="1588577" y="2312517"/>
            <a:ext cx="9509419" cy="178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7500" b="1" spc="-525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Better Controlled, Better Remembered?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88577" y="4296459"/>
            <a:ext cx="15670723" cy="1717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74"/>
              </a:lnSpc>
              <a:spcBef>
                <a:spcPct val="0"/>
              </a:spcBef>
            </a:pPr>
            <a:r>
              <a:rPr lang="en-US" sz="5499" spc="-164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r>
              <a:rPr lang="en-US" sz="5499" u="none" strike="noStrike" spc="-164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ow Sense of Agency Shapes Recognition Memory Through Detection and Subjective Sense of Control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88577" y="7874784"/>
            <a:ext cx="7701912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600" spc="-107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Elif Gezen | elif.gezen@psy.lmu.de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88577" y="6632297"/>
            <a:ext cx="14501731" cy="1099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-14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TUM-IAS SoA Workshop 2026: Sense of Agency in Real-World Applications</a:t>
            </a:r>
          </a:p>
          <a:p>
            <a:pPr algn="l">
              <a:lnSpc>
                <a:spcPts val="4480"/>
              </a:lnSpc>
            </a:pPr>
            <a:endParaRPr lang="en-US" sz="3200" spc="-140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88577" y="8594717"/>
            <a:ext cx="16038926" cy="756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spc="-72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LMU Munich, Department of Psychology, Body Social Cognition and Action Lab </a:t>
            </a:r>
          </a:p>
          <a:p>
            <a:pPr algn="l">
              <a:lnSpc>
                <a:spcPts val="3000"/>
              </a:lnSpc>
            </a:pPr>
            <a:r>
              <a:rPr lang="en-US" sz="2400" spc="-72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LMU Munich, Graduate School of Systemic Neurosciences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588577" y="7465052"/>
            <a:ext cx="15670723" cy="9525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72417" y="1038225"/>
            <a:ext cx="8810692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3" name="AutoShape 3"/>
          <p:cNvSpPr/>
          <p:nvPr/>
        </p:nvSpPr>
        <p:spPr>
          <a:xfrm>
            <a:off x="0" y="9774201"/>
            <a:ext cx="18288000" cy="9525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4" name="Freeform 4"/>
          <p:cNvSpPr/>
          <p:nvPr/>
        </p:nvSpPr>
        <p:spPr>
          <a:xfrm>
            <a:off x="8382316" y="4854394"/>
            <a:ext cx="1565445" cy="1103639"/>
          </a:xfrm>
          <a:custGeom>
            <a:avLst/>
            <a:gdLst/>
            <a:ahLst/>
            <a:cxnLst/>
            <a:rect l="l" t="t" r="r" b="b"/>
            <a:pathLst>
              <a:path w="1565445" h="1103639">
                <a:moveTo>
                  <a:pt x="0" y="0"/>
                </a:moveTo>
                <a:lnTo>
                  <a:pt x="1565444" y="0"/>
                </a:lnTo>
                <a:lnTo>
                  <a:pt x="1565444" y="1103638"/>
                </a:lnTo>
                <a:lnTo>
                  <a:pt x="0" y="11036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  <p:sp>
        <p:nvSpPr>
          <p:cNvPr id="5" name="AutoShape 5"/>
          <p:cNvSpPr/>
          <p:nvPr/>
        </p:nvSpPr>
        <p:spPr>
          <a:xfrm flipV="1">
            <a:off x="1028700" y="-61907"/>
            <a:ext cx="38100" cy="9836107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6" name="Freeform 6"/>
          <p:cNvSpPr/>
          <p:nvPr/>
        </p:nvSpPr>
        <p:spPr>
          <a:xfrm>
            <a:off x="1700625" y="3925615"/>
            <a:ext cx="1149046" cy="1727889"/>
          </a:xfrm>
          <a:custGeom>
            <a:avLst/>
            <a:gdLst/>
            <a:ahLst/>
            <a:cxnLst/>
            <a:rect l="l" t="t" r="r" b="b"/>
            <a:pathLst>
              <a:path w="1149046" h="1727889">
                <a:moveTo>
                  <a:pt x="0" y="0"/>
                </a:moveTo>
                <a:lnTo>
                  <a:pt x="1149046" y="0"/>
                </a:lnTo>
                <a:lnTo>
                  <a:pt x="1149046" y="1727889"/>
                </a:lnTo>
                <a:lnTo>
                  <a:pt x="0" y="17278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  <p:grpSp>
        <p:nvGrpSpPr>
          <p:cNvPr id="7" name="Group 7"/>
          <p:cNvGrpSpPr/>
          <p:nvPr/>
        </p:nvGrpSpPr>
        <p:grpSpPr>
          <a:xfrm>
            <a:off x="11298394" y="3904116"/>
            <a:ext cx="3869949" cy="580492"/>
            <a:chOff x="0" y="0"/>
            <a:chExt cx="4572000" cy="685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72000" cy="685800"/>
            </a:xfrm>
            <a:custGeom>
              <a:avLst/>
              <a:gdLst/>
              <a:ahLst/>
              <a:cxnLst/>
              <a:rect l="l" t="t" r="r" b="b"/>
              <a:pathLst>
                <a:path w="4572000" h="685800">
                  <a:moveTo>
                    <a:pt x="129721" y="0"/>
                  </a:moveTo>
                  <a:lnTo>
                    <a:pt x="4442278" y="0"/>
                  </a:lnTo>
                  <a:cubicBezTo>
                    <a:pt x="4476683" y="0"/>
                    <a:pt x="4509678" y="13667"/>
                    <a:pt x="4534005" y="37995"/>
                  </a:cubicBezTo>
                  <a:cubicBezTo>
                    <a:pt x="4558333" y="62322"/>
                    <a:pt x="4572000" y="95317"/>
                    <a:pt x="4572000" y="129721"/>
                  </a:cubicBezTo>
                  <a:lnTo>
                    <a:pt x="4572000" y="556079"/>
                  </a:lnTo>
                  <a:cubicBezTo>
                    <a:pt x="4572000" y="590483"/>
                    <a:pt x="4558333" y="623478"/>
                    <a:pt x="4534005" y="647805"/>
                  </a:cubicBezTo>
                  <a:cubicBezTo>
                    <a:pt x="4509678" y="672133"/>
                    <a:pt x="4476683" y="685800"/>
                    <a:pt x="4442278" y="685800"/>
                  </a:cubicBezTo>
                  <a:lnTo>
                    <a:pt x="129721" y="685800"/>
                  </a:lnTo>
                  <a:cubicBezTo>
                    <a:pt x="95317" y="685800"/>
                    <a:pt x="62322" y="672133"/>
                    <a:pt x="37995" y="647805"/>
                  </a:cubicBezTo>
                  <a:cubicBezTo>
                    <a:pt x="13667" y="623478"/>
                    <a:pt x="0" y="590483"/>
                    <a:pt x="0" y="556079"/>
                  </a:cubicBezTo>
                  <a:lnTo>
                    <a:pt x="0" y="129721"/>
                  </a:lnTo>
                  <a:cubicBezTo>
                    <a:pt x="0" y="95317"/>
                    <a:pt x="13667" y="62322"/>
                    <a:pt x="37995" y="37995"/>
                  </a:cubicBezTo>
                  <a:cubicBezTo>
                    <a:pt x="62322" y="13667"/>
                    <a:pt x="95317" y="0"/>
                    <a:pt x="129721" y="0"/>
                  </a:cubicBezTo>
                  <a:close/>
                </a:path>
              </a:pathLst>
            </a:custGeom>
            <a:solidFill>
              <a:srgbClr val="F87AC4"/>
            </a:solidFill>
          </p:spPr>
          <p:txBody>
            <a:bodyPr/>
            <a:lstStyle/>
            <a:p>
              <a:endParaRPr lang="en-D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4572000" cy="704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298394" y="3963989"/>
            <a:ext cx="3869949" cy="406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8"/>
              </a:lnSpc>
            </a:pPr>
            <a:r>
              <a:rPr lang="en-US" sz="2370" b="1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Higher-level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298394" y="4570607"/>
            <a:ext cx="3869949" cy="1182484"/>
            <a:chOff x="0" y="0"/>
            <a:chExt cx="4572000" cy="1397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72000" cy="1397000"/>
            </a:xfrm>
            <a:custGeom>
              <a:avLst/>
              <a:gdLst/>
              <a:ahLst/>
              <a:cxnLst/>
              <a:rect l="l" t="t" r="r" b="b"/>
              <a:pathLst>
                <a:path w="4572000" h="1397000">
                  <a:moveTo>
                    <a:pt x="129721" y="0"/>
                  </a:moveTo>
                  <a:lnTo>
                    <a:pt x="4442278" y="0"/>
                  </a:lnTo>
                  <a:cubicBezTo>
                    <a:pt x="4476683" y="0"/>
                    <a:pt x="4509678" y="13667"/>
                    <a:pt x="4534005" y="37995"/>
                  </a:cubicBezTo>
                  <a:cubicBezTo>
                    <a:pt x="4558333" y="62322"/>
                    <a:pt x="4572000" y="95317"/>
                    <a:pt x="4572000" y="129721"/>
                  </a:cubicBezTo>
                  <a:lnTo>
                    <a:pt x="4572000" y="1267279"/>
                  </a:lnTo>
                  <a:cubicBezTo>
                    <a:pt x="4572000" y="1301683"/>
                    <a:pt x="4558333" y="1334678"/>
                    <a:pt x="4534005" y="1359006"/>
                  </a:cubicBezTo>
                  <a:cubicBezTo>
                    <a:pt x="4509678" y="1383333"/>
                    <a:pt x="4476683" y="1397000"/>
                    <a:pt x="4442278" y="1397000"/>
                  </a:cubicBezTo>
                  <a:lnTo>
                    <a:pt x="129721" y="1397000"/>
                  </a:lnTo>
                  <a:cubicBezTo>
                    <a:pt x="95317" y="1397000"/>
                    <a:pt x="62322" y="1383333"/>
                    <a:pt x="37995" y="1359006"/>
                  </a:cubicBezTo>
                  <a:cubicBezTo>
                    <a:pt x="13667" y="1334678"/>
                    <a:pt x="0" y="1301683"/>
                    <a:pt x="0" y="1267279"/>
                  </a:cubicBezTo>
                  <a:lnTo>
                    <a:pt x="0" y="129721"/>
                  </a:lnTo>
                  <a:cubicBezTo>
                    <a:pt x="0" y="95317"/>
                    <a:pt x="13667" y="62322"/>
                    <a:pt x="37995" y="37995"/>
                  </a:cubicBezTo>
                  <a:cubicBezTo>
                    <a:pt x="62322" y="13667"/>
                    <a:pt x="95317" y="0"/>
                    <a:pt x="129721" y="0"/>
                  </a:cubicBezTo>
                  <a:close/>
                </a:path>
              </a:pathLst>
            </a:custGeom>
            <a:solidFill>
              <a:srgbClr val="FEF1F8"/>
            </a:solidFill>
            <a:ln w="19050" cap="sq">
              <a:solidFill>
                <a:srgbClr val="F87AC4"/>
              </a:solidFill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4572000" cy="1416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384393" y="4649530"/>
            <a:ext cx="3697951" cy="100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031" b="1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Action–outcome congruence</a:t>
            </a:r>
          </a:p>
          <a:p>
            <a:pPr algn="ctr">
              <a:lnSpc>
                <a:spcPts val="2640"/>
              </a:lnSpc>
            </a:pPr>
            <a:r>
              <a:rPr lang="en-US" sz="2031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Freedom of Choice</a:t>
            </a:r>
          </a:p>
          <a:p>
            <a:pPr algn="ctr">
              <a:lnSpc>
                <a:spcPts val="2640"/>
              </a:lnSpc>
            </a:pPr>
            <a:r>
              <a:rPr lang="en-US" sz="2031" b="1" i="1">
                <a:solidFill>
                  <a:srgbClr val="424242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Subjective Feeling</a:t>
            </a:r>
            <a:r>
              <a:rPr lang="en-US" sz="2031" i="1">
                <a:solidFill>
                  <a:srgbClr val="424242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of Agency</a:t>
            </a:r>
          </a:p>
        </p:txBody>
      </p:sp>
      <p:sp>
        <p:nvSpPr>
          <p:cNvPr id="15" name="Freeform 15"/>
          <p:cNvSpPr/>
          <p:nvPr/>
        </p:nvSpPr>
        <p:spPr>
          <a:xfrm>
            <a:off x="15480405" y="3839617"/>
            <a:ext cx="2243216" cy="2030111"/>
          </a:xfrm>
          <a:custGeom>
            <a:avLst/>
            <a:gdLst/>
            <a:ahLst/>
            <a:cxnLst/>
            <a:rect l="l" t="t" r="r" b="b"/>
            <a:pathLst>
              <a:path w="2243216" h="2030111">
                <a:moveTo>
                  <a:pt x="0" y="0"/>
                </a:moveTo>
                <a:lnTo>
                  <a:pt x="2243216" y="0"/>
                </a:lnTo>
                <a:lnTo>
                  <a:pt x="2243216" y="2030110"/>
                </a:lnTo>
                <a:lnTo>
                  <a:pt x="0" y="2030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  <p:sp>
        <p:nvSpPr>
          <p:cNvPr id="16" name="TextBox 16"/>
          <p:cNvSpPr txBox="1"/>
          <p:nvPr/>
        </p:nvSpPr>
        <p:spPr>
          <a:xfrm>
            <a:off x="1371600" y="209550"/>
            <a:ext cx="8810692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5499" b="1" spc="-384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Background &amp; Aim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970399" y="981774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5776" y="9869762"/>
            <a:ext cx="5829445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7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Elif Gezen | elif.gezen@psy.lmu.de |TUM-IAS SoA Workshop 2026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990608" y="3808101"/>
            <a:ext cx="7260253" cy="1880491"/>
            <a:chOff x="0" y="0"/>
            <a:chExt cx="9680338" cy="2507322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42021"/>
              <a:ext cx="5159932" cy="773990"/>
              <a:chOff x="0" y="0"/>
              <a:chExt cx="4572000" cy="685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457200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685800">
                    <a:moveTo>
                      <a:pt x="129721" y="0"/>
                    </a:moveTo>
                    <a:lnTo>
                      <a:pt x="4442278" y="0"/>
                    </a:lnTo>
                    <a:cubicBezTo>
                      <a:pt x="4476683" y="0"/>
                      <a:pt x="4509678" y="13667"/>
                      <a:pt x="4534005" y="37995"/>
                    </a:cubicBezTo>
                    <a:cubicBezTo>
                      <a:pt x="4558333" y="62322"/>
                      <a:pt x="4572000" y="95317"/>
                      <a:pt x="4572000" y="129721"/>
                    </a:cubicBezTo>
                    <a:lnTo>
                      <a:pt x="4572000" y="556079"/>
                    </a:lnTo>
                    <a:cubicBezTo>
                      <a:pt x="4572000" y="590483"/>
                      <a:pt x="4558333" y="623478"/>
                      <a:pt x="4534005" y="647805"/>
                    </a:cubicBezTo>
                    <a:cubicBezTo>
                      <a:pt x="4509678" y="672133"/>
                      <a:pt x="4476683" y="685800"/>
                      <a:pt x="4442278" y="685800"/>
                    </a:cubicBezTo>
                    <a:lnTo>
                      <a:pt x="129721" y="685800"/>
                    </a:lnTo>
                    <a:cubicBezTo>
                      <a:pt x="95317" y="685800"/>
                      <a:pt x="62322" y="672133"/>
                      <a:pt x="37995" y="647805"/>
                    </a:cubicBezTo>
                    <a:cubicBezTo>
                      <a:pt x="13667" y="623478"/>
                      <a:pt x="0" y="590483"/>
                      <a:pt x="0" y="556079"/>
                    </a:cubicBezTo>
                    <a:lnTo>
                      <a:pt x="0" y="129721"/>
                    </a:lnTo>
                    <a:cubicBezTo>
                      <a:pt x="0" y="95317"/>
                      <a:pt x="13667" y="62322"/>
                      <a:pt x="37995" y="37995"/>
                    </a:cubicBezTo>
                    <a:cubicBezTo>
                      <a:pt x="62322" y="13667"/>
                      <a:pt x="95317" y="0"/>
                      <a:pt x="129721" y="0"/>
                    </a:cubicBezTo>
                    <a:close/>
                  </a:path>
                </a:pathLst>
              </a:custGeom>
              <a:solidFill>
                <a:srgbClr val="55BFFF"/>
              </a:solidFill>
            </p:spPr>
            <p:txBody>
              <a:bodyPr/>
              <a:lstStyle/>
              <a:p>
                <a:endParaRPr lang="en-DE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19050"/>
                <a:ext cx="4572000" cy="70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0" y="930676"/>
              <a:ext cx="5159932" cy="1576646"/>
              <a:chOff x="0" y="0"/>
              <a:chExt cx="4572000" cy="1397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4572000" cy="1397000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1397000">
                    <a:moveTo>
                      <a:pt x="129721" y="0"/>
                    </a:moveTo>
                    <a:lnTo>
                      <a:pt x="4442278" y="0"/>
                    </a:lnTo>
                    <a:cubicBezTo>
                      <a:pt x="4476683" y="0"/>
                      <a:pt x="4509678" y="13667"/>
                      <a:pt x="4534005" y="37995"/>
                    </a:cubicBezTo>
                    <a:cubicBezTo>
                      <a:pt x="4558333" y="62322"/>
                      <a:pt x="4572000" y="95317"/>
                      <a:pt x="4572000" y="129721"/>
                    </a:cubicBezTo>
                    <a:lnTo>
                      <a:pt x="4572000" y="1267279"/>
                    </a:lnTo>
                    <a:cubicBezTo>
                      <a:pt x="4572000" y="1301683"/>
                      <a:pt x="4558333" y="1334678"/>
                      <a:pt x="4534005" y="1359006"/>
                    </a:cubicBezTo>
                    <a:cubicBezTo>
                      <a:pt x="4509678" y="1383333"/>
                      <a:pt x="4476683" y="1397000"/>
                      <a:pt x="4442278" y="1397000"/>
                    </a:cubicBezTo>
                    <a:lnTo>
                      <a:pt x="129721" y="1397000"/>
                    </a:lnTo>
                    <a:cubicBezTo>
                      <a:pt x="95317" y="1397000"/>
                      <a:pt x="62322" y="1383333"/>
                      <a:pt x="37995" y="1359006"/>
                    </a:cubicBezTo>
                    <a:cubicBezTo>
                      <a:pt x="13667" y="1334678"/>
                      <a:pt x="0" y="1301683"/>
                      <a:pt x="0" y="1267279"/>
                    </a:cubicBezTo>
                    <a:lnTo>
                      <a:pt x="0" y="129721"/>
                    </a:lnTo>
                    <a:cubicBezTo>
                      <a:pt x="0" y="95317"/>
                      <a:pt x="13667" y="62322"/>
                      <a:pt x="37995" y="37995"/>
                    </a:cubicBezTo>
                    <a:cubicBezTo>
                      <a:pt x="62322" y="13667"/>
                      <a:pt x="95317" y="0"/>
                      <a:pt x="129721" y="0"/>
                    </a:cubicBezTo>
                    <a:close/>
                  </a:path>
                </a:pathLst>
              </a:custGeom>
              <a:solidFill>
                <a:srgbClr val="EEF8FF"/>
              </a:solidFill>
              <a:ln w="19050" cap="sq">
                <a:solidFill>
                  <a:srgbClr val="55B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DE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19050"/>
                <a:ext cx="4572000" cy="1416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7970325" y="-66675"/>
              <a:ext cx="859989" cy="7546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40"/>
                </a:lnSpc>
              </a:pPr>
              <a:r>
                <a:rPr lang="en-US" sz="3385" b="1">
                  <a:solidFill>
                    <a:srgbClr val="42424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+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137728"/>
              <a:ext cx="5159932" cy="526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18"/>
                </a:lnSpc>
              </a:pPr>
              <a:r>
                <a:rPr lang="en-US" sz="2370" b="1" dirty="0">
                  <a:solidFill>
                    <a:srgbClr val="42424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Lower-level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4665" y="1045433"/>
              <a:ext cx="4930601" cy="132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</a:pPr>
              <a:r>
                <a:rPr lang="en-US" sz="2031" b="1">
                  <a:solidFill>
                    <a:srgbClr val="42424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Sensorimotor control</a:t>
              </a:r>
            </a:p>
            <a:p>
              <a:pPr algn="ctr">
                <a:lnSpc>
                  <a:spcPts val="2640"/>
                </a:lnSpc>
              </a:pPr>
              <a:r>
                <a:rPr lang="en-US" sz="2031">
                  <a:solidFill>
                    <a:srgbClr val="424242"/>
                  </a:solidFill>
                  <a:latin typeface="Open Sans"/>
                  <a:ea typeface="Open Sans"/>
                  <a:cs typeface="Open Sans"/>
                  <a:sym typeface="Open Sans"/>
                </a:rPr>
                <a:t>Motor prediction</a:t>
              </a:r>
            </a:p>
            <a:p>
              <a:pPr algn="ctr">
                <a:lnSpc>
                  <a:spcPts val="2640"/>
                </a:lnSpc>
              </a:pPr>
              <a:r>
                <a:rPr lang="en-US" sz="2031">
                  <a:solidFill>
                    <a:srgbClr val="424242"/>
                  </a:solidFill>
                  <a:latin typeface="Open Sans"/>
                  <a:ea typeface="Open Sans"/>
                  <a:cs typeface="Open Sans"/>
                  <a:sym typeface="Open Sans"/>
                </a:rPr>
                <a:t>Prediction errors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20302" y="659416"/>
              <a:ext cx="2560036" cy="283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77"/>
                </a:lnSpc>
              </a:pPr>
              <a:r>
                <a:rPr lang="en-US" sz="1269" spc="-55" dirty="0">
                  <a:solidFill>
                    <a:srgbClr val="424242"/>
                  </a:solidFill>
                  <a:latin typeface="Open Sans"/>
                  <a:ea typeface="Open Sans"/>
                  <a:cs typeface="Open Sans"/>
                  <a:sym typeface="Open Sans"/>
                </a:rPr>
                <a:t>e.g., </a:t>
              </a:r>
              <a:r>
                <a:rPr lang="en-US" sz="1269" spc="-55" dirty="0" err="1">
                  <a:solidFill>
                    <a:srgbClr val="424242"/>
                  </a:solidFill>
                  <a:latin typeface="Open Sans"/>
                  <a:ea typeface="Open Sans"/>
                  <a:cs typeface="Open Sans"/>
                  <a:sym typeface="Open Sans"/>
                </a:rPr>
                <a:t>Synofzik</a:t>
              </a:r>
              <a:r>
                <a:rPr lang="en-US" sz="1269" spc="-55" dirty="0">
                  <a:solidFill>
                    <a:srgbClr val="424242"/>
                  </a:solidFill>
                  <a:latin typeface="Open Sans"/>
                  <a:ea typeface="Open Sans"/>
                  <a:cs typeface="Open Sans"/>
                  <a:sym typeface="Open Sans"/>
                </a:rPr>
                <a:t> et al., 2008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371600" y="1266825"/>
            <a:ext cx="11277600" cy="563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dirty="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Sense of Agency benefits recognition memory: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72417" y="1038225"/>
            <a:ext cx="9627175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3" name="AutoShape 3"/>
          <p:cNvSpPr/>
          <p:nvPr/>
        </p:nvSpPr>
        <p:spPr>
          <a:xfrm flipH="1" flipV="1">
            <a:off x="990600" y="-142991"/>
            <a:ext cx="38100" cy="9926717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4" name="AutoShape 4"/>
          <p:cNvSpPr/>
          <p:nvPr/>
        </p:nvSpPr>
        <p:spPr>
          <a:xfrm>
            <a:off x="0" y="9774201"/>
            <a:ext cx="18288000" cy="9525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Box 5"/>
          <p:cNvSpPr txBox="1"/>
          <p:nvPr/>
        </p:nvSpPr>
        <p:spPr>
          <a:xfrm>
            <a:off x="1372417" y="200025"/>
            <a:ext cx="11720929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5499" b="1" spc="-38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Task Design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970399" y="981774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24242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5776" y="9869762"/>
            <a:ext cx="5829445" cy="26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7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Elif Gezen | elif.gezen@psy.lmu.de |TUM-IAS SoA Workshop 2026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70059" y="1550781"/>
            <a:ext cx="12970106" cy="7844526"/>
            <a:chOff x="0" y="0"/>
            <a:chExt cx="17293475" cy="10459368"/>
          </a:xfrm>
        </p:grpSpPr>
        <p:grpSp>
          <p:nvGrpSpPr>
            <p:cNvPr id="9" name="Group 9"/>
            <p:cNvGrpSpPr/>
            <p:nvPr/>
          </p:nvGrpSpPr>
          <p:grpSpPr>
            <a:xfrm>
              <a:off x="14381894" y="4022423"/>
              <a:ext cx="2911581" cy="1856902"/>
              <a:chOff x="0" y="0"/>
              <a:chExt cx="3853485" cy="24576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0391" y="80391"/>
                <a:ext cx="3692654" cy="2296794"/>
              </a:xfrm>
              <a:custGeom>
                <a:avLst/>
                <a:gdLst/>
                <a:ahLst/>
                <a:cxnLst/>
                <a:rect l="l" t="t" r="r" b="b"/>
                <a:pathLst>
                  <a:path w="3692654" h="2296794">
                    <a:moveTo>
                      <a:pt x="0" y="2296794"/>
                    </a:moveTo>
                    <a:lnTo>
                      <a:pt x="3692654" y="2296794"/>
                    </a:lnTo>
                    <a:lnTo>
                      <a:pt x="3692654" y="0"/>
                    </a:lnTo>
                    <a:lnTo>
                      <a:pt x="0" y="0"/>
                    </a:lnTo>
                    <a:lnTo>
                      <a:pt x="0" y="2296794"/>
                    </a:lnTo>
                    <a:close/>
                  </a:path>
                </a:pathLst>
              </a:custGeom>
              <a:solidFill>
                <a:srgbClr val="616161"/>
              </a:solidFill>
            </p:spPr>
            <p:txBody>
              <a:bodyPr/>
              <a:lstStyle/>
              <a:p>
                <a:endParaRPr lang="en-DE"/>
              </a:p>
            </p:txBody>
          </p:sp>
          <p:sp>
            <p:nvSpPr>
              <p:cNvPr id="11" name="Freeform 11"/>
              <p:cNvSpPr/>
              <p:nvPr/>
            </p:nvSpPr>
            <p:spPr>
              <a:xfrm>
                <a:off x="63500" y="63500"/>
                <a:ext cx="3726436" cy="2330576"/>
              </a:xfrm>
              <a:custGeom>
                <a:avLst/>
                <a:gdLst/>
                <a:ahLst/>
                <a:cxnLst/>
                <a:rect l="l" t="t" r="r" b="b"/>
                <a:pathLst>
                  <a:path w="3726436" h="2330576">
                    <a:moveTo>
                      <a:pt x="16891" y="2313685"/>
                    </a:moveTo>
                    <a:lnTo>
                      <a:pt x="0" y="2313685"/>
                    </a:lnTo>
                    <a:lnTo>
                      <a:pt x="0" y="2330576"/>
                    </a:lnTo>
                    <a:lnTo>
                      <a:pt x="16891" y="2330576"/>
                    </a:lnTo>
                    <a:lnTo>
                      <a:pt x="16891" y="2313685"/>
                    </a:lnTo>
                    <a:close/>
                    <a:moveTo>
                      <a:pt x="3709545" y="2313685"/>
                    </a:moveTo>
                    <a:lnTo>
                      <a:pt x="3709545" y="2330576"/>
                    </a:lnTo>
                    <a:lnTo>
                      <a:pt x="3726436" y="2330576"/>
                    </a:lnTo>
                    <a:lnTo>
                      <a:pt x="3726436" y="2313685"/>
                    </a:lnTo>
                    <a:lnTo>
                      <a:pt x="3709545" y="2313685"/>
                    </a:lnTo>
                    <a:close/>
                    <a:moveTo>
                      <a:pt x="3709545" y="16891"/>
                    </a:moveTo>
                    <a:lnTo>
                      <a:pt x="3726436" y="16891"/>
                    </a:lnTo>
                    <a:lnTo>
                      <a:pt x="3726436" y="0"/>
                    </a:lnTo>
                    <a:lnTo>
                      <a:pt x="3709545" y="0"/>
                    </a:lnTo>
                    <a:lnTo>
                      <a:pt x="3709545" y="16891"/>
                    </a:lnTo>
                    <a:close/>
                    <a:moveTo>
                      <a:pt x="16891" y="16891"/>
                    </a:moveTo>
                    <a:lnTo>
                      <a:pt x="16891" y="0"/>
                    </a:lnTo>
                    <a:lnTo>
                      <a:pt x="0" y="0"/>
                    </a:lnTo>
                    <a:lnTo>
                      <a:pt x="0" y="16891"/>
                    </a:lnTo>
                    <a:lnTo>
                      <a:pt x="16891" y="16891"/>
                    </a:lnTo>
                    <a:close/>
                    <a:moveTo>
                      <a:pt x="16891" y="2313685"/>
                    </a:moveTo>
                    <a:lnTo>
                      <a:pt x="16891" y="2330576"/>
                    </a:lnTo>
                    <a:lnTo>
                      <a:pt x="3709545" y="2330576"/>
                    </a:lnTo>
                    <a:lnTo>
                      <a:pt x="3709545" y="2313685"/>
                    </a:lnTo>
                    <a:lnTo>
                      <a:pt x="3709545" y="2296794"/>
                    </a:lnTo>
                    <a:lnTo>
                      <a:pt x="16891" y="2296794"/>
                    </a:lnTo>
                    <a:lnTo>
                      <a:pt x="16891" y="2313685"/>
                    </a:lnTo>
                    <a:close/>
                    <a:moveTo>
                      <a:pt x="3709545" y="2313685"/>
                    </a:moveTo>
                    <a:lnTo>
                      <a:pt x="3726436" y="2313685"/>
                    </a:lnTo>
                    <a:lnTo>
                      <a:pt x="3726436" y="16891"/>
                    </a:lnTo>
                    <a:lnTo>
                      <a:pt x="3709545" y="16891"/>
                    </a:lnTo>
                    <a:lnTo>
                      <a:pt x="3692654" y="16891"/>
                    </a:lnTo>
                    <a:lnTo>
                      <a:pt x="3692654" y="2313685"/>
                    </a:lnTo>
                    <a:lnTo>
                      <a:pt x="3709545" y="2313685"/>
                    </a:lnTo>
                    <a:close/>
                    <a:moveTo>
                      <a:pt x="3709545" y="16891"/>
                    </a:moveTo>
                    <a:lnTo>
                      <a:pt x="3709545" y="0"/>
                    </a:lnTo>
                    <a:lnTo>
                      <a:pt x="16891" y="0"/>
                    </a:lnTo>
                    <a:lnTo>
                      <a:pt x="16891" y="16891"/>
                    </a:lnTo>
                    <a:lnTo>
                      <a:pt x="16891" y="33909"/>
                    </a:lnTo>
                    <a:lnTo>
                      <a:pt x="3709545" y="33909"/>
                    </a:lnTo>
                    <a:lnTo>
                      <a:pt x="3709545" y="16891"/>
                    </a:lnTo>
                    <a:close/>
                    <a:moveTo>
                      <a:pt x="16891" y="16891"/>
                    </a:moveTo>
                    <a:lnTo>
                      <a:pt x="0" y="16891"/>
                    </a:lnTo>
                    <a:lnTo>
                      <a:pt x="0" y="2313685"/>
                    </a:lnTo>
                    <a:lnTo>
                      <a:pt x="16891" y="2313685"/>
                    </a:lnTo>
                    <a:lnTo>
                      <a:pt x="33909" y="2313685"/>
                    </a:lnTo>
                    <a:lnTo>
                      <a:pt x="33909" y="16891"/>
                    </a:lnTo>
                    <a:lnTo>
                      <a:pt x="16891" y="1689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DE"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254812" y="0"/>
              <a:ext cx="12988740" cy="10459368"/>
            </a:xfrm>
            <a:custGeom>
              <a:avLst/>
              <a:gdLst/>
              <a:ahLst/>
              <a:cxnLst/>
              <a:rect l="l" t="t" r="r" b="b"/>
              <a:pathLst>
                <a:path w="12988740" h="10459368">
                  <a:moveTo>
                    <a:pt x="0" y="0"/>
                  </a:moveTo>
                  <a:lnTo>
                    <a:pt x="12988740" y="0"/>
                  </a:lnTo>
                  <a:lnTo>
                    <a:pt x="12988740" y="10459368"/>
                  </a:lnTo>
                  <a:lnTo>
                    <a:pt x="0" y="10459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DE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705691"/>
              <a:ext cx="8317903" cy="9388184"/>
              <a:chOff x="0" y="0"/>
              <a:chExt cx="11008766" cy="1242528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1008652" cy="12425338"/>
              </a:xfrm>
              <a:custGeom>
                <a:avLst/>
                <a:gdLst/>
                <a:ahLst/>
                <a:cxnLst/>
                <a:rect l="l" t="t" r="r" b="b"/>
                <a:pathLst>
                  <a:path w="11008652" h="12425338">
                    <a:moveTo>
                      <a:pt x="10986012" y="12425303"/>
                    </a:moveTo>
                    <a:cubicBezTo>
                      <a:pt x="10993124" y="12425811"/>
                      <a:pt x="10999347" y="12420731"/>
                      <a:pt x="10999856" y="12413873"/>
                    </a:cubicBezTo>
                    <a:lnTo>
                      <a:pt x="11008619" y="12301986"/>
                    </a:lnTo>
                    <a:cubicBezTo>
                      <a:pt x="11009126" y="12295128"/>
                      <a:pt x="11003793" y="12289032"/>
                      <a:pt x="10996681" y="12288524"/>
                    </a:cubicBezTo>
                    <a:cubicBezTo>
                      <a:pt x="10989569" y="12288016"/>
                      <a:pt x="10983345" y="12293096"/>
                      <a:pt x="10982837" y="12299954"/>
                    </a:cubicBezTo>
                    <a:lnTo>
                      <a:pt x="10974963" y="12399395"/>
                    </a:lnTo>
                    <a:lnTo>
                      <a:pt x="10871967" y="12391267"/>
                    </a:lnTo>
                    <a:cubicBezTo>
                      <a:pt x="10864855" y="12390759"/>
                      <a:pt x="10858631" y="12395839"/>
                      <a:pt x="10858123" y="12402696"/>
                    </a:cubicBezTo>
                    <a:cubicBezTo>
                      <a:pt x="10857616" y="12409555"/>
                      <a:pt x="10862949" y="12415651"/>
                      <a:pt x="10870061" y="12416159"/>
                    </a:cubicBezTo>
                    <a:lnTo>
                      <a:pt x="10986012" y="12425303"/>
                    </a:lnTo>
                    <a:close/>
                    <a:moveTo>
                      <a:pt x="9779" y="8128"/>
                    </a:moveTo>
                    <a:lnTo>
                      <a:pt x="0" y="16129"/>
                    </a:lnTo>
                    <a:lnTo>
                      <a:pt x="10977249" y="12420858"/>
                    </a:lnTo>
                    <a:lnTo>
                      <a:pt x="10987029" y="12412730"/>
                    </a:lnTo>
                    <a:lnTo>
                      <a:pt x="10996807" y="12404602"/>
                    </a:lnTo>
                    <a:lnTo>
                      <a:pt x="19558" y="0"/>
                    </a:lnTo>
                    <a:lnTo>
                      <a:pt x="9779" y="812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DE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3476503" y="5175103"/>
              <a:ext cx="421800" cy="471957"/>
              <a:chOff x="0" y="0"/>
              <a:chExt cx="558254" cy="62463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56007" y="0"/>
                <a:ext cx="502346" cy="624477"/>
              </a:xfrm>
              <a:custGeom>
                <a:avLst/>
                <a:gdLst/>
                <a:ahLst/>
                <a:cxnLst/>
                <a:rect l="l" t="t" r="r" b="b"/>
                <a:pathLst>
                  <a:path w="502346" h="624477">
                    <a:moveTo>
                      <a:pt x="106426" y="15113"/>
                    </a:moveTo>
                    <a:lnTo>
                      <a:pt x="124714" y="0"/>
                    </a:lnTo>
                    <a:lnTo>
                      <a:pt x="234950" y="124459"/>
                    </a:lnTo>
                    <a:lnTo>
                      <a:pt x="216535" y="139572"/>
                    </a:lnTo>
                    <a:lnTo>
                      <a:pt x="170307" y="87375"/>
                    </a:lnTo>
                    <a:lnTo>
                      <a:pt x="17780" y="213359"/>
                    </a:lnTo>
                    <a:lnTo>
                      <a:pt x="0" y="193293"/>
                    </a:lnTo>
                    <a:lnTo>
                      <a:pt x="152654" y="67310"/>
                    </a:lnTo>
                    <a:lnTo>
                      <a:pt x="106426" y="15113"/>
                    </a:lnTo>
                    <a:close/>
                    <a:moveTo>
                      <a:pt x="88138" y="292860"/>
                    </a:moveTo>
                    <a:lnTo>
                      <a:pt x="216408" y="187070"/>
                    </a:lnTo>
                    <a:lnTo>
                      <a:pt x="233299" y="206247"/>
                    </a:lnTo>
                    <a:lnTo>
                      <a:pt x="105029" y="312037"/>
                    </a:lnTo>
                    <a:lnTo>
                      <a:pt x="88138" y="292860"/>
                    </a:lnTo>
                    <a:close/>
                    <a:moveTo>
                      <a:pt x="246380" y="179069"/>
                    </a:moveTo>
                    <a:cubicBezTo>
                      <a:pt x="243078" y="175386"/>
                      <a:pt x="241554" y="171068"/>
                      <a:pt x="241808" y="166242"/>
                    </a:cubicBezTo>
                    <a:cubicBezTo>
                      <a:pt x="242062" y="161416"/>
                      <a:pt x="244094" y="157479"/>
                      <a:pt x="247777" y="154431"/>
                    </a:cubicBezTo>
                    <a:cubicBezTo>
                      <a:pt x="251460" y="151383"/>
                      <a:pt x="255778" y="150113"/>
                      <a:pt x="260731" y="150621"/>
                    </a:cubicBezTo>
                    <a:cubicBezTo>
                      <a:pt x="265684" y="151129"/>
                      <a:pt x="269875" y="153288"/>
                      <a:pt x="273177" y="156971"/>
                    </a:cubicBezTo>
                    <a:cubicBezTo>
                      <a:pt x="276479" y="160654"/>
                      <a:pt x="278003" y="164972"/>
                      <a:pt x="277749" y="169798"/>
                    </a:cubicBezTo>
                    <a:cubicBezTo>
                      <a:pt x="277495" y="174624"/>
                      <a:pt x="275590" y="178561"/>
                      <a:pt x="271907" y="181609"/>
                    </a:cubicBezTo>
                    <a:cubicBezTo>
                      <a:pt x="268224" y="184657"/>
                      <a:pt x="263906" y="185927"/>
                      <a:pt x="258826" y="185292"/>
                    </a:cubicBezTo>
                    <a:cubicBezTo>
                      <a:pt x="253746" y="184657"/>
                      <a:pt x="249682" y="182752"/>
                      <a:pt x="246380" y="178942"/>
                    </a:cubicBezTo>
                    <a:close/>
                    <a:moveTo>
                      <a:pt x="135001" y="345819"/>
                    </a:moveTo>
                    <a:lnTo>
                      <a:pt x="263271" y="240028"/>
                    </a:lnTo>
                    <a:lnTo>
                      <a:pt x="279654" y="258443"/>
                    </a:lnTo>
                    <a:lnTo>
                      <a:pt x="259588" y="274953"/>
                    </a:lnTo>
                    <a:lnTo>
                      <a:pt x="260985" y="276604"/>
                    </a:lnTo>
                    <a:cubicBezTo>
                      <a:pt x="270129" y="273556"/>
                      <a:pt x="279146" y="273302"/>
                      <a:pt x="288036" y="275969"/>
                    </a:cubicBezTo>
                    <a:cubicBezTo>
                      <a:pt x="296926" y="278636"/>
                      <a:pt x="305181" y="283970"/>
                      <a:pt x="312293" y="292098"/>
                    </a:cubicBezTo>
                    <a:cubicBezTo>
                      <a:pt x="319405" y="300226"/>
                      <a:pt x="323723" y="308735"/>
                      <a:pt x="324739" y="317371"/>
                    </a:cubicBezTo>
                    <a:cubicBezTo>
                      <a:pt x="325755" y="326007"/>
                      <a:pt x="324358" y="334643"/>
                      <a:pt x="320167" y="343406"/>
                    </a:cubicBezTo>
                    <a:lnTo>
                      <a:pt x="321310" y="344676"/>
                    </a:lnTo>
                    <a:cubicBezTo>
                      <a:pt x="330708" y="342390"/>
                      <a:pt x="340233" y="342898"/>
                      <a:pt x="349758" y="345946"/>
                    </a:cubicBezTo>
                    <a:cubicBezTo>
                      <a:pt x="359283" y="348994"/>
                      <a:pt x="368046" y="355090"/>
                      <a:pt x="376047" y="363980"/>
                    </a:cubicBezTo>
                    <a:cubicBezTo>
                      <a:pt x="385953" y="375156"/>
                      <a:pt x="390398" y="387220"/>
                      <a:pt x="389509" y="400174"/>
                    </a:cubicBezTo>
                    <a:cubicBezTo>
                      <a:pt x="388620" y="413128"/>
                      <a:pt x="380619" y="425828"/>
                      <a:pt x="365633" y="438274"/>
                    </a:cubicBezTo>
                    <a:lnTo>
                      <a:pt x="279781" y="509140"/>
                    </a:lnTo>
                    <a:lnTo>
                      <a:pt x="262890" y="489963"/>
                    </a:lnTo>
                    <a:lnTo>
                      <a:pt x="348742" y="419097"/>
                    </a:lnTo>
                    <a:cubicBezTo>
                      <a:pt x="358267" y="411350"/>
                      <a:pt x="362712" y="403222"/>
                      <a:pt x="362331" y="394840"/>
                    </a:cubicBezTo>
                    <a:cubicBezTo>
                      <a:pt x="361950" y="386458"/>
                      <a:pt x="358775" y="378839"/>
                      <a:pt x="352679" y="372108"/>
                    </a:cubicBezTo>
                    <a:cubicBezTo>
                      <a:pt x="344932" y="363345"/>
                      <a:pt x="336169" y="358773"/>
                      <a:pt x="326517" y="358519"/>
                    </a:cubicBezTo>
                    <a:cubicBezTo>
                      <a:pt x="316865" y="358265"/>
                      <a:pt x="307848" y="361440"/>
                      <a:pt x="299593" y="368298"/>
                    </a:cubicBezTo>
                    <a:lnTo>
                      <a:pt x="216154" y="437131"/>
                    </a:lnTo>
                    <a:lnTo>
                      <a:pt x="198882" y="417700"/>
                    </a:lnTo>
                    <a:lnTo>
                      <a:pt x="286766" y="345184"/>
                    </a:lnTo>
                    <a:cubicBezTo>
                      <a:pt x="294005" y="339215"/>
                      <a:pt x="297942" y="331976"/>
                      <a:pt x="298323" y="323721"/>
                    </a:cubicBezTo>
                    <a:cubicBezTo>
                      <a:pt x="298704" y="315466"/>
                      <a:pt x="295783" y="307592"/>
                      <a:pt x="289433" y="300353"/>
                    </a:cubicBezTo>
                    <a:cubicBezTo>
                      <a:pt x="284988" y="295400"/>
                      <a:pt x="279527" y="291844"/>
                      <a:pt x="273050" y="289812"/>
                    </a:cubicBezTo>
                    <a:cubicBezTo>
                      <a:pt x="266573" y="287780"/>
                      <a:pt x="259715" y="287399"/>
                      <a:pt x="252476" y="288796"/>
                    </a:cubicBezTo>
                    <a:cubicBezTo>
                      <a:pt x="245237" y="290193"/>
                      <a:pt x="238760" y="293368"/>
                      <a:pt x="232410" y="298575"/>
                    </a:cubicBezTo>
                    <a:lnTo>
                      <a:pt x="152273" y="364742"/>
                    </a:lnTo>
                    <a:lnTo>
                      <a:pt x="135382" y="345565"/>
                    </a:lnTo>
                    <a:close/>
                    <a:moveTo>
                      <a:pt x="353187" y="597404"/>
                    </a:moveTo>
                    <a:cubicBezTo>
                      <a:pt x="342519" y="585466"/>
                      <a:pt x="336169" y="572766"/>
                      <a:pt x="333883" y="559558"/>
                    </a:cubicBezTo>
                    <a:cubicBezTo>
                      <a:pt x="331597" y="546350"/>
                      <a:pt x="333502" y="533396"/>
                      <a:pt x="339217" y="520570"/>
                    </a:cubicBezTo>
                    <a:cubicBezTo>
                      <a:pt x="344932" y="507743"/>
                      <a:pt x="354457" y="495932"/>
                      <a:pt x="367665" y="485137"/>
                    </a:cubicBezTo>
                    <a:cubicBezTo>
                      <a:pt x="380873" y="474342"/>
                      <a:pt x="394462" y="467103"/>
                      <a:pt x="408559" y="463420"/>
                    </a:cubicBezTo>
                    <a:cubicBezTo>
                      <a:pt x="422656" y="459737"/>
                      <a:pt x="436372" y="459864"/>
                      <a:pt x="449453" y="463547"/>
                    </a:cubicBezTo>
                    <a:cubicBezTo>
                      <a:pt x="462534" y="467230"/>
                      <a:pt x="474091" y="474723"/>
                      <a:pt x="484124" y="486026"/>
                    </a:cubicBezTo>
                    <a:cubicBezTo>
                      <a:pt x="489839" y="492503"/>
                      <a:pt x="494411" y="499869"/>
                      <a:pt x="497840" y="507997"/>
                    </a:cubicBezTo>
                    <a:cubicBezTo>
                      <a:pt x="501269" y="516125"/>
                      <a:pt x="502666" y="524888"/>
                      <a:pt x="502285" y="534158"/>
                    </a:cubicBezTo>
                    <a:cubicBezTo>
                      <a:pt x="501904" y="543429"/>
                      <a:pt x="498983" y="552954"/>
                      <a:pt x="493522" y="562860"/>
                    </a:cubicBezTo>
                    <a:cubicBezTo>
                      <a:pt x="488061" y="572766"/>
                      <a:pt x="479298" y="582545"/>
                      <a:pt x="467360" y="592451"/>
                    </a:cubicBezTo>
                    <a:lnTo>
                      <a:pt x="458978" y="599309"/>
                    </a:lnTo>
                    <a:lnTo>
                      <a:pt x="374015" y="503425"/>
                    </a:lnTo>
                    <a:lnTo>
                      <a:pt x="391033" y="489328"/>
                    </a:lnTo>
                    <a:lnTo>
                      <a:pt x="458724" y="565781"/>
                    </a:lnTo>
                    <a:cubicBezTo>
                      <a:pt x="465963" y="559812"/>
                      <a:pt x="471170" y="553081"/>
                      <a:pt x="474345" y="545588"/>
                    </a:cubicBezTo>
                    <a:cubicBezTo>
                      <a:pt x="477520" y="538095"/>
                      <a:pt x="478536" y="530476"/>
                      <a:pt x="477266" y="522729"/>
                    </a:cubicBezTo>
                    <a:cubicBezTo>
                      <a:pt x="475996" y="514982"/>
                      <a:pt x="472440" y="507616"/>
                      <a:pt x="466217" y="500631"/>
                    </a:cubicBezTo>
                    <a:cubicBezTo>
                      <a:pt x="459486" y="493011"/>
                      <a:pt x="451739" y="488058"/>
                      <a:pt x="442849" y="485645"/>
                    </a:cubicBezTo>
                    <a:cubicBezTo>
                      <a:pt x="433959" y="483232"/>
                      <a:pt x="425323" y="483232"/>
                      <a:pt x="416560" y="485264"/>
                    </a:cubicBezTo>
                    <a:cubicBezTo>
                      <a:pt x="407797" y="487296"/>
                      <a:pt x="399796" y="491360"/>
                      <a:pt x="392684" y="497202"/>
                    </a:cubicBezTo>
                    <a:lnTo>
                      <a:pt x="381381" y="506600"/>
                    </a:lnTo>
                    <a:cubicBezTo>
                      <a:pt x="371729" y="514601"/>
                      <a:pt x="364871" y="522983"/>
                      <a:pt x="361061" y="531745"/>
                    </a:cubicBezTo>
                    <a:cubicBezTo>
                      <a:pt x="357251" y="540508"/>
                      <a:pt x="356235" y="549271"/>
                      <a:pt x="357886" y="558034"/>
                    </a:cubicBezTo>
                    <a:cubicBezTo>
                      <a:pt x="359537" y="566797"/>
                      <a:pt x="363855" y="574925"/>
                      <a:pt x="370713" y="582672"/>
                    </a:cubicBezTo>
                    <a:cubicBezTo>
                      <a:pt x="375158" y="587752"/>
                      <a:pt x="379857" y="591689"/>
                      <a:pt x="384937" y="594483"/>
                    </a:cubicBezTo>
                    <a:cubicBezTo>
                      <a:pt x="390017" y="597277"/>
                      <a:pt x="395478" y="599055"/>
                      <a:pt x="401066" y="599563"/>
                    </a:cubicBezTo>
                    <a:cubicBezTo>
                      <a:pt x="406654" y="600071"/>
                      <a:pt x="412496" y="599309"/>
                      <a:pt x="418338" y="597277"/>
                    </a:cubicBezTo>
                    <a:lnTo>
                      <a:pt x="429387" y="620137"/>
                    </a:lnTo>
                    <a:cubicBezTo>
                      <a:pt x="421259" y="623566"/>
                      <a:pt x="412623" y="624963"/>
                      <a:pt x="403733" y="624328"/>
                    </a:cubicBezTo>
                    <a:cubicBezTo>
                      <a:pt x="394843" y="623693"/>
                      <a:pt x="385953" y="621153"/>
                      <a:pt x="377317" y="616708"/>
                    </a:cubicBezTo>
                    <a:cubicBezTo>
                      <a:pt x="368681" y="612263"/>
                      <a:pt x="360553" y="605659"/>
                      <a:pt x="353187" y="597277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DE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94034" y="527498"/>
              <a:ext cx="468992" cy="518890"/>
              <a:chOff x="0" y="0"/>
              <a:chExt cx="620712" cy="68675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38793" y="0"/>
                <a:ext cx="581861" cy="686810"/>
              </a:xfrm>
              <a:custGeom>
                <a:avLst/>
                <a:gdLst/>
                <a:ahLst/>
                <a:cxnLst/>
                <a:rect l="l" t="t" r="r" b="b"/>
                <a:pathLst>
                  <a:path w="581861" h="686810">
                    <a:moveTo>
                      <a:pt x="152979" y="71119"/>
                    </a:moveTo>
                    <a:lnTo>
                      <a:pt x="136214" y="84835"/>
                    </a:lnTo>
                    <a:lnTo>
                      <a:pt x="79191" y="20193"/>
                    </a:lnTo>
                    <a:lnTo>
                      <a:pt x="95955" y="6477"/>
                    </a:lnTo>
                    <a:lnTo>
                      <a:pt x="152979" y="71119"/>
                    </a:lnTo>
                    <a:close/>
                    <a:moveTo>
                      <a:pt x="143326" y="0"/>
                    </a:moveTo>
                    <a:lnTo>
                      <a:pt x="160218" y="19177"/>
                    </a:lnTo>
                    <a:lnTo>
                      <a:pt x="37789" y="119760"/>
                    </a:lnTo>
                    <a:cubicBezTo>
                      <a:pt x="32201" y="124332"/>
                      <a:pt x="28772" y="128523"/>
                      <a:pt x="27375" y="132460"/>
                    </a:cubicBezTo>
                    <a:cubicBezTo>
                      <a:pt x="25978" y="136397"/>
                      <a:pt x="26105" y="139953"/>
                      <a:pt x="27248" y="143128"/>
                    </a:cubicBezTo>
                    <a:cubicBezTo>
                      <a:pt x="28391" y="146303"/>
                      <a:pt x="30550" y="149478"/>
                      <a:pt x="32963" y="152272"/>
                    </a:cubicBezTo>
                    <a:cubicBezTo>
                      <a:pt x="34868" y="154431"/>
                      <a:pt x="36519" y="156082"/>
                      <a:pt x="37916" y="157225"/>
                    </a:cubicBezTo>
                    <a:cubicBezTo>
                      <a:pt x="39313" y="158368"/>
                      <a:pt x="40583" y="159257"/>
                      <a:pt x="41472" y="159892"/>
                    </a:cubicBezTo>
                    <a:lnTo>
                      <a:pt x="27121" y="178307"/>
                    </a:lnTo>
                    <a:cubicBezTo>
                      <a:pt x="25470" y="177418"/>
                      <a:pt x="23310" y="176021"/>
                      <a:pt x="20770" y="174116"/>
                    </a:cubicBezTo>
                    <a:cubicBezTo>
                      <a:pt x="18230" y="172211"/>
                      <a:pt x="15309" y="169544"/>
                      <a:pt x="12134" y="165988"/>
                    </a:cubicBezTo>
                    <a:cubicBezTo>
                      <a:pt x="7308" y="160527"/>
                      <a:pt x="3879" y="154304"/>
                      <a:pt x="1720" y="147065"/>
                    </a:cubicBezTo>
                    <a:cubicBezTo>
                      <a:pt x="-439" y="139826"/>
                      <a:pt x="-566" y="132714"/>
                      <a:pt x="1339" y="125221"/>
                    </a:cubicBezTo>
                    <a:cubicBezTo>
                      <a:pt x="3244" y="117728"/>
                      <a:pt x="7943" y="111124"/>
                      <a:pt x="15436" y="104901"/>
                    </a:cubicBezTo>
                    <a:lnTo>
                      <a:pt x="143326" y="0"/>
                    </a:lnTo>
                    <a:close/>
                    <a:moveTo>
                      <a:pt x="48965" y="204341"/>
                    </a:moveTo>
                    <a:lnTo>
                      <a:pt x="177363" y="98805"/>
                    </a:lnTo>
                    <a:lnTo>
                      <a:pt x="193746" y="117347"/>
                    </a:lnTo>
                    <a:lnTo>
                      <a:pt x="174315" y="133349"/>
                    </a:lnTo>
                    <a:lnTo>
                      <a:pt x="175458" y="134619"/>
                    </a:lnTo>
                    <a:cubicBezTo>
                      <a:pt x="183840" y="131698"/>
                      <a:pt x="192603" y="131571"/>
                      <a:pt x="201874" y="134238"/>
                    </a:cubicBezTo>
                    <a:cubicBezTo>
                      <a:pt x="211145" y="136905"/>
                      <a:pt x="219019" y="141985"/>
                      <a:pt x="225623" y="149478"/>
                    </a:cubicBezTo>
                    <a:cubicBezTo>
                      <a:pt x="226893" y="150875"/>
                      <a:pt x="228417" y="152653"/>
                      <a:pt x="230195" y="154812"/>
                    </a:cubicBezTo>
                    <a:cubicBezTo>
                      <a:pt x="231973" y="156971"/>
                      <a:pt x="233370" y="158622"/>
                      <a:pt x="234132" y="159765"/>
                    </a:cubicBezTo>
                    <a:lnTo>
                      <a:pt x="214066" y="176275"/>
                    </a:lnTo>
                    <a:cubicBezTo>
                      <a:pt x="213685" y="175513"/>
                      <a:pt x="212542" y="173735"/>
                      <a:pt x="210891" y="171195"/>
                    </a:cubicBezTo>
                    <a:cubicBezTo>
                      <a:pt x="209240" y="168655"/>
                      <a:pt x="207335" y="165988"/>
                      <a:pt x="205049" y="163448"/>
                    </a:cubicBezTo>
                    <a:cubicBezTo>
                      <a:pt x="199715" y="157352"/>
                      <a:pt x="193619" y="153034"/>
                      <a:pt x="186761" y="150494"/>
                    </a:cubicBezTo>
                    <a:cubicBezTo>
                      <a:pt x="179903" y="147954"/>
                      <a:pt x="173172" y="147065"/>
                      <a:pt x="166187" y="148081"/>
                    </a:cubicBezTo>
                    <a:cubicBezTo>
                      <a:pt x="159202" y="149097"/>
                      <a:pt x="152979" y="152018"/>
                      <a:pt x="147136" y="156717"/>
                    </a:cubicBezTo>
                    <a:lnTo>
                      <a:pt x="65856" y="223518"/>
                    </a:lnTo>
                    <a:lnTo>
                      <a:pt x="48965" y="204341"/>
                    </a:lnTo>
                    <a:close/>
                    <a:moveTo>
                      <a:pt x="123006" y="288288"/>
                    </a:moveTo>
                    <a:lnTo>
                      <a:pt x="251404" y="182752"/>
                    </a:lnTo>
                    <a:lnTo>
                      <a:pt x="268295" y="201928"/>
                    </a:lnTo>
                    <a:lnTo>
                      <a:pt x="139770" y="307338"/>
                    </a:lnTo>
                    <a:lnTo>
                      <a:pt x="122879" y="288161"/>
                    </a:lnTo>
                    <a:close/>
                    <a:moveTo>
                      <a:pt x="281377" y="174751"/>
                    </a:moveTo>
                    <a:cubicBezTo>
                      <a:pt x="278075" y="171068"/>
                      <a:pt x="276551" y="166750"/>
                      <a:pt x="276805" y="161924"/>
                    </a:cubicBezTo>
                    <a:cubicBezTo>
                      <a:pt x="277059" y="157098"/>
                      <a:pt x="279091" y="153161"/>
                      <a:pt x="282774" y="150240"/>
                    </a:cubicBezTo>
                    <a:cubicBezTo>
                      <a:pt x="286457" y="147319"/>
                      <a:pt x="290775" y="145922"/>
                      <a:pt x="295728" y="146430"/>
                    </a:cubicBezTo>
                    <a:cubicBezTo>
                      <a:pt x="300681" y="146938"/>
                      <a:pt x="304872" y="149097"/>
                      <a:pt x="308174" y="152907"/>
                    </a:cubicBezTo>
                    <a:cubicBezTo>
                      <a:pt x="311476" y="156717"/>
                      <a:pt x="313000" y="160908"/>
                      <a:pt x="312746" y="165734"/>
                    </a:cubicBezTo>
                    <a:cubicBezTo>
                      <a:pt x="312492" y="170560"/>
                      <a:pt x="310587" y="174497"/>
                      <a:pt x="306904" y="177545"/>
                    </a:cubicBezTo>
                    <a:cubicBezTo>
                      <a:pt x="303221" y="180593"/>
                      <a:pt x="298903" y="181863"/>
                      <a:pt x="293823" y="181228"/>
                    </a:cubicBezTo>
                    <a:cubicBezTo>
                      <a:pt x="288743" y="180593"/>
                      <a:pt x="284679" y="178561"/>
                      <a:pt x="281504" y="174878"/>
                    </a:cubicBezTo>
                    <a:close/>
                    <a:moveTo>
                      <a:pt x="199080" y="380362"/>
                    </a:moveTo>
                    <a:cubicBezTo>
                      <a:pt x="192095" y="372488"/>
                      <a:pt x="187269" y="363979"/>
                      <a:pt x="184729" y="355089"/>
                    </a:cubicBezTo>
                    <a:cubicBezTo>
                      <a:pt x="182189" y="346199"/>
                      <a:pt x="182189" y="337309"/>
                      <a:pt x="184602" y="328673"/>
                    </a:cubicBezTo>
                    <a:cubicBezTo>
                      <a:pt x="187015" y="320037"/>
                      <a:pt x="192603" y="312290"/>
                      <a:pt x="200985" y="305433"/>
                    </a:cubicBezTo>
                    <a:cubicBezTo>
                      <a:pt x="208351" y="299337"/>
                      <a:pt x="215590" y="295908"/>
                      <a:pt x="222575" y="294892"/>
                    </a:cubicBezTo>
                    <a:cubicBezTo>
                      <a:pt x="229560" y="293876"/>
                      <a:pt x="236672" y="294638"/>
                      <a:pt x="243403" y="297305"/>
                    </a:cubicBezTo>
                    <a:cubicBezTo>
                      <a:pt x="250134" y="299972"/>
                      <a:pt x="256738" y="303401"/>
                      <a:pt x="262961" y="308100"/>
                    </a:cubicBezTo>
                    <a:cubicBezTo>
                      <a:pt x="269184" y="312798"/>
                      <a:pt x="275534" y="317624"/>
                      <a:pt x="281377" y="322831"/>
                    </a:cubicBezTo>
                    <a:cubicBezTo>
                      <a:pt x="289124" y="329562"/>
                      <a:pt x="295220" y="335150"/>
                      <a:pt x="299919" y="339341"/>
                    </a:cubicBezTo>
                    <a:cubicBezTo>
                      <a:pt x="304618" y="343532"/>
                      <a:pt x="308682" y="346326"/>
                      <a:pt x="311857" y="347469"/>
                    </a:cubicBezTo>
                    <a:cubicBezTo>
                      <a:pt x="315032" y="348612"/>
                      <a:pt x="318334" y="347850"/>
                      <a:pt x="321509" y="345310"/>
                    </a:cubicBezTo>
                    <a:lnTo>
                      <a:pt x="322144" y="344802"/>
                    </a:lnTo>
                    <a:cubicBezTo>
                      <a:pt x="330399" y="338071"/>
                      <a:pt x="334844" y="330578"/>
                      <a:pt x="335606" y="322450"/>
                    </a:cubicBezTo>
                    <a:cubicBezTo>
                      <a:pt x="336368" y="314322"/>
                      <a:pt x="332812" y="305941"/>
                      <a:pt x="325065" y="297051"/>
                    </a:cubicBezTo>
                    <a:cubicBezTo>
                      <a:pt x="316937" y="287907"/>
                      <a:pt x="308555" y="282446"/>
                      <a:pt x="299919" y="280668"/>
                    </a:cubicBezTo>
                    <a:cubicBezTo>
                      <a:pt x="291283" y="278890"/>
                      <a:pt x="283536" y="278890"/>
                      <a:pt x="277059" y="280541"/>
                    </a:cubicBezTo>
                    <a:lnTo>
                      <a:pt x="267660" y="256919"/>
                    </a:lnTo>
                    <a:cubicBezTo>
                      <a:pt x="278329" y="253744"/>
                      <a:pt x="288235" y="253109"/>
                      <a:pt x="297379" y="254887"/>
                    </a:cubicBezTo>
                    <a:cubicBezTo>
                      <a:pt x="306523" y="256665"/>
                      <a:pt x="314905" y="260221"/>
                      <a:pt x="322271" y="265174"/>
                    </a:cubicBezTo>
                    <a:cubicBezTo>
                      <a:pt x="329637" y="270127"/>
                      <a:pt x="336368" y="275842"/>
                      <a:pt x="341829" y="282192"/>
                    </a:cubicBezTo>
                    <a:cubicBezTo>
                      <a:pt x="345385" y="286256"/>
                      <a:pt x="348941" y="291209"/>
                      <a:pt x="352497" y="297178"/>
                    </a:cubicBezTo>
                    <a:cubicBezTo>
                      <a:pt x="356053" y="303147"/>
                      <a:pt x="358720" y="309877"/>
                      <a:pt x="359990" y="317243"/>
                    </a:cubicBezTo>
                    <a:cubicBezTo>
                      <a:pt x="361260" y="324609"/>
                      <a:pt x="360371" y="332483"/>
                      <a:pt x="357196" y="340738"/>
                    </a:cubicBezTo>
                    <a:cubicBezTo>
                      <a:pt x="354021" y="348993"/>
                      <a:pt x="347290" y="357248"/>
                      <a:pt x="337130" y="365630"/>
                    </a:cubicBezTo>
                    <a:lnTo>
                      <a:pt x="252547" y="435225"/>
                    </a:lnTo>
                    <a:lnTo>
                      <a:pt x="235656" y="416049"/>
                    </a:lnTo>
                    <a:lnTo>
                      <a:pt x="253055" y="401698"/>
                    </a:lnTo>
                    <a:lnTo>
                      <a:pt x="252166" y="400682"/>
                    </a:lnTo>
                    <a:cubicBezTo>
                      <a:pt x="248229" y="401698"/>
                      <a:pt x="243403" y="401952"/>
                      <a:pt x="237434" y="401571"/>
                    </a:cubicBezTo>
                    <a:cubicBezTo>
                      <a:pt x="231465" y="401190"/>
                      <a:pt x="225369" y="399285"/>
                      <a:pt x="218638" y="396110"/>
                    </a:cubicBezTo>
                    <a:cubicBezTo>
                      <a:pt x="211907" y="392935"/>
                      <a:pt x="205430" y="387728"/>
                      <a:pt x="199080" y="380489"/>
                    </a:cubicBezTo>
                    <a:close/>
                    <a:moveTo>
                      <a:pt x="219400" y="368805"/>
                    </a:moveTo>
                    <a:cubicBezTo>
                      <a:pt x="226131" y="376425"/>
                      <a:pt x="233243" y="381505"/>
                      <a:pt x="240863" y="384172"/>
                    </a:cubicBezTo>
                    <a:cubicBezTo>
                      <a:pt x="248483" y="386839"/>
                      <a:pt x="255976" y="387601"/>
                      <a:pt x="263215" y="386204"/>
                    </a:cubicBezTo>
                    <a:cubicBezTo>
                      <a:pt x="270454" y="384807"/>
                      <a:pt x="276805" y="382140"/>
                      <a:pt x="282139" y="377695"/>
                    </a:cubicBezTo>
                    <a:lnTo>
                      <a:pt x="300173" y="362836"/>
                    </a:lnTo>
                    <a:cubicBezTo>
                      <a:pt x="298395" y="362836"/>
                      <a:pt x="295982" y="361820"/>
                      <a:pt x="292680" y="359788"/>
                    </a:cubicBezTo>
                    <a:cubicBezTo>
                      <a:pt x="289378" y="357756"/>
                      <a:pt x="286076" y="355216"/>
                      <a:pt x="282266" y="352041"/>
                    </a:cubicBezTo>
                    <a:cubicBezTo>
                      <a:pt x="278456" y="348866"/>
                      <a:pt x="275026" y="345945"/>
                      <a:pt x="271724" y="343024"/>
                    </a:cubicBezTo>
                    <a:cubicBezTo>
                      <a:pt x="268422" y="340103"/>
                      <a:pt x="265755" y="337690"/>
                      <a:pt x="263596" y="335785"/>
                    </a:cubicBezTo>
                    <a:cubicBezTo>
                      <a:pt x="258516" y="331340"/>
                      <a:pt x="253309" y="327657"/>
                      <a:pt x="247975" y="324482"/>
                    </a:cubicBezTo>
                    <a:cubicBezTo>
                      <a:pt x="242641" y="321307"/>
                      <a:pt x="237561" y="319783"/>
                      <a:pt x="232227" y="319529"/>
                    </a:cubicBezTo>
                    <a:cubicBezTo>
                      <a:pt x="226893" y="319275"/>
                      <a:pt x="221940" y="321307"/>
                      <a:pt x="216860" y="325371"/>
                    </a:cubicBezTo>
                    <a:cubicBezTo>
                      <a:pt x="210002" y="330959"/>
                      <a:pt x="206954" y="337690"/>
                      <a:pt x="207843" y="345564"/>
                    </a:cubicBezTo>
                    <a:cubicBezTo>
                      <a:pt x="208732" y="353438"/>
                      <a:pt x="212669" y="361058"/>
                      <a:pt x="219400" y="368678"/>
                    </a:cubicBezTo>
                    <a:close/>
                    <a:moveTo>
                      <a:pt x="470481" y="347342"/>
                    </a:moveTo>
                    <a:lnTo>
                      <a:pt x="299284" y="488057"/>
                    </a:lnTo>
                    <a:lnTo>
                      <a:pt x="282393" y="468880"/>
                    </a:lnTo>
                    <a:lnTo>
                      <a:pt x="453590" y="328292"/>
                    </a:lnTo>
                    <a:lnTo>
                      <a:pt x="470481" y="347469"/>
                    </a:lnTo>
                    <a:close/>
                    <a:moveTo>
                      <a:pt x="570304" y="544318"/>
                    </a:moveTo>
                    <a:lnTo>
                      <a:pt x="551254" y="555494"/>
                    </a:lnTo>
                    <a:lnTo>
                      <a:pt x="494230" y="490851"/>
                    </a:lnTo>
                    <a:lnTo>
                      <a:pt x="513280" y="479675"/>
                    </a:lnTo>
                    <a:lnTo>
                      <a:pt x="570304" y="544318"/>
                    </a:lnTo>
                    <a:close/>
                    <a:moveTo>
                      <a:pt x="564970" y="478151"/>
                    </a:moveTo>
                    <a:lnTo>
                      <a:pt x="581861" y="497328"/>
                    </a:lnTo>
                    <a:lnTo>
                      <a:pt x="441906" y="578099"/>
                    </a:lnTo>
                    <a:cubicBezTo>
                      <a:pt x="435556" y="581782"/>
                      <a:pt x="431492" y="585338"/>
                      <a:pt x="429714" y="588767"/>
                    </a:cubicBezTo>
                    <a:cubicBezTo>
                      <a:pt x="427936" y="592196"/>
                      <a:pt x="427809" y="595498"/>
                      <a:pt x="428952" y="598673"/>
                    </a:cubicBezTo>
                    <a:cubicBezTo>
                      <a:pt x="430095" y="601848"/>
                      <a:pt x="432127" y="604769"/>
                      <a:pt x="434540" y="607690"/>
                    </a:cubicBezTo>
                    <a:cubicBezTo>
                      <a:pt x="436445" y="609849"/>
                      <a:pt x="438096" y="611500"/>
                      <a:pt x="439493" y="612643"/>
                    </a:cubicBezTo>
                    <a:cubicBezTo>
                      <a:pt x="440890" y="613786"/>
                      <a:pt x="442160" y="614675"/>
                      <a:pt x="443049" y="615310"/>
                    </a:cubicBezTo>
                    <a:lnTo>
                      <a:pt x="426412" y="631185"/>
                    </a:lnTo>
                    <a:cubicBezTo>
                      <a:pt x="424634" y="630169"/>
                      <a:pt x="422348" y="628518"/>
                      <a:pt x="419681" y="626486"/>
                    </a:cubicBezTo>
                    <a:cubicBezTo>
                      <a:pt x="417014" y="624454"/>
                      <a:pt x="414093" y="621787"/>
                      <a:pt x="410918" y="618104"/>
                    </a:cubicBezTo>
                    <a:cubicBezTo>
                      <a:pt x="406092" y="612643"/>
                      <a:pt x="402917" y="606674"/>
                      <a:pt x="401011" y="599943"/>
                    </a:cubicBezTo>
                    <a:cubicBezTo>
                      <a:pt x="399106" y="593212"/>
                      <a:pt x="399614" y="586608"/>
                      <a:pt x="402281" y="580004"/>
                    </a:cubicBezTo>
                    <a:cubicBezTo>
                      <a:pt x="404949" y="573400"/>
                      <a:pt x="410537" y="567685"/>
                      <a:pt x="419046" y="562732"/>
                    </a:cubicBezTo>
                    <a:lnTo>
                      <a:pt x="564843" y="478151"/>
                    </a:lnTo>
                    <a:close/>
                    <a:moveTo>
                      <a:pt x="408378" y="669539"/>
                    </a:moveTo>
                    <a:lnTo>
                      <a:pt x="506295" y="613151"/>
                    </a:lnTo>
                    <a:lnTo>
                      <a:pt x="521535" y="630423"/>
                    </a:lnTo>
                    <a:lnTo>
                      <a:pt x="423618" y="686810"/>
                    </a:lnTo>
                    <a:lnTo>
                      <a:pt x="408378" y="669539"/>
                    </a:lnTo>
                    <a:close/>
                    <a:moveTo>
                      <a:pt x="528012" y="614929"/>
                    </a:moveTo>
                    <a:cubicBezTo>
                      <a:pt x="525091" y="611627"/>
                      <a:pt x="524076" y="608325"/>
                      <a:pt x="524964" y="604896"/>
                    </a:cubicBezTo>
                    <a:cubicBezTo>
                      <a:pt x="525853" y="601467"/>
                      <a:pt x="527505" y="598927"/>
                      <a:pt x="529791" y="597276"/>
                    </a:cubicBezTo>
                    <a:cubicBezTo>
                      <a:pt x="532331" y="595498"/>
                      <a:pt x="535506" y="594736"/>
                      <a:pt x="539443" y="594990"/>
                    </a:cubicBezTo>
                    <a:cubicBezTo>
                      <a:pt x="543380" y="595244"/>
                      <a:pt x="546555" y="596641"/>
                      <a:pt x="548968" y="599435"/>
                    </a:cubicBezTo>
                    <a:cubicBezTo>
                      <a:pt x="551254" y="601975"/>
                      <a:pt x="552397" y="605023"/>
                      <a:pt x="552524" y="608452"/>
                    </a:cubicBezTo>
                    <a:cubicBezTo>
                      <a:pt x="552651" y="611881"/>
                      <a:pt x="550746" y="614802"/>
                      <a:pt x="546936" y="617342"/>
                    </a:cubicBezTo>
                    <a:cubicBezTo>
                      <a:pt x="543507" y="619628"/>
                      <a:pt x="539951" y="620390"/>
                      <a:pt x="536395" y="619628"/>
                    </a:cubicBezTo>
                    <a:cubicBezTo>
                      <a:pt x="532839" y="618866"/>
                      <a:pt x="530044" y="617215"/>
                      <a:pt x="528139" y="614929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DE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8330603" y="4536871"/>
              <a:ext cx="992172" cy="821492"/>
              <a:chOff x="0" y="0"/>
              <a:chExt cx="1313142" cy="1087247"/>
            </a:xfrm>
          </p:grpSpPr>
          <p:sp>
            <p:nvSpPr>
              <p:cNvPr id="20" name="Freeform 20"/>
              <p:cNvSpPr/>
              <p:nvPr/>
            </p:nvSpPr>
            <p:spPr>
              <a:xfrm flipV="1">
                <a:off x="0" y="0"/>
                <a:ext cx="1313180" cy="1087247"/>
              </a:xfrm>
              <a:custGeom>
                <a:avLst/>
                <a:gdLst/>
                <a:ahLst/>
                <a:cxnLst/>
                <a:rect l="l" t="t" r="r" b="b"/>
                <a:pathLst>
                  <a:path w="1313180" h="1087247">
                    <a:moveTo>
                      <a:pt x="0" y="1087247"/>
                    </a:moveTo>
                    <a:lnTo>
                      <a:pt x="1313180" y="1087247"/>
                    </a:lnTo>
                    <a:lnTo>
                      <a:pt x="1313180" y="0"/>
                    </a:lnTo>
                    <a:lnTo>
                      <a:pt x="0" y="0"/>
                    </a:lnTo>
                    <a:lnTo>
                      <a:pt x="0" y="1087247"/>
                    </a:lnTo>
                    <a:close/>
                  </a:path>
                </a:pathLst>
              </a:custGeom>
              <a:blipFill>
                <a:blip r:embed="rId3"/>
                <a:stretch>
                  <a:fillRect r="2"/>
                </a:stretch>
              </a:blipFill>
            </p:spPr>
            <p:txBody>
              <a:bodyPr/>
              <a:lstStyle/>
              <a:p>
                <a:endParaRPr lang="en-DE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9765475" y="4536871"/>
              <a:ext cx="992172" cy="821492"/>
              <a:chOff x="0" y="0"/>
              <a:chExt cx="1313142" cy="1087247"/>
            </a:xfrm>
          </p:grpSpPr>
          <p:sp>
            <p:nvSpPr>
              <p:cNvPr id="22" name="Freeform 22"/>
              <p:cNvSpPr/>
              <p:nvPr/>
            </p:nvSpPr>
            <p:spPr>
              <a:xfrm flipV="1">
                <a:off x="0" y="0"/>
                <a:ext cx="1313180" cy="1087247"/>
              </a:xfrm>
              <a:custGeom>
                <a:avLst/>
                <a:gdLst/>
                <a:ahLst/>
                <a:cxnLst/>
                <a:rect l="l" t="t" r="r" b="b"/>
                <a:pathLst>
                  <a:path w="1313180" h="1087247">
                    <a:moveTo>
                      <a:pt x="0" y="1087247"/>
                    </a:moveTo>
                    <a:lnTo>
                      <a:pt x="1313180" y="1087247"/>
                    </a:lnTo>
                    <a:lnTo>
                      <a:pt x="1313180" y="0"/>
                    </a:lnTo>
                    <a:lnTo>
                      <a:pt x="0" y="0"/>
                    </a:lnTo>
                    <a:lnTo>
                      <a:pt x="0" y="1087247"/>
                    </a:lnTo>
                    <a:close/>
                  </a:path>
                </a:pathLst>
              </a:custGeom>
              <a:blipFill>
                <a:blip r:embed="rId4"/>
                <a:stretch>
                  <a:fillRect r="2"/>
                </a:stretch>
              </a:blipFill>
            </p:spPr>
            <p:txBody>
              <a:bodyPr/>
              <a:lstStyle/>
              <a:p>
                <a:endParaRPr lang="en-DE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757566" y="4288725"/>
              <a:ext cx="704021" cy="692995"/>
              <a:chOff x="0" y="0"/>
              <a:chExt cx="931774" cy="91718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3605" y="89736"/>
                <a:ext cx="695272" cy="763979"/>
              </a:xfrm>
              <a:custGeom>
                <a:avLst/>
                <a:gdLst/>
                <a:ahLst/>
                <a:cxnLst/>
                <a:rect l="l" t="t" r="r" b="b"/>
                <a:pathLst>
                  <a:path w="695272" h="763979">
                    <a:moveTo>
                      <a:pt x="9420" y="751258"/>
                    </a:moveTo>
                    <a:cubicBezTo>
                      <a:pt x="10563" y="759386"/>
                      <a:pt x="18056" y="764974"/>
                      <a:pt x="26184" y="763831"/>
                    </a:cubicBezTo>
                    <a:cubicBezTo>
                      <a:pt x="34312" y="762688"/>
                      <a:pt x="39900" y="755195"/>
                      <a:pt x="38757" y="747067"/>
                    </a:cubicBezTo>
                    <a:lnTo>
                      <a:pt x="24025" y="749099"/>
                    </a:lnTo>
                    <a:lnTo>
                      <a:pt x="9420" y="751131"/>
                    </a:lnTo>
                    <a:close/>
                    <a:moveTo>
                      <a:pt x="682646" y="29517"/>
                    </a:moveTo>
                    <a:cubicBezTo>
                      <a:pt x="690774" y="28247"/>
                      <a:pt x="696362" y="20754"/>
                      <a:pt x="695092" y="12626"/>
                    </a:cubicBezTo>
                    <a:cubicBezTo>
                      <a:pt x="693822" y="4498"/>
                      <a:pt x="686329" y="-1090"/>
                      <a:pt x="678201" y="180"/>
                    </a:cubicBezTo>
                    <a:lnTo>
                      <a:pt x="680360" y="14785"/>
                    </a:lnTo>
                    <a:lnTo>
                      <a:pt x="682519" y="29390"/>
                    </a:lnTo>
                    <a:close/>
                    <a:moveTo>
                      <a:pt x="32534" y="691949"/>
                    </a:moveTo>
                    <a:cubicBezTo>
                      <a:pt x="31899" y="683821"/>
                      <a:pt x="24660" y="677725"/>
                      <a:pt x="16532" y="678487"/>
                    </a:cubicBezTo>
                    <a:cubicBezTo>
                      <a:pt x="8404" y="679249"/>
                      <a:pt x="2308" y="686361"/>
                      <a:pt x="3070" y="694489"/>
                    </a:cubicBezTo>
                    <a:lnTo>
                      <a:pt x="17802" y="693219"/>
                    </a:lnTo>
                    <a:lnTo>
                      <a:pt x="32534" y="691949"/>
                    </a:lnTo>
                    <a:close/>
                    <a:moveTo>
                      <a:pt x="149" y="645213"/>
                    </a:moveTo>
                    <a:cubicBezTo>
                      <a:pt x="403" y="653341"/>
                      <a:pt x="7134" y="659818"/>
                      <a:pt x="15389" y="659564"/>
                    </a:cubicBezTo>
                    <a:cubicBezTo>
                      <a:pt x="23644" y="659310"/>
                      <a:pt x="29994" y="652579"/>
                      <a:pt x="29740" y="644324"/>
                    </a:cubicBezTo>
                    <a:lnTo>
                      <a:pt x="14881" y="644705"/>
                    </a:lnTo>
                    <a:lnTo>
                      <a:pt x="22" y="645086"/>
                    </a:lnTo>
                    <a:close/>
                    <a:moveTo>
                      <a:pt x="34820" y="534723"/>
                    </a:moveTo>
                    <a:cubicBezTo>
                      <a:pt x="35836" y="526595"/>
                      <a:pt x="30121" y="519229"/>
                      <a:pt x="21993" y="518086"/>
                    </a:cubicBezTo>
                    <a:cubicBezTo>
                      <a:pt x="13865" y="516943"/>
                      <a:pt x="6499" y="522785"/>
                      <a:pt x="5356" y="530913"/>
                    </a:cubicBezTo>
                    <a:lnTo>
                      <a:pt x="20088" y="532818"/>
                    </a:lnTo>
                    <a:lnTo>
                      <a:pt x="34820" y="534723"/>
                    </a:lnTo>
                    <a:close/>
                    <a:moveTo>
                      <a:pt x="13992" y="481891"/>
                    </a:moveTo>
                    <a:cubicBezTo>
                      <a:pt x="12341" y="489892"/>
                      <a:pt x="17421" y="497766"/>
                      <a:pt x="25422" y="499417"/>
                    </a:cubicBezTo>
                    <a:cubicBezTo>
                      <a:pt x="33423" y="501068"/>
                      <a:pt x="41297" y="495988"/>
                      <a:pt x="42948" y="487987"/>
                    </a:cubicBezTo>
                    <a:lnTo>
                      <a:pt x="28470" y="484939"/>
                    </a:lnTo>
                    <a:lnTo>
                      <a:pt x="13992" y="481891"/>
                    </a:lnTo>
                    <a:close/>
                    <a:moveTo>
                      <a:pt x="76603" y="384609"/>
                    </a:moveTo>
                    <a:cubicBezTo>
                      <a:pt x="80032" y="377116"/>
                      <a:pt x="76603" y="368353"/>
                      <a:pt x="69237" y="365051"/>
                    </a:cubicBezTo>
                    <a:cubicBezTo>
                      <a:pt x="61871" y="361749"/>
                      <a:pt x="52981" y="365051"/>
                      <a:pt x="49679" y="372417"/>
                    </a:cubicBezTo>
                    <a:lnTo>
                      <a:pt x="63141" y="378513"/>
                    </a:lnTo>
                    <a:lnTo>
                      <a:pt x="76603" y="384609"/>
                    </a:lnTo>
                    <a:close/>
                    <a:moveTo>
                      <a:pt x="72412" y="327967"/>
                    </a:moveTo>
                    <a:cubicBezTo>
                      <a:pt x="68348" y="335079"/>
                      <a:pt x="70761" y="344096"/>
                      <a:pt x="77873" y="348160"/>
                    </a:cubicBezTo>
                    <a:cubicBezTo>
                      <a:pt x="84985" y="352224"/>
                      <a:pt x="94002" y="349811"/>
                      <a:pt x="98066" y="342699"/>
                    </a:cubicBezTo>
                    <a:lnTo>
                      <a:pt x="85239" y="335333"/>
                    </a:lnTo>
                    <a:lnTo>
                      <a:pt x="72412" y="327967"/>
                    </a:lnTo>
                    <a:close/>
                    <a:moveTo>
                      <a:pt x="162963" y="255704"/>
                    </a:moveTo>
                    <a:cubicBezTo>
                      <a:pt x="168551" y="249735"/>
                      <a:pt x="168297" y="240337"/>
                      <a:pt x="162328" y="234749"/>
                    </a:cubicBezTo>
                    <a:cubicBezTo>
                      <a:pt x="156359" y="229161"/>
                      <a:pt x="146961" y="229415"/>
                      <a:pt x="141373" y="235384"/>
                    </a:cubicBezTo>
                    <a:lnTo>
                      <a:pt x="152168" y="245544"/>
                    </a:lnTo>
                    <a:lnTo>
                      <a:pt x="162963" y="255704"/>
                    </a:lnTo>
                    <a:close/>
                    <a:moveTo>
                      <a:pt x="177187" y="200586"/>
                    </a:moveTo>
                    <a:cubicBezTo>
                      <a:pt x="171091" y="206047"/>
                      <a:pt x="170456" y="215318"/>
                      <a:pt x="175917" y="221541"/>
                    </a:cubicBezTo>
                    <a:cubicBezTo>
                      <a:pt x="181378" y="227764"/>
                      <a:pt x="190649" y="228272"/>
                      <a:pt x="196872" y="222811"/>
                    </a:cubicBezTo>
                    <a:lnTo>
                      <a:pt x="187093" y="211762"/>
                    </a:lnTo>
                    <a:lnTo>
                      <a:pt x="177314" y="200713"/>
                    </a:lnTo>
                    <a:close/>
                    <a:moveTo>
                      <a:pt x="285264" y="158549"/>
                    </a:moveTo>
                    <a:cubicBezTo>
                      <a:pt x="292249" y="154358"/>
                      <a:pt x="294535" y="145214"/>
                      <a:pt x="290344" y="138229"/>
                    </a:cubicBezTo>
                    <a:cubicBezTo>
                      <a:pt x="286153" y="131244"/>
                      <a:pt x="277009" y="128958"/>
                      <a:pt x="270024" y="133149"/>
                    </a:cubicBezTo>
                    <a:lnTo>
                      <a:pt x="277644" y="145849"/>
                    </a:lnTo>
                    <a:lnTo>
                      <a:pt x="285264" y="158549"/>
                    </a:lnTo>
                    <a:close/>
                    <a:moveTo>
                      <a:pt x="313203" y="109019"/>
                    </a:moveTo>
                    <a:cubicBezTo>
                      <a:pt x="305965" y="112702"/>
                      <a:pt x="303044" y="121719"/>
                      <a:pt x="306854" y="128958"/>
                    </a:cubicBezTo>
                    <a:cubicBezTo>
                      <a:pt x="310664" y="136197"/>
                      <a:pt x="319553" y="139118"/>
                      <a:pt x="326792" y="135308"/>
                    </a:cubicBezTo>
                    <a:lnTo>
                      <a:pt x="320062" y="122100"/>
                    </a:lnTo>
                    <a:lnTo>
                      <a:pt x="313330" y="108892"/>
                    </a:lnTo>
                    <a:close/>
                    <a:moveTo>
                      <a:pt x="428138" y="91493"/>
                    </a:moveTo>
                    <a:cubicBezTo>
                      <a:pt x="435885" y="88699"/>
                      <a:pt x="439822" y="80190"/>
                      <a:pt x="437028" y="72570"/>
                    </a:cubicBezTo>
                    <a:cubicBezTo>
                      <a:pt x="434234" y="64950"/>
                      <a:pt x="425725" y="60886"/>
                      <a:pt x="418105" y="63680"/>
                    </a:cubicBezTo>
                    <a:lnTo>
                      <a:pt x="423185" y="77650"/>
                    </a:lnTo>
                    <a:lnTo>
                      <a:pt x="428265" y="91620"/>
                    </a:lnTo>
                    <a:close/>
                    <a:moveTo>
                      <a:pt x="464841" y="48059"/>
                    </a:moveTo>
                    <a:cubicBezTo>
                      <a:pt x="456967" y="50472"/>
                      <a:pt x="452649" y="58854"/>
                      <a:pt x="455062" y="66601"/>
                    </a:cubicBezTo>
                    <a:cubicBezTo>
                      <a:pt x="457475" y="74348"/>
                      <a:pt x="465857" y="78793"/>
                      <a:pt x="473604" y="76380"/>
                    </a:cubicBezTo>
                    <a:lnTo>
                      <a:pt x="469159" y="62283"/>
                    </a:lnTo>
                    <a:lnTo>
                      <a:pt x="464714" y="48186"/>
                    </a:lnTo>
                    <a:close/>
                    <a:moveTo>
                      <a:pt x="580665" y="48313"/>
                    </a:moveTo>
                    <a:cubicBezTo>
                      <a:pt x="588666" y="46535"/>
                      <a:pt x="593746" y="38661"/>
                      <a:pt x="591968" y="30660"/>
                    </a:cubicBezTo>
                    <a:cubicBezTo>
                      <a:pt x="590190" y="22659"/>
                      <a:pt x="582316" y="17579"/>
                      <a:pt x="574315" y="19357"/>
                    </a:cubicBezTo>
                    <a:lnTo>
                      <a:pt x="577490" y="33835"/>
                    </a:lnTo>
                    <a:lnTo>
                      <a:pt x="580665" y="48313"/>
                    </a:lnTo>
                    <a:close/>
                    <a:moveTo>
                      <a:pt x="622194" y="9578"/>
                    </a:moveTo>
                    <a:cubicBezTo>
                      <a:pt x="614193" y="11102"/>
                      <a:pt x="608859" y="18849"/>
                      <a:pt x="610383" y="26850"/>
                    </a:cubicBezTo>
                    <a:cubicBezTo>
                      <a:pt x="611907" y="34851"/>
                      <a:pt x="619654" y="40185"/>
                      <a:pt x="627655" y="38661"/>
                    </a:cubicBezTo>
                    <a:lnTo>
                      <a:pt x="624988" y="24056"/>
                    </a:lnTo>
                    <a:lnTo>
                      <a:pt x="622194" y="9578"/>
                    </a:lnTo>
                    <a:close/>
                    <a:moveTo>
                      <a:pt x="24152" y="749099"/>
                    </a:moveTo>
                    <a:lnTo>
                      <a:pt x="38884" y="747067"/>
                    </a:lnTo>
                    <a:cubicBezTo>
                      <a:pt x="36217" y="728398"/>
                      <a:pt x="34185" y="709983"/>
                      <a:pt x="32661" y="692076"/>
                    </a:cubicBezTo>
                    <a:lnTo>
                      <a:pt x="17929" y="693346"/>
                    </a:lnTo>
                    <a:lnTo>
                      <a:pt x="3197" y="694616"/>
                    </a:lnTo>
                    <a:cubicBezTo>
                      <a:pt x="4721" y="713158"/>
                      <a:pt x="6880" y="732081"/>
                      <a:pt x="9674" y="751385"/>
                    </a:cubicBezTo>
                    <a:lnTo>
                      <a:pt x="24279" y="749353"/>
                    </a:lnTo>
                    <a:close/>
                    <a:moveTo>
                      <a:pt x="15135" y="645086"/>
                    </a:moveTo>
                    <a:lnTo>
                      <a:pt x="29994" y="644705"/>
                    </a:lnTo>
                    <a:cubicBezTo>
                      <a:pt x="28978" y="606351"/>
                      <a:pt x="30629" y="569775"/>
                      <a:pt x="35201" y="535104"/>
                    </a:cubicBezTo>
                    <a:lnTo>
                      <a:pt x="20469" y="533199"/>
                    </a:lnTo>
                    <a:lnTo>
                      <a:pt x="5737" y="531294"/>
                    </a:lnTo>
                    <a:cubicBezTo>
                      <a:pt x="1038" y="567743"/>
                      <a:pt x="-740" y="605716"/>
                      <a:pt x="276" y="645594"/>
                    </a:cubicBezTo>
                    <a:lnTo>
                      <a:pt x="15135" y="645213"/>
                    </a:lnTo>
                    <a:close/>
                    <a:moveTo>
                      <a:pt x="28470" y="485066"/>
                    </a:moveTo>
                    <a:lnTo>
                      <a:pt x="42948" y="488114"/>
                    </a:lnTo>
                    <a:cubicBezTo>
                      <a:pt x="50822" y="451411"/>
                      <a:pt x="61998" y="416994"/>
                      <a:pt x="76603" y="384609"/>
                    </a:cubicBezTo>
                    <a:lnTo>
                      <a:pt x="63141" y="378513"/>
                    </a:lnTo>
                    <a:lnTo>
                      <a:pt x="49679" y="372417"/>
                    </a:lnTo>
                    <a:cubicBezTo>
                      <a:pt x="34185" y="406834"/>
                      <a:pt x="22247" y="443283"/>
                      <a:pt x="13992" y="481891"/>
                    </a:cubicBezTo>
                    <a:lnTo>
                      <a:pt x="28470" y="484939"/>
                    </a:lnTo>
                    <a:close/>
                    <a:moveTo>
                      <a:pt x="85239" y="335333"/>
                    </a:moveTo>
                    <a:lnTo>
                      <a:pt x="98066" y="342699"/>
                    </a:lnTo>
                    <a:cubicBezTo>
                      <a:pt x="116100" y="311584"/>
                      <a:pt x="137690" y="282501"/>
                      <a:pt x="162963" y="255577"/>
                    </a:cubicBezTo>
                    <a:lnTo>
                      <a:pt x="152168" y="245417"/>
                    </a:lnTo>
                    <a:lnTo>
                      <a:pt x="141373" y="235257"/>
                    </a:lnTo>
                    <a:cubicBezTo>
                      <a:pt x="114703" y="263705"/>
                      <a:pt x="91716" y="294566"/>
                      <a:pt x="72539" y="327713"/>
                    </a:cubicBezTo>
                    <a:lnTo>
                      <a:pt x="85366" y="335079"/>
                    </a:lnTo>
                    <a:close/>
                    <a:moveTo>
                      <a:pt x="187093" y="211508"/>
                    </a:moveTo>
                    <a:lnTo>
                      <a:pt x="196872" y="222557"/>
                    </a:lnTo>
                    <a:cubicBezTo>
                      <a:pt x="223161" y="199316"/>
                      <a:pt x="252498" y="177853"/>
                      <a:pt x="285137" y="158168"/>
                    </a:cubicBezTo>
                    <a:lnTo>
                      <a:pt x="277517" y="145468"/>
                    </a:lnTo>
                    <a:lnTo>
                      <a:pt x="269897" y="132768"/>
                    </a:lnTo>
                    <a:cubicBezTo>
                      <a:pt x="235861" y="153215"/>
                      <a:pt x="205000" y="175821"/>
                      <a:pt x="177187" y="200332"/>
                    </a:cubicBezTo>
                    <a:lnTo>
                      <a:pt x="186966" y="211381"/>
                    </a:lnTo>
                    <a:close/>
                    <a:moveTo>
                      <a:pt x="319935" y="122227"/>
                    </a:moveTo>
                    <a:lnTo>
                      <a:pt x="326665" y="135435"/>
                    </a:lnTo>
                    <a:cubicBezTo>
                      <a:pt x="357907" y="119433"/>
                      <a:pt x="391562" y="104828"/>
                      <a:pt x="427884" y="91620"/>
                    </a:cubicBezTo>
                    <a:lnTo>
                      <a:pt x="422804" y="77650"/>
                    </a:lnTo>
                    <a:lnTo>
                      <a:pt x="417724" y="63680"/>
                    </a:lnTo>
                    <a:cubicBezTo>
                      <a:pt x="380386" y="77269"/>
                      <a:pt x="345461" y="92255"/>
                      <a:pt x="313076" y="109019"/>
                    </a:cubicBezTo>
                    <a:lnTo>
                      <a:pt x="319807" y="122227"/>
                    </a:lnTo>
                    <a:close/>
                    <a:moveTo>
                      <a:pt x="468778" y="62156"/>
                    </a:moveTo>
                    <a:lnTo>
                      <a:pt x="473223" y="76253"/>
                    </a:lnTo>
                    <a:cubicBezTo>
                      <a:pt x="507005" y="65712"/>
                      <a:pt x="542692" y="56314"/>
                      <a:pt x="580411" y="48186"/>
                    </a:cubicBezTo>
                    <a:lnTo>
                      <a:pt x="577236" y="33708"/>
                    </a:lnTo>
                    <a:lnTo>
                      <a:pt x="574061" y="19230"/>
                    </a:lnTo>
                    <a:cubicBezTo>
                      <a:pt x="535580" y="27612"/>
                      <a:pt x="499004" y="37264"/>
                      <a:pt x="464460" y="48059"/>
                    </a:cubicBezTo>
                    <a:lnTo>
                      <a:pt x="468905" y="62156"/>
                    </a:lnTo>
                    <a:close/>
                    <a:moveTo>
                      <a:pt x="624988" y="24056"/>
                    </a:moveTo>
                    <a:lnTo>
                      <a:pt x="627655" y="38661"/>
                    </a:lnTo>
                    <a:cubicBezTo>
                      <a:pt x="645562" y="35359"/>
                      <a:pt x="663850" y="32311"/>
                      <a:pt x="682646" y="29390"/>
                    </a:cubicBezTo>
                    <a:lnTo>
                      <a:pt x="680487" y="14785"/>
                    </a:lnTo>
                    <a:lnTo>
                      <a:pt x="678328" y="180"/>
                    </a:lnTo>
                    <a:cubicBezTo>
                      <a:pt x="659278" y="3101"/>
                      <a:pt x="640609" y="6149"/>
                      <a:pt x="622448" y="9578"/>
                    </a:cubicBezTo>
                    <a:lnTo>
                      <a:pt x="625115" y="2418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DE"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729259" y="63526"/>
                <a:ext cx="139039" cy="94573"/>
              </a:xfrm>
              <a:custGeom>
                <a:avLst/>
                <a:gdLst/>
                <a:ahLst/>
                <a:cxnLst/>
                <a:rect l="l" t="t" r="r" b="b"/>
                <a:pathLst>
                  <a:path w="139039" h="94573">
                    <a:moveTo>
                      <a:pt x="18008" y="355"/>
                    </a:moveTo>
                    <a:cubicBezTo>
                      <a:pt x="10007" y="-1423"/>
                      <a:pt x="2133" y="3657"/>
                      <a:pt x="355" y="11658"/>
                    </a:cubicBezTo>
                    <a:cubicBezTo>
                      <a:pt x="-1423" y="19659"/>
                      <a:pt x="3657" y="27533"/>
                      <a:pt x="11658" y="29311"/>
                    </a:cubicBezTo>
                    <a:lnTo>
                      <a:pt x="14833" y="14833"/>
                    </a:lnTo>
                    <a:lnTo>
                      <a:pt x="18008" y="355"/>
                    </a:lnTo>
                    <a:close/>
                    <a:moveTo>
                      <a:pt x="101320" y="34010"/>
                    </a:moveTo>
                    <a:lnTo>
                      <a:pt x="109448" y="46456"/>
                    </a:lnTo>
                    <a:lnTo>
                      <a:pt x="139039" y="27152"/>
                    </a:lnTo>
                    <a:lnTo>
                      <a:pt x="104622" y="19532"/>
                    </a:lnTo>
                    <a:lnTo>
                      <a:pt x="101447" y="34010"/>
                    </a:lnTo>
                    <a:close/>
                    <a:moveTo>
                      <a:pt x="22834" y="67411"/>
                    </a:moveTo>
                    <a:cubicBezTo>
                      <a:pt x="15976" y="71856"/>
                      <a:pt x="14071" y="81000"/>
                      <a:pt x="18516" y="87858"/>
                    </a:cubicBezTo>
                    <a:cubicBezTo>
                      <a:pt x="22961" y="94716"/>
                      <a:pt x="32105" y="96621"/>
                      <a:pt x="38963" y="92176"/>
                    </a:cubicBezTo>
                    <a:lnTo>
                      <a:pt x="30835" y="79730"/>
                    </a:lnTo>
                    <a:lnTo>
                      <a:pt x="22707" y="67284"/>
                    </a:lnTo>
                    <a:close/>
                    <a:moveTo>
                      <a:pt x="41757" y="35788"/>
                    </a:moveTo>
                    <a:cubicBezTo>
                      <a:pt x="49758" y="37566"/>
                      <a:pt x="57632" y="32486"/>
                      <a:pt x="59410" y="24485"/>
                    </a:cubicBezTo>
                    <a:cubicBezTo>
                      <a:pt x="61188" y="16484"/>
                      <a:pt x="56108" y="8610"/>
                      <a:pt x="48107" y="6832"/>
                    </a:cubicBezTo>
                    <a:lnTo>
                      <a:pt x="44932" y="21310"/>
                    </a:lnTo>
                    <a:lnTo>
                      <a:pt x="41757" y="35788"/>
                    </a:lnTo>
                    <a:close/>
                    <a:moveTo>
                      <a:pt x="74269" y="12674"/>
                    </a:moveTo>
                    <a:cubicBezTo>
                      <a:pt x="66268" y="10896"/>
                      <a:pt x="58394" y="15976"/>
                      <a:pt x="56616" y="23977"/>
                    </a:cubicBezTo>
                    <a:cubicBezTo>
                      <a:pt x="54838" y="31978"/>
                      <a:pt x="59918" y="39852"/>
                      <a:pt x="67919" y="41630"/>
                    </a:cubicBezTo>
                    <a:lnTo>
                      <a:pt x="71094" y="27152"/>
                    </a:lnTo>
                    <a:lnTo>
                      <a:pt x="74269" y="12674"/>
                    </a:lnTo>
                    <a:close/>
                    <a:moveTo>
                      <a:pt x="68554" y="37439"/>
                    </a:moveTo>
                    <a:cubicBezTo>
                      <a:pt x="61696" y="41884"/>
                      <a:pt x="59791" y="51028"/>
                      <a:pt x="64236" y="57886"/>
                    </a:cubicBezTo>
                    <a:cubicBezTo>
                      <a:pt x="68681" y="64744"/>
                      <a:pt x="77825" y="66649"/>
                      <a:pt x="84683" y="62204"/>
                    </a:cubicBezTo>
                    <a:lnTo>
                      <a:pt x="76555" y="49758"/>
                    </a:lnTo>
                    <a:lnTo>
                      <a:pt x="68427" y="37312"/>
                    </a:lnTo>
                    <a:close/>
                    <a:moveTo>
                      <a:pt x="63347" y="76047"/>
                    </a:moveTo>
                    <a:cubicBezTo>
                      <a:pt x="70205" y="71602"/>
                      <a:pt x="72110" y="62458"/>
                      <a:pt x="67665" y="55600"/>
                    </a:cubicBezTo>
                    <a:cubicBezTo>
                      <a:pt x="63220" y="48742"/>
                      <a:pt x="54076" y="46837"/>
                      <a:pt x="47218" y="51282"/>
                    </a:cubicBezTo>
                    <a:lnTo>
                      <a:pt x="55346" y="63728"/>
                    </a:lnTo>
                    <a:lnTo>
                      <a:pt x="63474" y="76174"/>
                    </a:lnTo>
                    <a:close/>
                    <a:moveTo>
                      <a:pt x="14706" y="14833"/>
                    </a:moveTo>
                    <a:lnTo>
                      <a:pt x="11531" y="29311"/>
                    </a:lnTo>
                    <a:lnTo>
                      <a:pt x="41757" y="36042"/>
                    </a:lnTo>
                    <a:lnTo>
                      <a:pt x="44932" y="21564"/>
                    </a:lnTo>
                    <a:lnTo>
                      <a:pt x="48107" y="7086"/>
                    </a:lnTo>
                    <a:lnTo>
                      <a:pt x="17881" y="355"/>
                    </a:lnTo>
                    <a:lnTo>
                      <a:pt x="14706" y="14833"/>
                    </a:lnTo>
                    <a:close/>
                    <a:moveTo>
                      <a:pt x="71094" y="27279"/>
                    </a:moveTo>
                    <a:lnTo>
                      <a:pt x="67919" y="41757"/>
                    </a:lnTo>
                    <a:lnTo>
                      <a:pt x="98145" y="48488"/>
                    </a:lnTo>
                    <a:lnTo>
                      <a:pt x="101320" y="34010"/>
                    </a:lnTo>
                    <a:lnTo>
                      <a:pt x="104495" y="19532"/>
                    </a:lnTo>
                    <a:lnTo>
                      <a:pt x="74269" y="12801"/>
                    </a:lnTo>
                    <a:lnTo>
                      <a:pt x="71094" y="27279"/>
                    </a:lnTo>
                    <a:close/>
                    <a:moveTo>
                      <a:pt x="101320" y="34010"/>
                    </a:moveTo>
                    <a:lnTo>
                      <a:pt x="93192" y="21564"/>
                    </a:lnTo>
                    <a:lnTo>
                      <a:pt x="68554" y="37566"/>
                    </a:lnTo>
                    <a:lnTo>
                      <a:pt x="76682" y="50012"/>
                    </a:lnTo>
                    <a:lnTo>
                      <a:pt x="84810" y="62458"/>
                    </a:lnTo>
                    <a:lnTo>
                      <a:pt x="109448" y="46456"/>
                    </a:lnTo>
                    <a:lnTo>
                      <a:pt x="101320" y="34010"/>
                    </a:lnTo>
                    <a:close/>
                    <a:moveTo>
                      <a:pt x="55473" y="63855"/>
                    </a:moveTo>
                    <a:lnTo>
                      <a:pt x="47345" y="51409"/>
                    </a:lnTo>
                    <a:lnTo>
                      <a:pt x="22707" y="67411"/>
                    </a:lnTo>
                    <a:lnTo>
                      <a:pt x="30835" y="79857"/>
                    </a:lnTo>
                    <a:lnTo>
                      <a:pt x="38963" y="92303"/>
                    </a:lnTo>
                    <a:lnTo>
                      <a:pt x="63601" y="76301"/>
                    </a:lnTo>
                    <a:lnTo>
                      <a:pt x="55473" y="638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DE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9476105" y="4962452"/>
              <a:ext cx="842113" cy="752364"/>
              <a:chOff x="0" y="0"/>
              <a:chExt cx="1114539" cy="99575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75006" y="63536"/>
                <a:ext cx="876011" cy="855712"/>
              </a:xfrm>
              <a:custGeom>
                <a:avLst/>
                <a:gdLst/>
                <a:ahLst/>
                <a:cxnLst/>
                <a:rect l="l" t="t" r="r" b="b"/>
                <a:pathLst>
                  <a:path w="876011" h="855712">
                    <a:moveTo>
                      <a:pt x="863602" y="29428"/>
                    </a:moveTo>
                    <a:cubicBezTo>
                      <a:pt x="871730" y="28158"/>
                      <a:pt x="877191" y="20538"/>
                      <a:pt x="875794" y="12410"/>
                    </a:cubicBezTo>
                    <a:cubicBezTo>
                      <a:pt x="874397" y="4282"/>
                      <a:pt x="866904" y="-1179"/>
                      <a:pt x="858776" y="218"/>
                    </a:cubicBezTo>
                    <a:lnTo>
                      <a:pt x="861189" y="14823"/>
                    </a:lnTo>
                    <a:lnTo>
                      <a:pt x="863602" y="29428"/>
                    </a:lnTo>
                    <a:close/>
                    <a:moveTo>
                      <a:pt x="8001" y="842866"/>
                    </a:moveTo>
                    <a:cubicBezTo>
                      <a:pt x="9017" y="850995"/>
                      <a:pt x="16510" y="856709"/>
                      <a:pt x="24638" y="855567"/>
                    </a:cubicBezTo>
                    <a:cubicBezTo>
                      <a:pt x="32766" y="854424"/>
                      <a:pt x="38481" y="847058"/>
                      <a:pt x="37338" y="838929"/>
                    </a:cubicBezTo>
                    <a:lnTo>
                      <a:pt x="22606" y="840834"/>
                    </a:lnTo>
                    <a:lnTo>
                      <a:pt x="7874" y="842739"/>
                    </a:lnTo>
                    <a:close/>
                    <a:moveTo>
                      <a:pt x="31496" y="781779"/>
                    </a:moveTo>
                    <a:cubicBezTo>
                      <a:pt x="30988" y="773651"/>
                      <a:pt x="23876" y="767428"/>
                      <a:pt x="15748" y="768063"/>
                    </a:cubicBezTo>
                    <a:cubicBezTo>
                      <a:pt x="7620" y="768698"/>
                      <a:pt x="1397" y="775683"/>
                      <a:pt x="2032" y="783811"/>
                    </a:cubicBezTo>
                    <a:lnTo>
                      <a:pt x="16764" y="782795"/>
                    </a:lnTo>
                    <a:lnTo>
                      <a:pt x="31496" y="781779"/>
                    </a:lnTo>
                    <a:close/>
                    <a:moveTo>
                      <a:pt x="0" y="732630"/>
                    </a:moveTo>
                    <a:cubicBezTo>
                      <a:pt x="0" y="740758"/>
                      <a:pt x="6731" y="747362"/>
                      <a:pt x="14986" y="747362"/>
                    </a:cubicBezTo>
                    <a:cubicBezTo>
                      <a:pt x="23241" y="747362"/>
                      <a:pt x="29718" y="740631"/>
                      <a:pt x="29718" y="732376"/>
                    </a:cubicBezTo>
                    <a:lnTo>
                      <a:pt x="14859" y="732503"/>
                    </a:lnTo>
                    <a:lnTo>
                      <a:pt x="0" y="732630"/>
                    </a:lnTo>
                    <a:close/>
                    <a:moveTo>
                      <a:pt x="37846" y="619092"/>
                    </a:moveTo>
                    <a:cubicBezTo>
                      <a:pt x="39116" y="610964"/>
                      <a:pt x="33655" y="603471"/>
                      <a:pt x="25527" y="602074"/>
                    </a:cubicBezTo>
                    <a:cubicBezTo>
                      <a:pt x="17399" y="600677"/>
                      <a:pt x="9906" y="606265"/>
                      <a:pt x="8509" y="614393"/>
                    </a:cubicBezTo>
                    <a:lnTo>
                      <a:pt x="23114" y="616679"/>
                    </a:lnTo>
                    <a:lnTo>
                      <a:pt x="37719" y="618965"/>
                    </a:lnTo>
                    <a:close/>
                    <a:moveTo>
                      <a:pt x="18542" y="563846"/>
                    </a:moveTo>
                    <a:cubicBezTo>
                      <a:pt x="16637" y="571847"/>
                      <a:pt x="21463" y="579848"/>
                      <a:pt x="29464" y="581753"/>
                    </a:cubicBezTo>
                    <a:cubicBezTo>
                      <a:pt x="37465" y="583659"/>
                      <a:pt x="45466" y="578832"/>
                      <a:pt x="47371" y="570831"/>
                    </a:cubicBezTo>
                    <a:lnTo>
                      <a:pt x="33020" y="567275"/>
                    </a:lnTo>
                    <a:lnTo>
                      <a:pt x="18669" y="563719"/>
                    </a:lnTo>
                    <a:close/>
                    <a:moveTo>
                      <a:pt x="85344" y="464786"/>
                    </a:moveTo>
                    <a:cubicBezTo>
                      <a:pt x="88900" y="457420"/>
                      <a:pt x="85725" y="448530"/>
                      <a:pt x="78359" y="444974"/>
                    </a:cubicBezTo>
                    <a:cubicBezTo>
                      <a:pt x="70993" y="441418"/>
                      <a:pt x="62103" y="444593"/>
                      <a:pt x="58547" y="451959"/>
                    </a:cubicBezTo>
                    <a:lnTo>
                      <a:pt x="71882" y="458309"/>
                    </a:lnTo>
                    <a:lnTo>
                      <a:pt x="85217" y="464659"/>
                    </a:lnTo>
                    <a:close/>
                    <a:moveTo>
                      <a:pt x="82804" y="406366"/>
                    </a:moveTo>
                    <a:cubicBezTo>
                      <a:pt x="78613" y="413351"/>
                      <a:pt x="80899" y="422495"/>
                      <a:pt x="88011" y="426686"/>
                    </a:cubicBezTo>
                    <a:cubicBezTo>
                      <a:pt x="95123" y="430877"/>
                      <a:pt x="104140" y="428591"/>
                      <a:pt x="108331" y="421479"/>
                    </a:cubicBezTo>
                    <a:lnTo>
                      <a:pt x="95631" y="413859"/>
                    </a:lnTo>
                    <a:lnTo>
                      <a:pt x="82931" y="406239"/>
                    </a:lnTo>
                    <a:close/>
                    <a:moveTo>
                      <a:pt x="175896" y="330673"/>
                    </a:moveTo>
                    <a:cubicBezTo>
                      <a:pt x="181357" y="324577"/>
                      <a:pt x="180976" y="315306"/>
                      <a:pt x="174880" y="309718"/>
                    </a:cubicBezTo>
                    <a:cubicBezTo>
                      <a:pt x="168784" y="304130"/>
                      <a:pt x="159513" y="304638"/>
                      <a:pt x="153925" y="310734"/>
                    </a:cubicBezTo>
                    <a:lnTo>
                      <a:pt x="164847" y="320767"/>
                    </a:lnTo>
                    <a:lnTo>
                      <a:pt x="175769" y="330800"/>
                    </a:lnTo>
                    <a:close/>
                    <a:moveTo>
                      <a:pt x="189993" y="274285"/>
                    </a:moveTo>
                    <a:cubicBezTo>
                      <a:pt x="184024" y="279873"/>
                      <a:pt x="183643" y="289271"/>
                      <a:pt x="189231" y="295240"/>
                    </a:cubicBezTo>
                    <a:cubicBezTo>
                      <a:pt x="194819" y="301209"/>
                      <a:pt x="204217" y="301590"/>
                      <a:pt x="210186" y="296002"/>
                    </a:cubicBezTo>
                    <a:lnTo>
                      <a:pt x="200026" y="285207"/>
                    </a:lnTo>
                    <a:lnTo>
                      <a:pt x="189866" y="274412"/>
                    </a:lnTo>
                    <a:close/>
                    <a:moveTo>
                      <a:pt x="299340" y="225517"/>
                    </a:moveTo>
                    <a:cubicBezTo>
                      <a:pt x="306071" y="220945"/>
                      <a:pt x="307976" y="211801"/>
                      <a:pt x="303404" y="204943"/>
                    </a:cubicBezTo>
                    <a:cubicBezTo>
                      <a:pt x="298832" y="198085"/>
                      <a:pt x="289688" y="196307"/>
                      <a:pt x="282830" y="200879"/>
                    </a:cubicBezTo>
                    <a:lnTo>
                      <a:pt x="291085" y="213198"/>
                    </a:lnTo>
                    <a:lnTo>
                      <a:pt x="299340" y="225517"/>
                    </a:lnTo>
                    <a:close/>
                    <a:moveTo>
                      <a:pt x="326137" y="173701"/>
                    </a:moveTo>
                    <a:cubicBezTo>
                      <a:pt x="319152" y="177892"/>
                      <a:pt x="316739" y="186909"/>
                      <a:pt x="320930" y="194021"/>
                    </a:cubicBezTo>
                    <a:cubicBezTo>
                      <a:pt x="325121" y="201133"/>
                      <a:pt x="334138" y="203419"/>
                      <a:pt x="341250" y="199228"/>
                    </a:cubicBezTo>
                    <a:lnTo>
                      <a:pt x="333757" y="186528"/>
                    </a:lnTo>
                    <a:lnTo>
                      <a:pt x="326264" y="173828"/>
                    </a:lnTo>
                    <a:close/>
                    <a:moveTo>
                      <a:pt x="443104" y="147158"/>
                    </a:moveTo>
                    <a:cubicBezTo>
                      <a:pt x="450597" y="143856"/>
                      <a:pt x="453899" y="135093"/>
                      <a:pt x="450597" y="127600"/>
                    </a:cubicBezTo>
                    <a:cubicBezTo>
                      <a:pt x="447295" y="120107"/>
                      <a:pt x="438532" y="116805"/>
                      <a:pt x="431039" y="120107"/>
                    </a:cubicBezTo>
                    <a:lnTo>
                      <a:pt x="437008" y="133696"/>
                    </a:lnTo>
                    <a:lnTo>
                      <a:pt x="442977" y="147285"/>
                    </a:lnTo>
                    <a:close/>
                    <a:moveTo>
                      <a:pt x="477775" y="100549"/>
                    </a:moveTo>
                    <a:cubicBezTo>
                      <a:pt x="470155" y="103597"/>
                      <a:pt x="466472" y="112233"/>
                      <a:pt x="469520" y="119726"/>
                    </a:cubicBezTo>
                    <a:cubicBezTo>
                      <a:pt x="472568" y="127219"/>
                      <a:pt x="481204" y="131029"/>
                      <a:pt x="488697" y="127981"/>
                    </a:cubicBezTo>
                    <a:lnTo>
                      <a:pt x="483236" y="114265"/>
                    </a:lnTo>
                    <a:lnTo>
                      <a:pt x="477775" y="100549"/>
                    </a:lnTo>
                    <a:close/>
                    <a:moveTo>
                      <a:pt x="597409" y="90135"/>
                    </a:moveTo>
                    <a:cubicBezTo>
                      <a:pt x="605283" y="87722"/>
                      <a:pt x="609601" y="79467"/>
                      <a:pt x="607188" y="71593"/>
                    </a:cubicBezTo>
                    <a:cubicBezTo>
                      <a:pt x="604775" y="63718"/>
                      <a:pt x="596520" y="59400"/>
                      <a:pt x="588646" y="61813"/>
                    </a:cubicBezTo>
                    <a:lnTo>
                      <a:pt x="592964" y="76038"/>
                    </a:lnTo>
                    <a:lnTo>
                      <a:pt x="597282" y="90262"/>
                    </a:lnTo>
                    <a:close/>
                    <a:moveTo>
                      <a:pt x="637287" y="47843"/>
                    </a:moveTo>
                    <a:cubicBezTo>
                      <a:pt x="629413" y="50002"/>
                      <a:pt x="624714" y="58130"/>
                      <a:pt x="626873" y="66004"/>
                    </a:cubicBezTo>
                    <a:cubicBezTo>
                      <a:pt x="629032" y="73879"/>
                      <a:pt x="637160" y="78578"/>
                      <a:pt x="645034" y="76419"/>
                    </a:cubicBezTo>
                    <a:lnTo>
                      <a:pt x="641605" y="61813"/>
                    </a:lnTo>
                    <a:lnTo>
                      <a:pt x="637668" y="47462"/>
                    </a:lnTo>
                    <a:close/>
                    <a:moveTo>
                      <a:pt x="757557" y="49113"/>
                    </a:moveTo>
                    <a:cubicBezTo>
                      <a:pt x="765558" y="47462"/>
                      <a:pt x="770638" y="39588"/>
                      <a:pt x="768987" y="31587"/>
                    </a:cubicBezTo>
                    <a:cubicBezTo>
                      <a:pt x="767336" y="23586"/>
                      <a:pt x="759462" y="18506"/>
                      <a:pt x="751461" y="20157"/>
                    </a:cubicBezTo>
                    <a:lnTo>
                      <a:pt x="754509" y="34635"/>
                    </a:lnTo>
                    <a:lnTo>
                      <a:pt x="757557" y="49113"/>
                    </a:lnTo>
                    <a:close/>
                    <a:moveTo>
                      <a:pt x="801118" y="10251"/>
                    </a:moveTo>
                    <a:cubicBezTo>
                      <a:pt x="793117" y="11775"/>
                      <a:pt x="787783" y="19522"/>
                      <a:pt x="789307" y="27523"/>
                    </a:cubicBezTo>
                    <a:cubicBezTo>
                      <a:pt x="790831" y="35524"/>
                      <a:pt x="798578" y="40858"/>
                      <a:pt x="806579" y="39334"/>
                    </a:cubicBezTo>
                    <a:lnTo>
                      <a:pt x="803785" y="24729"/>
                    </a:lnTo>
                    <a:lnTo>
                      <a:pt x="800991" y="10124"/>
                    </a:lnTo>
                    <a:close/>
                    <a:moveTo>
                      <a:pt x="22606" y="840834"/>
                    </a:moveTo>
                    <a:lnTo>
                      <a:pt x="37338" y="838929"/>
                    </a:lnTo>
                    <a:cubicBezTo>
                      <a:pt x="34798" y="819625"/>
                      <a:pt x="32893" y="800575"/>
                      <a:pt x="31623" y="781906"/>
                    </a:cubicBezTo>
                    <a:lnTo>
                      <a:pt x="16891" y="782922"/>
                    </a:lnTo>
                    <a:lnTo>
                      <a:pt x="2159" y="783938"/>
                    </a:lnTo>
                    <a:cubicBezTo>
                      <a:pt x="3429" y="803242"/>
                      <a:pt x="5461" y="822927"/>
                      <a:pt x="8128" y="842866"/>
                    </a:cubicBezTo>
                    <a:lnTo>
                      <a:pt x="22860" y="840961"/>
                    </a:lnTo>
                    <a:close/>
                    <a:moveTo>
                      <a:pt x="15113" y="732757"/>
                    </a:moveTo>
                    <a:lnTo>
                      <a:pt x="29972" y="732630"/>
                    </a:lnTo>
                    <a:cubicBezTo>
                      <a:pt x="29718" y="693260"/>
                      <a:pt x="32385" y="655414"/>
                      <a:pt x="38227" y="619346"/>
                    </a:cubicBezTo>
                    <a:lnTo>
                      <a:pt x="23622" y="617060"/>
                    </a:lnTo>
                    <a:lnTo>
                      <a:pt x="9017" y="614774"/>
                    </a:lnTo>
                    <a:cubicBezTo>
                      <a:pt x="3048" y="652620"/>
                      <a:pt x="127" y="691990"/>
                      <a:pt x="508" y="733011"/>
                    </a:cubicBezTo>
                    <a:lnTo>
                      <a:pt x="15367" y="732884"/>
                    </a:lnTo>
                    <a:close/>
                    <a:moveTo>
                      <a:pt x="33655" y="567910"/>
                    </a:moveTo>
                    <a:lnTo>
                      <a:pt x="48006" y="571466"/>
                    </a:lnTo>
                    <a:cubicBezTo>
                      <a:pt x="57150" y="534128"/>
                      <a:pt x="69723" y="498695"/>
                      <a:pt x="85725" y="464913"/>
                    </a:cubicBezTo>
                    <a:lnTo>
                      <a:pt x="72390" y="458563"/>
                    </a:lnTo>
                    <a:lnTo>
                      <a:pt x="59055" y="452213"/>
                    </a:lnTo>
                    <a:cubicBezTo>
                      <a:pt x="42037" y="487773"/>
                      <a:pt x="28829" y="525238"/>
                      <a:pt x="19304" y="564481"/>
                    </a:cubicBezTo>
                    <a:lnTo>
                      <a:pt x="33655" y="568037"/>
                    </a:lnTo>
                    <a:close/>
                    <a:moveTo>
                      <a:pt x="96139" y="414367"/>
                    </a:moveTo>
                    <a:lnTo>
                      <a:pt x="108839" y="421987"/>
                    </a:lnTo>
                    <a:cubicBezTo>
                      <a:pt x="127890" y="389983"/>
                      <a:pt x="150369" y="359757"/>
                      <a:pt x="176404" y="331308"/>
                    </a:cubicBezTo>
                    <a:lnTo>
                      <a:pt x="165482" y="321275"/>
                    </a:lnTo>
                    <a:lnTo>
                      <a:pt x="154560" y="311242"/>
                    </a:lnTo>
                    <a:cubicBezTo>
                      <a:pt x="127255" y="341215"/>
                      <a:pt x="103505" y="372965"/>
                      <a:pt x="83439" y="406747"/>
                    </a:cubicBezTo>
                    <a:lnTo>
                      <a:pt x="96139" y="414367"/>
                    </a:lnTo>
                    <a:close/>
                    <a:moveTo>
                      <a:pt x="200788" y="285588"/>
                    </a:moveTo>
                    <a:lnTo>
                      <a:pt x="210948" y="296383"/>
                    </a:lnTo>
                    <a:cubicBezTo>
                      <a:pt x="237618" y="271364"/>
                      <a:pt x="267463" y="247869"/>
                      <a:pt x="300229" y="225898"/>
                    </a:cubicBezTo>
                    <a:lnTo>
                      <a:pt x="291974" y="213579"/>
                    </a:lnTo>
                    <a:lnTo>
                      <a:pt x="283719" y="201260"/>
                    </a:lnTo>
                    <a:cubicBezTo>
                      <a:pt x="249683" y="224120"/>
                      <a:pt x="218695" y="248631"/>
                      <a:pt x="190755" y="274666"/>
                    </a:cubicBezTo>
                    <a:lnTo>
                      <a:pt x="200915" y="285461"/>
                    </a:lnTo>
                    <a:close/>
                    <a:moveTo>
                      <a:pt x="334519" y="186655"/>
                    </a:moveTo>
                    <a:lnTo>
                      <a:pt x="342012" y="199355"/>
                    </a:lnTo>
                    <a:cubicBezTo>
                      <a:pt x="373508" y="180813"/>
                      <a:pt x="407417" y="163414"/>
                      <a:pt x="443866" y="147158"/>
                    </a:cubicBezTo>
                    <a:lnTo>
                      <a:pt x="437897" y="133569"/>
                    </a:lnTo>
                    <a:lnTo>
                      <a:pt x="431928" y="119980"/>
                    </a:lnTo>
                    <a:cubicBezTo>
                      <a:pt x="394590" y="136617"/>
                      <a:pt x="359665" y="154524"/>
                      <a:pt x="327026" y="173701"/>
                    </a:cubicBezTo>
                    <a:lnTo>
                      <a:pt x="334519" y="186401"/>
                    </a:lnTo>
                    <a:close/>
                    <a:moveTo>
                      <a:pt x="484125" y="114011"/>
                    </a:moveTo>
                    <a:lnTo>
                      <a:pt x="489586" y="127727"/>
                    </a:lnTo>
                    <a:cubicBezTo>
                      <a:pt x="523876" y="114138"/>
                      <a:pt x="560071" y="101438"/>
                      <a:pt x="598298" y="89754"/>
                    </a:cubicBezTo>
                    <a:lnTo>
                      <a:pt x="593980" y="75529"/>
                    </a:lnTo>
                    <a:lnTo>
                      <a:pt x="589662" y="61305"/>
                    </a:lnTo>
                    <a:cubicBezTo>
                      <a:pt x="550800" y="73244"/>
                      <a:pt x="513716" y="86071"/>
                      <a:pt x="478664" y="100041"/>
                    </a:cubicBezTo>
                    <a:lnTo>
                      <a:pt x="484125" y="113757"/>
                    </a:lnTo>
                    <a:close/>
                    <a:moveTo>
                      <a:pt x="641605" y="61813"/>
                    </a:moveTo>
                    <a:lnTo>
                      <a:pt x="645542" y="76165"/>
                    </a:lnTo>
                    <a:cubicBezTo>
                      <a:pt x="681356" y="66386"/>
                      <a:pt x="718695" y="57368"/>
                      <a:pt x="757684" y="49113"/>
                    </a:cubicBezTo>
                    <a:lnTo>
                      <a:pt x="754636" y="34635"/>
                    </a:lnTo>
                    <a:lnTo>
                      <a:pt x="751588" y="20157"/>
                    </a:lnTo>
                    <a:cubicBezTo>
                      <a:pt x="712090" y="28539"/>
                      <a:pt x="674117" y="37556"/>
                      <a:pt x="637795" y="47589"/>
                    </a:cubicBezTo>
                    <a:lnTo>
                      <a:pt x="641732" y="61940"/>
                    </a:lnTo>
                    <a:close/>
                    <a:moveTo>
                      <a:pt x="803912" y="24856"/>
                    </a:moveTo>
                    <a:lnTo>
                      <a:pt x="806706" y="39334"/>
                    </a:lnTo>
                    <a:cubicBezTo>
                      <a:pt x="825375" y="35778"/>
                      <a:pt x="844298" y="32476"/>
                      <a:pt x="863602" y="29301"/>
                    </a:cubicBezTo>
                    <a:lnTo>
                      <a:pt x="861189" y="14696"/>
                    </a:lnTo>
                    <a:lnTo>
                      <a:pt x="858776" y="91"/>
                    </a:lnTo>
                    <a:cubicBezTo>
                      <a:pt x="839218" y="3266"/>
                      <a:pt x="820041" y="6695"/>
                      <a:pt x="801245" y="10251"/>
                    </a:cubicBezTo>
                    <a:lnTo>
                      <a:pt x="804039" y="2485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DE"/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63570" y="724046"/>
                <a:ext cx="226737" cy="208138"/>
              </a:xfrm>
              <a:custGeom>
                <a:avLst/>
                <a:gdLst/>
                <a:ahLst/>
                <a:cxnLst/>
                <a:rect l="l" t="t" r="r" b="b"/>
                <a:pathLst>
                  <a:path w="226737" h="208138">
                    <a:moveTo>
                      <a:pt x="225355" y="21066"/>
                    </a:moveTo>
                    <a:cubicBezTo>
                      <a:pt x="228784" y="13700"/>
                      <a:pt x="225609" y="4810"/>
                      <a:pt x="218243" y="1381"/>
                    </a:cubicBezTo>
                    <a:cubicBezTo>
                      <a:pt x="210877" y="-2048"/>
                      <a:pt x="201987" y="1127"/>
                      <a:pt x="198558" y="8493"/>
                    </a:cubicBezTo>
                    <a:lnTo>
                      <a:pt x="212020" y="14843"/>
                    </a:lnTo>
                    <a:lnTo>
                      <a:pt x="225482" y="21193"/>
                    </a:lnTo>
                    <a:close/>
                    <a:moveTo>
                      <a:pt x="134042" y="180324"/>
                    </a:moveTo>
                    <a:lnTo>
                      <a:pt x="122485" y="189596"/>
                    </a:lnTo>
                    <a:lnTo>
                      <a:pt x="137344" y="208138"/>
                    </a:lnTo>
                    <a:lnTo>
                      <a:pt x="147504" y="186674"/>
                    </a:lnTo>
                    <a:lnTo>
                      <a:pt x="134042" y="180324"/>
                    </a:lnTo>
                    <a:close/>
                    <a:moveTo>
                      <a:pt x="26346" y="22082"/>
                    </a:moveTo>
                    <a:cubicBezTo>
                      <a:pt x="21266" y="15732"/>
                      <a:pt x="11868" y="14716"/>
                      <a:pt x="5518" y="19796"/>
                    </a:cubicBezTo>
                    <a:cubicBezTo>
                      <a:pt x="-832" y="24876"/>
                      <a:pt x="-1848" y="34274"/>
                      <a:pt x="3232" y="40624"/>
                    </a:cubicBezTo>
                    <a:lnTo>
                      <a:pt x="14789" y="31353"/>
                    </a:lnTo>
                    <a:lnTo>
                      <a:pt x="26346" y="22082"/>
                    </a:lnTo>
                    <a:close/>
                    <a:moveTo>
                      <a:pt x="44888" y="92567"/>
                    </a:moveTo>
                    <a:cubicBezTo>
                      <a:pt x="49968" y="98917"/>
                      <a:pt x="59366" y="99933"/>
                      <a:pt x="65716" y="94853"/>
                    </a:cubicBezTo>
                    <a:cubicBezTo>
                      <a:pt x="72066" y="89773"/>
                      <a:pt x="73082" y="80375"/>
                      <a:pt x="68002" y="74025"/>
                    </a:cubicBezTo>
                    <a:lnTo>
                      <a:pt x="56445" y="83296"/>
                    </a:lnTo>
                    <a:lnTo>
                      <a:pt x="44888" y="92567"/>
                    </a:lnTo>
                    <a:close/>
                    <a:moveTo>
                      <a:pt x="104070" y="119110"/>
                    </a:moveTo>
                    <a:cubicBezTo>
                      <a:pt x="98990" y="112760"/>
                      <a:pt x="89592" y="111744"/>
                      <a:pt x="83242" y="116824"/>
                    </a:cubicBezTo>
                    <a:cubicBezTo>
                      <a:pt x="76892" y="121904"/>
                      <a:pt x="75876" y="131302"/>
                      <a:pt x="80956" y="137652"/>
                    </a:cubicBezTo>
                    <a:lnTo>
                      <a:pt x="92513" y="128381"/>
                    </a:lnTo>
                    <a:lnTo>
                      <a:pt x="104070" y="119110"/>
                    </a:lnTo>
                    <a:close/>
                    <a:moveTo>
                      <a:pt x="174682" y="128889"/>
                    </a:moveTo>
                    <a:cubicBezTo>
                      <a:pt x="178111" y="121523"/>
                      <a:pt x="174936" y="112633"/>
                      <a:pt x="167570" y="109204"/>
                    </a:cubicBezTo>
                    <a:cubicBezTo>
                      <a:pt x="160204" y="105775"/>
                      <a:pt x="151314" y="108950"/>
                      <a:pt x="147885" y="116316"/>
                    </a:cubicBezTo>
                    <a:lnTo>
                      <a:pt x="161347" y="122666"/>
                    </a:lnTo>
                    <a:lnTo>
                      <a:pt x="174809" y="129016"/>
                    </a:lnTo>
                    <a:close/>
                    <a:moveTo>
                      <a:pt x="171507" y="66405"/>
                    </a:moveTo>
                    <a:cubicBezTo>
                      <a:pt x="168078" y="73771"/>
                      <a:pt x="171253" y="82661"/>
                      <a:pt x="178619" y="86090"/>
                    </a:cubicBezTo>
                    <a:cubicBezTo>
                      <a:pt x="185985" y="89519"/>
                      <a:pt x="194875" y="86344"/>
                      <a:pt x="198304" y="78978"/>
                    </a:cubicBezTo>
                    <a:lnTo>
                      <a:pt x="184842" y="72628"/>
                    </a:lnTo>
                    <a:lnTo>
                      <a:pt x="171380" y="66278"/>
                    </a:lnTo>
                    <a:close/>
                    <a:moveTo>
                      <a:pt x="14789" y="31226"/>
                    </a:moveTo>
                    <a:lnTo>
                      <a:pt x="3232" y="40497"/>
                    </a:lnTo>
                    <a:lnTo>
                      <a:pt x="44888" y="92567"/>
                    </a:lnTo>
                    <a:lnTo>
                      <a:pt x="56445" y="83296"/>
                    </a:lnTo>
                    <a:lnTo>
                      <a:pt x="68002" y="74025"/>
                    </a:lnTo>
                    <a:lnTo>
                      <a:pt x="26346" y="21955"/>
                    </a:lnTo>
                    <a:lnTo>
                      <a:pt x="14789" y="31226"/>
                    </a:lnTo>
                    <a:close/>
                    <a:moveTo>
                      <a:pt x="92513" y="128254"/>
                    </a:moveTo>
                    <a:lnTo>
                      <a:pt x="80956" y="137525"/>
                    </a:lnTo>
                    <a:lnTo>
                      <a:pt x="122612" y="189596"/>
                    </a:lnTo>
                    <a:lnTo>
                      <a:pt x="134169" y="180324"/>
                    </a:lnTo>
                    <a:lnTo>
                      <a:pt x="145726" y="171053"/>
                    </a:lnTo>
                    <a:lnTo>
                      <a:pt x="104070" y="118983"/>
                    </a:lnTo>
                    <a:lnTo>
                      <a:pt x="92513" y="128254"/>
                    </a:lnTo>
                    <a:close/>
                    <a:moveTo>
                      <a:pt x="134169" y="180324"/>
                    </a:moveTo>
                    <a:lnTo>
                      <a:pt x="147631" y="186674"/>
                    </a:lnTo>
                    <a:lnTo>
                      <a:pt x="174809" y="128889"/>
                    </a:lnTo>
                    <a:lnTo>
                      <a:pt x="161347" y="122539"/>
                    </a:lnTo>
                    <a:lnTo>
                      <a:pt x="147885" y="116189"/>
                    </a:lnTo>
                    <a:lnTo>
                      <a:pt x="120707" y="173974"/>
                    </a:lnTo>
                    <a:lnTo>
                      <a:pt x="134169" y="180324"/>
                    </a:lnTo>
                    <a:close/>
                    <a:moveTo>
                      <a:pt x="184842" y="72501"/>
                    </a:moveTo>
                    <a:lnTo>
                      <a:pt x="198304" y="78851"/>
                    </a:lnTo>
                    <a:lnTo>
                      <a:pt x="225482" y="21066"/>
                    </a:lnTo>
                    <a:lnTo>
                      <a:pt x="212020" y="14716"/>
                    </a:lnTo>
                    <a:lnTo>
                      <a:pt x="198558" y="8366"/>
                    </a:lnTo>
                    <a:lnTo>
                      <a:pt x="171380" y="66151"/>
                    </a:lnTo>
                    <a:lnTo>
                      <a:pt x="184842" y="7250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DE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0952508" y="4865026"/>
              <a:ext cx="310854" cy="171706"/>
              <a:chOff x="0" y="0"/>
              <a:chExt cx="411417" cy="227254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3499" y="96648"/>
                <a:ext cx="257046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257046" h="33909">
                    <a:moveTo>
                      <a:pt x="16891" y="0"/>
                    </a:moveTo>
                    <a:lnTo>
                      <a:pt x="0" y="7620"/>
                    </a:lnTo>
                    <a:cubicBezTo>
                      <a:pt x="0" y="26289"/>
                      <a:pt x="7620" y="33909"/>
                      <a:pt x="16891" y="33909"/>
                    </a:cubicBezTo>
                    <a:lnTo>
                      <a:pt x="16891" y="0"/>
                    </a:lnTo>
                    <a:close/>
                    <a:moveTo>
                      <a:pt x="240156" y="33909"/>
                    </a:moveTo>
                    <a:lnTo>
                      <a:pt x="257046" y="26289"/>
                    </a:lnTo>
                    <a:cubicBezTo>
                      <a:pt x="257046" y="7620"/>
                      <a:pt x="249426" y="0"/>
                      <a:pt x="240156" y="0"/>
                    </a:cubicBezTo>
                    <a:lnTo>
                      <a:pt x="240156" y="33909"/>
                    </a:lnTo>
                    <a:close/>
                    <a:moveTo>
                      <a:pt x="16891" y="17018"/>
                    </a:moveTo>
                    <a:lnTo>
                      <a:pt x="16891" y="33909"/>
                    </a:lnTo>
                    <a:lnTo>
                      <a:pt x="42037" y="33909"/>
                    </a:lnTo>
                    <a:cubicBezTo>
                      <a:pt x="42418" y="33909"/>
                      <a:pt x="42545" y="33909"/>
                      <a:pt x="42672" y="33909"/>
                    </a:cubicBezTo>
                    <a:lnTo>
                      <a:pt x="67818" y="33909"/>
                    </a:lnTo>
                    <a:cubicBezTo>
                      <a:pt x="68199" y="33909"/>
                      <a:pt x="68326" y="33909"/>
                      <a:pt x="68453" y="33909"/>
                    </a:cubicBezTo>
                    <a:lnTo>
                      <a:pt x="93218" y="33909"/>
                    </a:lnTo>
                    <a:cubicBezTo>
                      <a:pt x="93472" y="33909"/>
                      <a:pt x="93726" y="33909"/>
                      <a:pt x="93853" y="33909"/>
                    </a:cubicBezTo>
                    <a:lnTo>
                      <a:pt x="118999" y="33909"/>
                    </a:lnTo>
                    <a:cubicBezTo>
                      <a:pt x="119253" y="33909"/>
                      <a:pt x="119507" y="33909"/>
                      <a:pt x="119634" y="33909"/>
                    </a:cubicBezTo>
                    <a:lnTo>
                      <a:pt x="144779" y="33909"/>
                    </a:lnTo>
                    <a:cubicBezTo>
                      <a:pt x="145033" y="33909"/>
                      <a:pt x="145160" y="33909"/>
                      <a:pt x="145414" y="33909"/>
                    </a:cubicBezTo>
                    <a:lnTo>
                      <a:pt x="170560" y="33909"/>
                    </a:lnTo>
                    <a:cubicBezTo>
                      <a:pt x="170814" y="33909"/>
                      <a:pt x="170941" y="33909"/>
                      <a:pt x="171068" y="33909"/>
                    </a:cubicBezTo>
                    <a:lnTo>
                      <a:pt x="196087" y="33909"/>
                    </a:lnTo>
                    <a:cubicBezTo>
                      <a:pt x="196341" y="33909"/>
                      <a:pt x="196468" y="33909"/>
                      <a:pt x="196595" y="33909"/>
                    </a:cubicBezTo>
                    <a:lnTo>
                      <a:pt x="221741" y="33909"/>
                    </a:lnTo>
                    <a:cubicBezTo>
                      <a:pt x="221995" y="33909"/>
                      <a:pt x="222122" y="33909"/>
                      <a:pt x="222249" y="33909"/>
                    </a:cubicBezTo>
                    <a:lnTo>
                      <a:pt x="240029" y="33909"/>
                    </a:lnTo>
                    <a:lnTo>
                      <a:pt x="240156" y="17018"/>
                    </a:lnTo>
                    <a:lnTo>
                      <a:pt x="240156" y="0"/>
                    </a:lnTo>
                    <a:lnTo>
                      <a:pt x="215010" y="0"/>
                    </a:lnTo>
                    <a:cubicBezTo>
                      <a:pt x="214756" y="0"/>
                      <a:pt x="214629" y="0"/>
                      <a:pt x="214502" y="0"/>
                    </a:cubicBezTo>
                    <a:lnTo>
                      <a:pt x="189356" y="0"/>
                    </a:lnTo>
                    <a:cubicBezTo>
                      <a:pt x="189102" y="0"/>
                      <a:pt x="188975" y="0"/>
                      <a:pt x="188848" y="0"/>
                    </a:cubicBezTo>
                    <a:lnTo>
                      <a:pt x="163702" y="0"/>
                    </a:lnTo>
                    <a:cubicBezTo>
                      <a:pt x="163448" y="0"/>
                      <a:pt x="163321" y="0"/>
                      <a:pt x="163194" y="0"/>
                    </a:cubicBezTo>
                    <a:lnTo>
                      <a:pt x="138175" y="0"/>
                    </a:lnTo>
                    <a:cubicBezTo>
                      <a:pt x="137921" y="0"/>
                      <a:pt x="137794" y="0"/>
                      <a:pt x="137540" y="0"/>
                    </a:cubicBezTo>
                    <a:lnTo>
                      <a:pt x="112649" y="0"/>
                    </a:lnTo>
                    <a:cubicBezTo>
                      <a:pt x="112395" y="0"/>
                      <a:pt x="112141" y="0"/>
                      <a:pt x="112014" y="0"/>
                    </a:cubicBezTo>
                    <a:lnTo>
                      <a:pt x="86995" y="0"/>
                    </a:lnTo>
                    <a:cubicBezTo>
                      <a:pt x="86741" y="0"/>
                      <a:pt x="86487" y="0"/>
                      <a:pt x="86360" y="0"/>
                    </a:cubicBezTo>
                    <a:lnTo>
                      <a:pt x="61341" y="0"/>
                    </a:lnTo>
                    <a:cubicBezTo>
                      <a:pt x="60960" y="0"/>
                      <a:pt x="60833" y="0"/>
                      <a:pt x="60706" y="0"/>
                    </a:cubicBezTo>
                    <a:lnTo>
                      <a:pt x="35687" y="0"/>
                    </a:lnTo>
                    <a:cubicBezTo>
                      <a:pt x="35306" y="0"/>
                      <a:pt x="35179" y="0"/>
                      <a:pt x="35052" y="0"/>
                    </a:cubicBezTo>
                    <a:lnTo>
                      <a:pt x="17145" y="0"/>
                    </a:lnTo>
                    <a:lnTo>
                      <a:pt x="16891" y="1701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DE"/>
              </a:p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206611" y="63484"/>
                <a:ext cx="141366" cy="100109"/>
              </a:xfrm>
              <a:custGeom>
                <a:avLst/>
                <a:gdLst/>
                <a:ahLst/>
                <a:cxnLst/>
                <a:rect l="l" t="t" r="r" b="b"/>
                <a:pathLst>
                  <a:path w="141366" h="100109">
                    <a:moveTo>
                      <a:pt x="23384" y="1287"/>
                    </a:moveTo>
                    <a:cubicBezTo>
                      <a:pt x="14748" y="-2270"/>
                      <a:pt x="4842" y="1795"/>
                      <a:pt x="1286" y="10431"/>
                    </a:cubicBezTo>
                    <a:cubicBezTo>
                      <a:pt x="-2270" y="19067"/>
                      <a:pt x="1794" y="28973"/>
                      <a:pt x="10430" y="32529"/>
                    </a:cubicBezTo>
                    <a:lnTo>
                      <a:pt x="16907" y="16908"/>
                    </a:lnTo>
                    <a:lnTo>
                      <a:pt x="23384" y="1287"/>
                    </a:lnTo>
                    <a:close/>
                    <a:moveTo>
                      <a:pt x="97044" y="50182"/>
                    </a:moveTo>
                    <a:lnTo>
                      <a:pt x="103520" y="65803"/>
                    </a:lnTo>
                    <a:lnTo>
                      <a:pt x="141366" y="50182"/>
                    </a:lnTo>
                    <a:lnTo>
                      <a:pt x="103520" y="34434"/>
                    </a:lnTo>
                    <a:lnTo>
                      <a:pt x="97044" y="50055"/>
                    </a:lnTo>
                    <a:close/>
                    <a:moveTo>
                      <a:pt x="10430" y="67581"/>
                    </a:moveTo>
                    <a:cubicBezTo>
                      <a:pt x="1794" y="71137"/>
                      <a:pt x="-2270" y="81043"/>
                      <a:pt x="1286" y="89679"/>
                    </a:cubicBezTo>
                    <a:cubicBezTo>
                      <a:pt x="4842" y="98315"/>
                      <a:pt x="14748" y="102379"/>
                      <a:pt x="23384" y="98823"/>
                    </a:cubicBezTo>
                    <a:lnTo>
                      <a:pt x="16907" y="83202"/>
                    </a:lnTo>
                    <a:lnTo>
                      <a:pt x="10430" y="67581"/>
                    </a:lnTo>
                    <a:close/>
                    <a:moveTo>
                      <a:pt x="16907" y="16908"/>
                    </a:moveTo>
                    <a:lnTo>
                      <a:pt x="10430" y="32529"/>
                    </a:lnTo>
                    <a:lnTo>
                      <a:pt x="90567" y="65676"/>
                    </a:lnTo>
                    <a:lnTo>
                      <a:pt x="97044" y="50055"/>
                    </a:lnTo>
                    <a:lnTo>
                      <a:pt x="103520" y="34434"/>
                    </a:lnTo>
                    <a:lnTo>
                      <a:pt x="23384" y="1287"/>
                    </a:lnTo>
                    <a:lnTo>
                      <a:pt x="16907" y="16908"/>
                    </a:lnTo>
                    <a:close/>
                    <a:moveTo>
                      <a:pt x="97044" y="50055"/>
                    </a:moveTo>
                    <a:lnTo>
                      <a:pt x="90567" y="34434"/>
                    </a:lnTo>
                    <a:lnTo>
                      <a:pt x="10430" y="67581"/>
                    </a:lnTo>
                    <a:lnTo>
                      <a:pt x="16907" y="83202"/>
                    </a:lnTo>
                    <a:lnTo>
                      <a:pt x="23384" y="98823"/>
                    </a:lnTo>
                    <a:lnTo>
                      <a:pt x="103520" y="65676"/>
                    </a:lnTo>
                    <a:lnTo>
                      <a:pt x="97044" y="5005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DE"/>
              </a:p>
            </p:txBody>
          </p:sp>
        </p:grpSp>
        <p:sp>
          <p:nvSpPr>
            <p:cNvPr id="32" name="Freeform 32"/>
            <p:cNvSpPr/>
            <p:nvPr/>
          </p:nvSpPr>
          <p:spPr>
            <a:xfrm>
              <a:off x="11853577" y="3844691"/>
              <a:ext cx="1651841" cy="149588"/>
            </a:xfrm>
            <a:custGeom>
              <a:avLst/>
              <a:gdLst/>
              <a:ahLst/>
              <a:cxnLst/>
              <a:rect l="l" t="t" r="r" b="b"/>
              <a:pathLst>
                <a:path w="1651841" h="149588">
                  <a:moveTo>
                    <a:pt x="0" y="0"/>
                  </a:moveTo>
                  <a:lnTo>
                    <a:pt x="1651841" y="0"/>
                  </a:lnTo>
                  <a:lnTo>
                    <a:pt x="1651841" y="149588"/>
                  </a:lnTo>
                  <a:lnTo>
                    <a:pt x="0" y="14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DE"/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12061853" y="5934338"/>
              <a:ext cx="1229897" cy="143936"/>
              <a:chOff x="0" y="0"/>
              <a:chExt cx="1627772" cy="1905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10795" y="0"/>
                <a:ext cx="161683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16835" h="190500">
                    <a:moveTo>
                      <a:pt x="30734" y="2540"/>
                    </a:moveTo>
                    <a:lnTo>
                      <a:pt x="57404" y="2540"/>
                    </a:lnTo>
                    <a:lnTo>
                      <a:pt x="94869" y="155829"/>
                    </a:lnTo>
                    <a:lnTo>
                      <a:pt x="97028" y="155829"/>
                    </a:lnTo>
                    <a:lnTo>
                      <a:pt x="185166" y="2540"/>
                    </a:lnTo>
                    <a:lnTo>
                      <a:pt x="211836" y="2540"/>
                    </a:lnTo>
                    <a:lnTo>
                      <a:pt x="181102" y="187198"/>
                    </a:lnTo>
                    <a:lnTo>
                      <a:pt x="160274" y="187198"/>
                    </a:lnTo>
                    <a:lnTo>
                      <a:pt x="183642" y="46863"/>
                    </a:lnTo>
                    <a:lnTo>
                      <a:pt x="181864" y="46863"/>
                    </a:lnTo>
                    <a:lnTo>
                      <a:pt x="100711" y="187198"/>
                    </a:lnTo>
                    <a:lnTo>
                      <a:pt x="80518" y="187198"/>
                    </a:lnTo>
                    <a:lnTo>
                      <a:pt x="46228" y="46863"/>
                    </a:lnTo>
                    <a:lnTo>
                      <a:pt x="44450" y="46863"/>
                    </a:lnTo>
                    <a:lnTo>
                      <a:pt x="20955" y="187198"/>
                    </a:lnTo>
                    <a:lnTo>
                      <a:pt x="0" y="187198"/>
                    </a:lnTo>
                    <a:lnTo>
                      <a:pt x="30734" y="2540"/>
                    </a:lnTo>
                    <a:close/>
                    <a:moveTo>
                      <a:pt x="263525" y="190500"/>
                    </a:moveTo>
                    <a:cubicBezTo>
                      <a:pt x="254762" y="190500"/>
                      <a:pt x="247015" y="188849"/>
                      <a:pt x="240411" y="185547"/>
                    </a:cubicBezTo>
                    <a:cubicBezTo>
                      <a:pt x="233807" y="182245"/>
                      <a:pt x="228854" y="177292"/>
                      <a:pt x="225679" y="171069"/>
                    </a:cubicBezTo>
                    <a:cubicBezTo>
                      <a:pt x="222504" y="164846"/>
                      <a:pt x="221615" y="156972"/>
                      <a:pt x="223012" y="147955"/>
                    </a:cubicBezTo>
                    <a:cubicBezTo>
                      <a:pt x="224409" y="140081"/>
                      <a:pt x="227076" y="133604"/>
                      <a:pt x="231013" y="128651"/>
                    </a:cubicBezTo>
                    <a:cubicBezTo>
                      <a:pt x="234950" y="123698"/>
                      <a:pt x="239776" y="119761"/>
                      <a:pt x="245491" y="116967"/>
                    </a:cubicBezTo>
                    <a:cubicBezTo>
                      <a:pt x="251206" y="114173"/>
                      <a:pt x="257302" y="111887"/>
                      <a:pt x="263906" y="110617"/>
                    </a:cubicBezTo>
                    <a:cubicBezTo>
                      <a:pt x="270510" y="109347"/>
                      <a:pt x="277114" y="108077"/>
                      <a:pt x="283718" y="107315"/>
                    </a:cubicBezTo>
                    <a:cubicBezTo>
                      <a:pt x="292227" y="106172"/>
                      <a:pt x="299212" y="105410"/>
                      <a:pt x="304546" y="104775"/>
                    </a:cubicBezTo>
                    <a:cubicBezTo>
                      <a:pt x="309880" y="104140"/>
                      <a:pt x="313944" y="103124"/>
                      <a:pt x="316611" y="101854"/>
                    </a:cubicBezTo>
                    <a:cubicBezTo>
                      <a:pt x="319278" y="100584"/>
                      <a:pt x="320929" y="98044"/>
                      <a:pt x="321564" y="94742"/>
                    </a:cubicBezTo>
                    <a:lnTo>
                      <a:pt x="321564" y="93853"/>
                    </a:lnTo>
                    <a:cubicBezTo>
                      <a:pt x="322961" y="84963"/>
                      <a:pt x="321818" y="78105"/>
                      <a:pt x="318008" y="73152"/>
                    </a:cubicBezTo>
                    <a:cubicBezTo>
                      <a:pt x="314198" y="68199"/>
                      <a:pt x="307467" y="65659"/>
                      <a:pt x="297688" y="65659"/>
                    </a:cubicBezTo>
                    <a:cubicBezTo>
                      <a:pt x="287528" y="65659"/>
                      <a:pt x="279146" y="67945"/>
                      <a:pt x="272288" y="72390"/>
                    </a:cubicBezTo>
                    <a:cubicBezTo>
                      <a:pt x="265430" y="76835"/>
                      <a:pt x="260477" y="81534"/>
                      <a:pt x="257175" y="86614"/>
                    </a:cubicBezTo>
                    <a:lnTo>
                      <a:pt x="238379" y="79375"/>
                    </a:lnTo>
                    <a:cubicBezTo>
                      <a:pt x="243332" y="70993"/>
                      <a:pt x="249174" y="64389"/>
                      <a:pt x="256032" y="59690"/>
                    </a:cubicBezTo>
                    <a:cubicBezTo>
                      <a:pt x="262890" y="54991"/>
                      <a:pt x="270129" y="51689"/>
                      <a:pt x="277622" y="49784"/>
                    </a:cubicBezTo>
                    <a:cubicBezTo>
                      <a:pt x="285115" y="47879"/>
                      <a:pt x="292354" y="46863"/>
                      <a:pt x="299339" y="46863"/>
                    </a:cubicBezTo>
                    <a:cubicBezTo>
                      <a:pt x="303784" y="46863"/>
                      <a:pt x="308864" y="47371"/>
                      <a:pt x="314452" y="48514"/>
                    </a:cubicBezTo>
                    <a:cubicBezTo>
                      <a:pt x="320040" y="49657"/>
                      <a:pt x="325247" y="51689"/>
                      <a:pt x="330200" y="54864"/>
                    </a:cubicBezTo>
                    <a:cubicBezTo>
                      <a:pt x="335153" y="58039"/>
                      <a:pt x="338836" y="62992"/>
                      <a:pt x="341249" y="69596"/>
                    </a:cubicBezTo>
                    <a:cubicBezTo>
                      <a:pt x="343662" y="76200"/>
                      <a:pt x="344170" y="84963"/>
                      <a:pt x="342392" y="95885"/>
                    </a:cubicBezTo>
                    <a:lnTo>
                      <a:pt x="327279" y="187198"/>
                    </a:lnTo>
                    <a:lnTo>
                      <a:pt x="306070" y="187198"/>
                    </a:lnTo>
                    <a:lnTo>
                      <a:pt x="309372" y="168402"/>
                    </a:lnTo>
                    <a:lnTo>
                      <a:pt x="308229" y="168402"/>
                    </a:lnTo>
                    <a:cubicBezTo>
                      <a:pt x="306324" y="171450"/>
                      <a:pt x="303403" y="174625"/>
                      <a:pt x="299339" y="178054"/>
                    </a:cubicBezTo>
                    <a:cubicBezTo>
                      <a:pt x="295275" y="181483"/>
                      <a:pt x="290449" y="184404"/>
                      <a:pt x="284480" y="186817"/>
                    </a:cubicBezTo>
                    <a:cubicBezTo>
                      <a:pt x="278511" y="189230"/>
                      <a:pt x="271526" y="190373"/>
                      <a:pt x="263525" y="190373"/>
                    </a:cubicBezTo>
                    <a:close/>
                    <a:moveTo>
                      <a:pt x="269621" y="171196"/>
                    </a:moveTo>
                    <a:cubicBezTo>
                      <a:pt x="278003" y="171196"/>
                      <a:pt x="285369" y="169545"/>
                      <a:pt x="291719" y="166243"/>
                    </a:cubicBezTo>
                    <a:cubicBezTo>
                      <a:pt x="298069" y="162941"/>
                      <a:pt x="303149" y="158623"/>
                      <a:pt x="307086" y="153416"/>
                    </a:cubicBezTo>
                    <a:cubicBezTo>
                      <a:pt x="311023" y="148209"/>
                      <a:pt x="313436" y="142621"/>
                      <a:pt x="314452" y="136906"/>
                    </a:cubicBezTo>
                    <a:lnTo>
                      <a:pt x="317754" y="117475"/>
                    </a:lnTo>
                    <a:cubicBezTo>
                      <a:pt x="316611" y="118618"/>
                      <a:pt x="314579" y="119507"/>
                      <a:pt x="311404" y="120396"/>
                    </a:cubicBezTo>
                    <a:cubicBezTo>
                      <a:pt x="308229" y="121285"/>
                      <a:pt x="304546" y="122047"/>
                      <a:pt x="300609" y="122682"/>
                    </a:cubicBezTo>
                    <a:cubicBezTo>
                      <a:pt x="296672" y="123317"/>
                      <a:pt x="292735" y="123825"/>
                      <a:pt x="288925" y="124333"/>
                    </a:cubicBezTo>
                    <a:cubicBezTo>
                      <a:pt x="285115" y="124841"/>
                      <a:pt x="282194" y="125095"/>
                      <a:pt x="279908" y="125476"/>
                    </a:cubicBezTo>
                    <a:cubicBezTo>
                      <a:pt x="274193" y="126238"/>
                      <a:pt x="268859" y="127381"/>
                      <a:pt x="263779" y="129032"/>
                    </a:cubicBezTo>
                    <a:cubicBezTo>
                      <a:pt x="258699" y="130683"/>
                      <a:pt x="254508" y="132969"/>
                      <a:pt x="250952" y="136144"/>
                    </a:cubicBezTo>
                    <a:cubicBezTo>
                      <a:pt x="247396" y="139319"/>
                      <a:pt x="245364" y="143510"/>
                      <a:pt x="244602" y="148971"/>
                    </a:cubicBezTo>
                    <a:cubicBezTo>
                      <a:pt x="243332" y="156337"/>
                      <a:pt x="245110" y="161925"/>
                      <a:pt x="249936" y="165735"/>
                    </a:cubicBezTo>
                    <a:cubicBezTo>
                      <a:pt x="254762" y="169545"/>
                      <a:pt x="261366" y="171323"/>
                      <a:pt x="269875" y="171323"/>
                    </a:cubicBezTo>
                    <a:close/>
                    <a:moveTo>
                      <a:pt x="405256" y="48768"/>
                    </a:moveTo>
                    <a:lnTo>
                      <a:pt x="429006" y="105410"/>
                    </a:lnTo>
                    <a:lnTo>
                      <a:pt x="471550" y="48768"/>
                    </a:lnTo>
                    <a:lnTo>
                      <a:pt x="496061" y="48768"/>
                    </a:lnTo>
                    <a:lnTo>
                      <a:pt x="439801" y="117983"/>
                    </a:lnTo>
                    <a:lnTo>
                      <a:pt x="472947" y="187198"/>
                    </a:lnTo>
                    <a:lnTo>
                      <a:pt x="448436" y="187198"/>
                    </a:lnTo>
                    <a:lnTo>
                      <a:pt x="424306" y="133477"/>
                    </a:lnTo>
                    <a:lnTo>
                      <a:pt x="382143" y="187198"/>
                    </a:lnTo>
                    <a:lnTo>
                      <a:pt x="357632" y="187198"/>
                    </a:lnTo>
                    <a:lnTo>
                      <a:pt x="413258" y="117983"/>
                    </a:lnTo>
                    <a:lnTo>
                      <a:pt x="380746" y="48768"/>
                    </a:lnTo>
                    <a:lnTo>
                      <a:pt x="405257" y="48768"/>
                    </a:lnTo>
                    <a:close/>
                    <a:moveTo>
                      <a:pt x="637666" y="189738"/>
                    </a:moveTo>
                    <a:cubicBezTo>
                      <a:pt x="625601" y="189738"/>
                      <a:pt x="615187" y="187706"/>
                      <a:pt x="606424" y="183642"/>
                    </a:cubicBezTo>
                    <a:cubicBezTo>
                      <a:pt x="597661" y="179578"/>
                      <a:pt x="591057" y="173863"/>
                      <a:pt x="586739" y="166624"/>
                    </a:cubicBezTo>
                    <a:cubicBezTo>
                      <a:pt x="582421" y="159385"/>
                      <a:pt x="580897" y="150749"/>
                      <a:pt x="582167" y="140970"/>
                    </a:cubicBezTo>
                    <a:lnTo>
                      <a:pt x="604519" y="140970"/>
                    </a:lnTo>
                    <a:cubicBezTo>
                      <a:pt x="604011" y="146812"/>
                      <a:pt x="605027" y="152019"/>
                      <a:pt x="607567" y="156337"/>
                    </a:cubicBezTo>
                    <a:cubicBezTo>
                      <a:pt x="610107" y="160655"/>
                      <a:pt x="614171" y="163957"/>
                      <a:pt x="619251" y="166370"/>
                    </a:cubicBezTo>
                    <a:cubicBezTo>
                      <a:pt x="624331" y="168783"/>
                      <a:pt x="630681" y="169926"/>
                      <a:pt x="638047" y="169926"/>
                    </a:cubicBezTo>
                    <a:cubicBezTo>
                      <a:pt x="645794" y="169926"/>
                      <a:pt x="653033" y="168529"/>
                      <a:pt x="659891" y="165862"/>
                    </a:cubicBezTo>
                    <a:cubicBezTo>
                      <a:pt x="666749" y="163195"/>
                      <a:pt x="672464" y="159258"/>
                      <a:pt x="677163" y="154178"/>
                    </a:cubicBezTo>
                    <a:cubicBezTo>
                      <a:pt x="681862" y="149098"/>
                      <a:pt x="684656" y="142875"/>
                      <a:pt x="685672" y="135636"/>
                    </a:cubicBezTo>
                    <a:cubicBezTo>
                      <a:pt x="686688" y="129159"/>
                      <a:pt x="685926" y="123444"/>
                      <a:pt x="683513" y="118491"/>
                    </a:cubicBezTo>
                    <a:cubicBezTo>
                      <a:pt x="681100" y="113538"/>
                      <a:pt x="676909" y="109601"/>
                      <a:pt x="671067" y="106807"/>
                    </a:cubicBezTo>
                    <a:cubicBezTo>
                      <a:pt x="665225" y="104013"/>
                      <a:pt x="657605" y="102489"/>
                      <a:pt x="648207" y="102489"/>
                    </a:cubicBezTo>
                    <a:lnTo>
                      <a:pt x="632967" y="102489"/>
                    </a:lnTo>
                    <a:lnTo>
                      <a:pt x="636269" y="82677"/>
                    </a:lnTo>
                    <a:lnTo>
                      <a:pt x="650366" y="82677"/>
                    </a:lnTo>
                    <a:cubicBezTo>
                      <a:pt x="657732" y="82677"/>
                      <a:pt x="664463" y="81280"/>
                      <a:pt x="670559" y="78486"/>
                    </a:cubicBezTo>
                    <a:cubicBezTo>
                      <a:pt x="676655" y="75692"/>
                      <a:pt x="681862" y="71882"/>
                      <a:pt x="685926" y="66802"/>
                    </a:cubicBezTo>
                    <a:cubicBezTo>
                      <a:pt x="689990" y="61722"/>
                      <a:pt x="692657" y="55880"/>
                      <a:pt x="693673" y="49022"/>
                    </a:cubicBezTo>
                    <a:cubicBezTo>
                      <a:pt x="694689" y="43053"/>
                      <a:pt x="694308" y="37846"/>
                      <a:pt x="692403" y="33528"/>
                    </a:cubicBezTo>
                    <a:cubicBezTo>
                      <a:pt x="690498" y="29210"/>
                      <a:pt x="687450" y="25654"/>
                      <a:pt x="683005" y="23114"/>
                    </a:cubicBezTo>
                    <a:cubicBezTo>
                      <a:pt x="678560" y="20574"/>
                      <a:pt x="672972" y="19431"/>
                      <a:pt x="666241" y="19431"/>
                    </a:cubicBezTo>
                    <a:cubicBezTo>
                      <a:pt x="659764" y="19431"/>
                      <a:pt x="653414" y="20574"/>
                      <a:pt x="647064" y="22987"/>
                    </a:cubicBezTo>
                    <a:cubicBezTo>
                      <a:pt x="640714" y="25400"/>
                      <a:pt x="635634" y="28575"/>
                      <a:pt x="631189" y="33020"/>
                    </a:cubicBezTo>
                    <a:cubicBezTo>
                      <a:pt x="626744" y="37465"/>
                      <a:pt x="624077" y="42545"/>
                      <a:pt x="622934" y="48768"/>
                    </a:cubicBezTo>
                    <a:lnTo>
                      <a:pt x="601344" y="48768"/>
                    </a:lnTo>
                    <a:cubicBezTo>
                      <a:pt x="603249" y="39116"/>
                      <a:pt x="607440" y="30734"/>
                      <a:pt x="613917" y="23368"/>
                    </a:cubicBezTo>
                    <a:cubicBezTo>
                      <a:pt x="620394" y="16002"/>
                      <a:pt x="628141" y="10287"/>
                      <a:pt x="637412" y="6223"/>
                    </a:cubicBezTo>
                    <a:cubicBezTo>
                      <a:pt x="646683" y="2159"/>
                      <a:pt x="656716" y="0"/>
                      <a:pt x="667257" y="0"/>
                    </a:cubicBezTo>
                    <a:cubicBezTo>
                      <a:pt x="678814" y="0"/>
                      <a:pt x="688466" y="2413"/>
                      <a:pt x="695959" y="7239"/>
                    </a:cubicBezTo>
                    <a:cubicBezTo>
                      <a:pt x="703452" y="12065"/>
                      <a:pt x="708913" y="18288"/>
                      <a:pt x="712215" y="26035"/>
                    </a:cubicBezTo>
                    <a:cubicBezTo>
                      <a:pt x="715517" y="33782"/>
                      <a:pt x="716406" y="42037"/>
                      <a:pt x="714882" y="50927"/>
                    </a:cubicBezTo>
                    <a:cubicBezTo>
                      <a:pt x="713231" y="61087"/>
                      <a:pt x="709040" y="69723"/>
                      <a:pt x="702309" y="76708"/>
                    </a:cubicBezTo>
                    <a:cubicBezTo>
                      <a:pt x="695578" y="83693"/>
                      <a:pt x="687323" y="88773"/>
                      <a:pt x="677671" y="91694"/>
                    </a:cubicBezTo>
                    <a:lnTo>
                      <a:pt x="677671" y="92710"/>
                    </a:lnTo>
                    <a:cubicBezTo>
                      <a:pt x="688974" y="94742"/>
                      <a:pt x="697229" y="99949"/>
                      <a:pt x="702436" y="108458"/>
                    </a:cubicBezTo>
                    <a:cubicBezTo>
                      <a:pt x="707643" y="116967"/>
                      <a:pt x="709294" y="126873"/>
                      <a:pt x="707262" y="138557"/>
                    </a:cubicBezTo>
                    <a:cubicBezTo>
                      <a:pt x="705611" y="148971"/>
                      <a:pt x="701547" y="158115"/>
                      <a:pt x="695070" y="165735"/>
                    </a:cubicBezTo>
                    <a:cubicBezTo>
                      <a:pt x="688593" y="173355"/>
                      <a:pt x="680465" y="179324"/>
                      <a:pt x="670686" y="183515"/>
                    </a:cubicBezTo>
                    <a:cubicBezTo>
                      <a:pt x="660907" y="187706"/>
                      <a:pt x="649858" y="189738"/>
                      <a:pt x="637666" y="189738"/>
                    </a:cubicBezTo>
                    <a:close/>
                    <a:moveTo>
                      <a:pt x="793622" y="189738"/>
                    </a:moveTo>
                    <a:cubicBezTo>
                      <a:pt x="783081" y="189738"/>
                      <a:pt x="773810" y="187579"/>
                      <a:pt x="766063" y="183388"/>
                    </a:cubicBezTo>
                    <a:cubicBezTo>
                      <a:pt x="758316" y="179197"/>
                      <a:pt x="752347" y="173355"/>
                      <a:pt x="748537" y="166116"/>
                    </a:cubicBezTo>
                    <a:cubicBezTo>
                      <a:pt x="744727" y="158877"/>
                      <a:pt x="743203" y="150368"/>
                      <a:pt x="744346" y="141097"/>
                    </a:cubicBezTo>
                    <a:lnTo>
                      <a:pt x="765936" y="141097"/>
                    </a:lnTo>
                    <a:cubicBezTo>
                      <a:pt x="765428" y="149352"/>
                      <a:pt x="768095" y="156337"/>
                      <a:pt x="773937" y="161798"/>
                    </a:cubicBezTo>
                    <a:cubicBezTo>
                      <a:pt x="779779" y="167259"/>
                      <a:pt x="787526" y="170053"/>
                      <a:pt x="796924" y="170053"/>
                    </a:cubicBezTo>
                    <a:cubicBezTo>
                      <a:pt x="804544" y="170053"/>
                      <a:pt x="811529" y="168275"/>
                      <a:pt x="818006" y="164719"/>
                    </a:cubicBezTo>
                    <a:cubicBezTo>
                      <a:pt x="824483" y="161163"/>
                      <a:pt x="830071" y="156337"/>
                      <a:pt x="834389" y="150114"/>
                    </a:cubicBezTo>
                    <a:cubicBezTo>
                      <a:pt x="838707" y="143891"/>
                      <a:pt x="841755" y="136906"/>
                      <a:pt x="843025" y="128905"/>
                    </a:cubicBezTo>
                    <a:cubicBezTo>
                      <a:pt x="844295" y="120904"/>
                      <a:pt x="843787" y="113665"/>
                      <a:pt x="841374" y="107315"/>
                    </a:cubicBezTo>
                    <a:cubicBezTo>
                      <a:pt x="838961" y="100965"/>
                      <a:pt x="834897" y="95885"/>
                      <a:pt x="829436" y="92202"/>
                    </a:cubicBezTo>
                    <a:cubicBezTo>
                      <a:pt x="823975" y="88519"/>
                      <a:pt x="817117" y="86741"/>
                      <a:pt x="809243" y="86741"/>
                    </a:cubicBezTo>
                    <a:cubicBezTo>
                      <a:pt x="803655" y="86741"/>
                      <a:pt x="797686" y="87630"/>
                      <a:pt x="791463" y="89408"/>
                    </a:cubicBezTo>
                    <a:cubicBezTo>
                      <a:pt x="785240" y="91186"/>
                      <a:pt x="780033" y="93345"/>
                      <a:pt x="775715" y="96139"/>
                    </a:cubicBezTo>
                    <a:lnTo>
                      <a:pt x="755141" y="93599"/>
                    </a:lnTo>
                    <a:lnTo>
                      <a:pt x="781303" y="2540"/>
                    </a:lnTo>
                    <a:lnTo>
                      <a:pt x="877315" y="2540"/>
                    </a:lnTo>
                    <a:lnTo>
                      <a:pt x="874013" y="22352"/>
                    </a:lnTo>
                    <a:lnTo>
                      <a:pt x="796797" y="22352"/>
                    </a:lnTo>
                    <a:lnTo>
                      <a:pt x="781303" y="76835"/>
                    </a:lnTo>
                    <a:lnTo>
                      <a:pt x="782446" y="76835"/>
                    </a:lnTo>
                    <a:cubicBezTo>
                      <a:pt x="786764" y="73787"/>
                      <a:pt x="791971" y="71247"/>
                      <a:pt x="797813" y="69342"/>
                    </a:cubicBezTo>
                    <a:cubicBezTo>
                      <a:pt x="803655" y="67437"/>
                      <a:pt x="810005" y="66421"/>
                      <a:pt x="816355" y="66421"/>
                    </a:cubicBezTo>
                    <a:cubicBezTo>
                      <a:pt x="827658" y="66421"/>
                      <a:pt x="837310" y="69088"/>
                      <a:pt x="845184" y="74549"/>
                    </a:cubicBezTo>
                    <a:cubicBezTo>
                      <a:pt x="853058" y="80010"/>
                      <a:pt x="858900" y="87249"/>
                      <a:pt x="862456" y="96647"/>
                    </a:cubicBezTo>
                    <a:cubicBezTo>
                      <a:pt x="866012" y="106045"/>
                      <a:pt x="866774" y="116586"/>
                      <a:pt x="864742" y="128524"/>
                    </a:cubicBezTo>
                    <a:cubicBezTo>
                      <a:pt x="862710" y="140462"/>
                      <a:pt x="858519" y="150876"/>
                      <a:pt x="851661" y="160147"/>
                    </a:cubicBezTo>
                    <a:cubicBezTo>
                      <a:pt x="844803" y="169418"/>
                      <a:pt x="836548" y="176657"/>
                      <a:pt x="826388" y="181991"/>
                    </a:cubicBezTo>
                    <a:cubicBezTo>
                      <a:pt x="816228" y="187325"/>
                      <a:pt x="805433" y="189865"/>
                      <a:pt x="793622" y="189865"/>
                    </a:cubicBezTo>
                    <a:close/>
                    <a:moveTo>
                      <a:pt x="950594" y="189865"/>
                    </a:moveTo>
                    <a:cubicBezTo>
                      <a:pt x="937005" y="189865"/>
                      <a:pt x="926083" y="186182"/>
                      <a:pt x="917701" y="178816"/>
                    </a:cubicBezTo>
                    <a:cubicBezTo>
                      <a:pt x="909319" y="171450"/>
                      <a:pt x="903985" y="160528"/>
                      <a:pt x="901318" y="146431"/>
                    </a:cubicBezTo>
                    <a:cubicBezTo>
                      <a:pt x="898651" y="132334"/>
                      <a:pt x="899032" y="115062"/>
                      <a:pt x="902207" y="94996"/>
                    </a:cubicBezTo>
                    <a:cubicBezTo>
                      <a:pt x="905382" y="74930"/>
                      <a:pt x="910716" y="58039"/>
                      <a:pt x="918209" y="43815"/>
                    </a:cubicBezTo>
                    <a:cubicBezTo>
                      <a:pt x="925702" y="29591"/>
                      <a:pt x="934719" y="18796"/>
                      <a:pt x="945514" y="11303"/>
                    </a:cubicBezTo>
                    <a:cubicBezTo>
                      <a:pt x="956309" y="3810"/>
                      <a:pt x="968501" y="0"/>
                      <a:pt x="981963" y="0"/>
                    </a:cubicBezTo>
                    <a:cubicBezTo>
                      <a:pt x="995425" y="0"/>
                      <a:pt x="1006347" y="3810"/>
                      <a:pt x="1014729" y="11303"/>
                    </a:cubicBezTo>
                    <a:cubicBezTo>
                      <a:pt x="1023111" y="18796"/>
                      <a:pt x="1028699" y="29591"/>
                      <a:pt x="1031493" y="43815"/>
                    </a:cubicBezTo>
                    <a:cubicBezTo>
                      <a:pt x="1034287" y="58039"/>
                      <a:pt x="1034033" y="75057"/>
                      <a:pt x="1030731" y="94996"/>
                    </a:cubicBezTo>
                    <a:cubicBezTo>
                      <a:pt x="1027429" y="114935"/>
                      <a:pt x="1021968" y="132207"/>
                      <a:pt x="1014602" y="146304"/>
                    </a:cubicBezTo>
                    <a:cubicBezTo>
                      <a:pt x="1007236" y="160401"/>
                      <a:pt x="998092" y="171196"/>
                      <a:pt x="987297" y="178689"/>
                    </a:cubicBezTo>
                    <a:cubicBezTo>
                      <a:pt x="976502" y="186182"/>
                      <a:pt x="964310" y="189865"/>
                      <a:pt x="950721" y="189865"/>
                    </a:cubicBezTo>
                    <a:close/>
                    <a:moveTo>
                      <a:pt x="954023" y="170053"/>
                    </a:moveTo>
                    <a:cubicBezTo>
                      <a:pt x="967612" y="170053"/>
                      <a:pt x="979169" y="163576"/>
                      <a:pt x="988694" y="150622"/>
                    </a:cubicBezTo>
                    <a:cubicBezTo>
                      <a:pt x="998219" y="137668"/>
                      <a:pt x="1005204" y="118999"/>
                      <a:pt x="1009141" y="94996"/>
                    </a:cubicBezTo>
                    <a:cubicBezTo>
                      <a:pt x="1011808" y="78994"/>
                      <a:pt x="1012316" y="65405"/>
                      <a:pt x="1010792" y="54102"/>
                    </a:cubicBezTo>
                    <a:cubicBezTo>
                      <a:pt x="1009268" y="42799"/>
                      <a:pt x="1005712" y="34290"/>
                      <a:pt x="1000378" y="28448"/>
                    </a:cubicBezTo>
                    <a:cubicBezTo>
                      <a:pt x="995044" y="22606"/>
                      <a:pt x="987805" y="19558"/>
                      <a:pt x="978915" y="19558"/>
                    </a:cubicBezTo>
                    <a:cubicBezTo>
                      <a:pt x="965580" y="19558"/>
                      <a:pt x="954023" y="26162"/>
                      <a:pt x="944498" y="39370"/>
                    </a:cubicBezTo>
                    <a:cubicBezTo>
                      <a:pt x="934973" y="52578"/>
                      <a:pt x="927861" y="70866"/>
                      <a:pt x="923924" y="94869"/>
                    </a:cubicBezTo>
                    <a:cubicBezTo>
                      <a:pt x="921257" y="110871"/>
                      <a:pt x="920749" y="124460"/>
                      <a:pt x="922273" y="135636"/>
                    </a:cubicBezTo>
                    <a:cubicBezTo>
                      <a:pt x="923797" y="146812"/>
                      <a:pt x="927226" y="155321"/>
                      <a:pt x="932560" y="161163"/>
                    </a:cubicBezTo>
                    <a:cubicBezTo>
                      <a:pt x="937894" y="167005"/>
                      <a:pt x="945006" y="169926"/>
                      <a:pt x="953896" y="169926"/>
                    </a:cubicBezTo>
                    <a:close/>
                    <a:moveTo>
                      <a:pt x="1109344" y="189738"/>
                    </a:moveTo>
                    <a:cubicBezTo>
                      <a:pt x="1095755" y="189738"/>
                      <a:pt x="1084833" y="186055"/>
                      <a:pt x="1076451" y="178689"/>
                    </a:cubicBezTo>
                    <a:cubicBezTo>
                      <a:pt x="1068069" y="171323"/>
                      <a:pt x="1062735" y="160401"/>
                      <a:pt x="1060068" y="146304"/>
                    </a:cubicBezTo>
                    <a:cubicBezTo>
                      <a:pt x="1057401" y="132207"/>
                      <a:pt x="1057782" y="114935"/>
                      <a:pt x="1060957" y="94869"/>
                    </a:cubicBezTo>
                    <a:cubicBezTo>
                      <a:pt x="1064132" y="74803"/>
                      <a:pt x="1069466" y="57912"/>
                      <a:pt x="1076959" y="43688"/>
                    </a:cubicBezTo>
                    <a:cubicBezTo>
                      <a:pt x="1084452" y="29464"/>
                      <a:pt x="1093469" y="18669"/>
                      <a:pt x="1104264" y="11176"/>
                    </a:cubicBezTo>
                    <a:cubicBezTo>
                      <a:pt x="1115059" y="3683"/>
                      <a:pt x="1127251" y="0"/>
                      <a:pt x="1140713" y="0"/>
                    </a:cubicBezTo>
                    <a:cubicBezTo>
                      <a:pt x="1154175" y="0"/>
                      <a:pt x="1165097" y="3810"/>
                      <a:pt x="1173479" y="11303"/>
                    </a:cubicBezTo>
                    <a:cubicBezTo>
                      <a:pt x="1181861" y="18796"/>
                      <a:pt x="1187449" y="29591"/>
                      <a:pt x="1190243" y="43815"/>
                    </a:cubicBezTo>
                    <a:cubicBezTo>
                      <a:pt x="1193037" y="58039"/>
                      <a:pt x="1192783" y="75057"/>
                      <a:pt x="1189481" y="94996"/>
                    </a:cubicBezTo>
                    <a:cubicBezTo>
                      <a:pt x="1186179" y="114935"/>
                      <a:pt x="1180718" y="132207"/>
                      <a:pt x="1173352" y="146304"/>
                    </a:cubicBezTo>
                    <a:cubicBezTo>
                      <a:pt x="1165986" y="160401"/>
                      <a:pt x="1156842" y="171196"/>
                      <a:pt x="1146047" y="178689"/>
                    </a:cubicBezTo>
                    <a:cubicBezTo>
                      <a:pt x="1135252" y="186182"/>
                      <a:pt x="1123060" y="189865"/>
                      <a:pt x="1109471" y="189865"/>
                    </a:cubicBezTo>
                    <a:close/>
                    <a:moveTo>
                      <a:pt x="1112773" y="170053"/>
                    </a:moveTo>
                    <a:cubicBezTo>
                      <a:pt x="1126362" y="170053"/>
                      <a:pt x="1137919" y="163576"/>
                      <a:pt x="1147444" y="150622"/>
                    </a:cubicBezTo>
                    <a:cubicBezTo>
                      <a:pt x="1156969" y="137668"/>
                      <a:pt x="1163954" y="118999"/>
                      <a:pt x="1167891" y="94996"/>
                    </a:cubicBezTo>
                    <a:cubicBezTo>
                      <a:pt x="1170558" y="78994"/>
                      <a:pt x="1171066" y="65405"/>
                      <a:pt x="1169542" y="54102"/>
                    </a:cubicBezTo>
                    <a:cubicBezTo>
                      <a:pt x="1168018" y="42799"/>
                      <a:pt x="1164462" y="34290"/>
                      <a:pt x="1159128" y="28448"/>
                    </a:cubicBezTo>
                    <a:cubicBezTo>
                      <a:pt x="1153794" y="22606"/>
                      <a:pt x="1146555" y="19558"/>
                      <a:pt x="1137665" y="19558"/>
                    </a:cubicBezTo>
                    <a:cubicBezTo>
                      <a:pt x="1124330" y="19558"/>
                      <a:pt x="1112773" y="26162"/>
                      <a:pt x="1103248" y="39370"/>
                    </a:cubicBezTo>
                    <a:cubicBezTo>
                      <a:pt x="1093723" y="52578"/>
                      <a:pt x="1086611" y="70866"/>
                      <a:pt x="1082674" y="94869"/>
                    </a:cubicBezTo>
                    <a:cubicBezTo>
                      <a:pt x="1080007" y="110871"/>
                      <a:pt x="1079499" y="124460"/>
                      <a:pt x="1081023" y="135636"/>
                    </a:cubicBezTo>
                    <a:cubicBezTo>
                      <a:pt x="1082547" y="146812"/>
                      <a:pt x="1085976" y="155321"/>
                      <a:pt x="1091310" y="161163"/>
                    </a:cubicBezTo>
                    <a:cubicBezTo>
                      <a:pt x="1096644" y="167005"/>
                      <a:pt x="1103756" y="169926"/>
                      <a:pt x="1112646" y="169926"/>
                    </a:cubicBezTo>
                    <a:close/>
                    <a:moveTo>
                      <a:pt x="1280032" y="187198"/>
                    </a:moveTo>
                    <a:lnTo>
                      <a:pt x="1303146" y="48641"/>
                    </a:lnTo>
                    <a:lnTo>
                      <a:pt x="1323720" y="48641"/>
                    </a:lnTo>
                    <a:lnTo>
                      <a:pt x="1320163" y="70231"/>
                    </a:lnTo>
                    <a:lnTo>
                      <a:pt x="1321942" y="70231"/>
                    </a:lnTo>
                    <a:cubicBezTo>
                      <a:pt x="1326133" y="62865"/>
                      <a:pt x="1331721" y="57150"/>
                      <a:pt x="1338833" y="52959"/>
                    </a:cubicBezTo>
                    <a:cubicBezTo>
                      <a:pt x="1345944" y="48768"/>
                      <a:pt x="1354072" y="46736"/>
                      <a:pt x="1363089" y="46736"/>
                    </a:cubicBezTo>
                    <a:cubicBezTo>
                      <a:pt x="1372106" y="46736"/>
                      <a:pt x="1379345" y="48768"/>
                      <a:pt x="1384806" y="52959"/>
                    </a:cubicBezTo>
                    <a:cubicBezTo>
                      <a:pt x="1390267" y="57150"/>
                      <a:pt x="1394077" y="62738"/>
                      <a:pt x="1396236" y="70231"/>
                    </a:cubicBezTo>
                    <a:lnTo>
                      <a:pt x="1397633" y="70231"/>
                    </a:lnTo>
                    <a:cubicBezTo>
                      <a:pt x="1402332" y="62992"/>
                      <a:pt x="1408555" y="57277"/>
                      <a:pt x="1416429" y="53086"/>
                    </a:cubicBezTo>
                    <a:cubicBezTo>
                      <a:pt x="1424303" y="48895"/>
                      <a:pt x="1433193" y="46736"/>
                      <a:pt x="1443099" y="46736"/>
                    </a:cubicBezTo>
                    <a:cubicBezTo>
                      <a:pt x="1455418" y="46736"/>
                      <a:pt x="1464816" y="50673"/>
                      <a:pt x="1471420" y="58420"/>
                    </a:cubicBezTo>
                    <a:cubicBezTo>
                      <a:pt x="1478024" y="66167"/>
                      <a:pt x="1480056" y="78232"/>
                      <a:pt x="1477389" y="94361"/>
                    </a:cubicBezTo>
                    <a:lnTo>
                      <a:pt x="1461895" y="187071"/>
                    </a:lnTo>
                    <a:lnTo>
                      <a:pt x="1440559" y="187071"/>
                    </a:lnTo>
                    <a:lnTo>
                      <a:pt x="1456053" y="94361"/>
                    </a:lnTo>
                    <a:cubicBezTo>
                      <a:pt x="1457704" y="84074"/>
                      <a:pt x="1456053" y="76835"/>
                      <a:pt x="1451227" y="72390"/>
                    </a:cubicBezTo>
                    <a:cubicBezTo>
                      <a:pt x="1446401" y="67945"/>
                      <a:pt x="1440178" y="65786"/>
                      <a:pt x="1432685" y="65786"/>
                    </a:cubicBezTo>
                    <a:cubicBezTo>
                      <a:pt x="1422906" y="65786"/>
                      <a:pt x="1414905" y="68707"/>
                      <a:pt x="1408555" y="74549"/>
                    </a:cubicBezTo>
                    <a:cubicBezTo>
                      <a:pt x="1402205" y="80391"/>
                      <a:pt x="1398395" y="87757"/>
                      <a:pt x="1396871" y="96774"/>
                    </a:cubicBezTo>
                    <a:lnTo>
                      <a:pt x="1381758" y="186944"/>
                    </a:lnTo>
                    <a:lnTo>
                      <a:pt x="1360168" y="186944"/>
                    </a:lnTo>
                    <a:lnTo>
                      <a:pt x="1376043" y="92075"/>
                    </a:lnTo>
                    <a:cubicBezTo>
                      <a:pt x="1377313" y="84201"/>
                      <a:pt x="1375789" y="77724"/>
                      <a:pt x="1371471" y="72898"/>
                    </a:cubicBezTo>
                    <a:cubicBezTo>
                      <a:pt x="1367153" y="68072"/>
                      <a:pt x="1361057" y="65659"/>
                      <a:pt x="1352929" y="65659"/>
                    </a:cubicBezTo>
                    <a:cubicBezTo>
                      <a:pt x="1347341" y="65659"/>
                      <a:pt x="1342008" y="67183"/>
                      <a:pt x="1336674" y="70231"/>
                    </a:cubicBezTo>
                    <a:cubicBezTo>
                      <a:pt x="1331340" y="73279"/>
                      <a:pt x="1326895" y="77216"/>
                      <a:pt x="1323085" y="82550"/>
                    </a:cubicBezTo>
                    <a:cubicBezTo>
                      <a:pt x="1319274" y="87884"/>
                      <a:pt x="1316862" y="93726"/>
                      <a:pt x="1315719" y="100457"/>
                    </a:cubicBezTo>
                    <a:lnTo>
                      <a:pt x="1301241" y="187071"/>
                    </a:lnTo>
                    <a:lnTo>
                      <a:pt x="1279905" y="187071"/>
                    </a:lnTo>
                    <a:close/>
                    <a:moveTo>
                      <a:pt x="1616835" y="79502"/>
                    </a:moveTo>
                    <a:lnTo>
                      <a:pt x="1596642" y="84963"/>
                    </a:lnTo>
                    <a:cubicBezTo>
                      <a:pt x="1595880" y="81661"/>
                      <a:pt x="1594610" y="78613"/>
                      <a:pt x="1592832" y="75565"/>
                    </a:cubicBezTo>
                    <a:cubicBezTo>
                      <a:pt x="1591054" y="72517"/>
                      <a:pt x="1588387" y="69977"/>
                      <a:pt x="1584704" y="68072"/>
                    </a:cubicBezTo>
                    <a:cubicBezTo>
                      <a:pt x="1581021" y="66167"/>
                      <a:pt x="1576195" y="65151"/>
                      <a:pt x="1569972" y="65151"/>
                    </a:cubicBezTo>
                    <a:cubicBezTo>
                      <a:pt x="1561463" y="65151"/>
                      <a:pt x="1554097" y="67056"/>
                      <a:pt x="1547874" y="70993"/>
                    </a:cubicBezTo>
                    <a:cubicBezTo>
                      <a:pt x="1541651" y="74930"/>
                      <a:pt x="1538095" y="79756"/>
                      <a:pt x="1537079" y="85725"/>
                    </a:cubicBezTo>
                    <a:cubicBezTo>
                      <a:pt x="1536190" y="90932"/>
                      <a:pt x="1537333" y="95123"/>
                      <a:pt x="1540635" y="98298"/>
                    </a:cubicBezTo>
                    <a:cubicBezTo>
                      <a:pt x="1543937" y="101473"/>
                      <a:pt x="1549525" y="104013"/>
                      <a:pt x="1557272" y="105918"/>
                    </a:cubicBezTo>
                    <a:lnTo>
                      <a:pt x="1577084" y="110998"/>
                    </a:lnTo>
                    <a:cubicBezTo>
                      <a:pt x="1589022" y="114046"/>
                      <a:pt x="1597531" y="118618"/>
                      <a:pt x="1602484" y="124841"/>
                    </a:cubicBezTo>
                    <a:cubicBezTo>
                      <a:pt x="1607437" y="131064"/>
                      <a:pt x="1609342" y="138811"/>
                      <a:pt x="1607691" y="148590"/>
                    </a:cubicBezTo>
                    <a:cubicBezTo>
                      <a:pt x="1606421" y="156464"/>
                      <a:pt x="1602865" y="163576"/>
                      <a:pt x="1597277" y="169926"/>
                    </a:cubicBezTo>
                    <a:cubicBezTo>
                      <a:pt x="1591689" y="176276"/>
                      <a:pt x="1584577" y="181102"/>
                      <a:pt x="1575814" y="184658"/>
                    </a:cubicBezTo>
                    <a:cubicBezTo>
                      <a:pt x="1567051" y="188214"/>
                      <a:pt x="1557399" y="190119"/>
                      <a:pt x="1546731" y="190119"/>
                    </a:cubicBezTo>
                    <a:cubicBezTo>
                      <a:pt x="1532507" y="190119"/>
                      <a:pt x="1521204" y="187071"/>
                      <a:pt x="1512949" y="180975"/>
                    </a:cubicBezTo>
                    <a:cubicBezTo>
                      <a:pt x="1504694" y="174879"/>
                      <a:pt x="1500376" y="165862"/>
                      <a:pt x="1499741" y="154051"/>
                    </a:cubicBezTo>
                    <a:lnTo>
                      <a:pt x="1521077" y="148971"/>
                    </a:lnTo>
                    <a:cubicBezTo>
                      <a:pt x="1521585" y="156337"/>
                      <a:pt x="1524252" y="161925"/>
                      <a:pt x="1528951" y="165735"/>
                    </a:cubicBezTo>
                    <a:cubicBezTo>
                      <a:pt x="1533650" y="169545"/>
                      <a:pt x="1540508" y="171323"/>
                      <a:pt x="1549144" y="171323"/>
                    </a:cubicBezTo>
                    <a:cubicBezTo>
                      <a:pt x="1559050" y="171323"/>
                      <a:pt x="1567305" y="169164"/>
                      <a:pt x="1573909" y="164973"/>
                    </a:cubicBezTo>
                    <a:cubicBezTo>
                      <a:pt x="1580513" y="160782"/>
                      <a:pt x="1584323" y="155575"/>
                      <a:pt x="1585212" y="149606"/>
                    </a:cubicBezTo>
                    <a:cubicBezTo>
                      <a:pt x="1586101" y="144780"/>
                      <a:pt x="1585212" y="140716"/>
                      <a:pt x="1582291" y="137414"/>
                    </a:cubicBezTo>
                    <a:cubicBezTo>
                      <a:pt x="1579370" y="134112"/>
                      <a:pt x="1574671" y="131699"/>
                      <a:pt x="1567813" y="130048"/>
                    </a:cubicBezTo>
                    <a:lnTo>
                      <a:pt x="1545842" y="124587"/>
                    </a:lnTo>
                    <a:cubicBezTo>
                      <a:pt x="1533523" y="121539"/>
                      <a:pt x="1525014" y="116840"/>
                      <a:pt x="1520061" y="110490"/>
                    </a:cubicBezTo>
                    <a:cubicBezTo>
                      <a:pt x="1515108" y="104140"/>
                      <a:pt x="1513584" y="96266"/>
                      <a:pt x="1515235" y="86614"/>
                    </a:cubicBezTo>
                    <a:cubicBezTo>
                      <a:pt x="1516505" y="78740"/>
                      <a:pt x="1519934" y="71882"/>
                      <a:pt x="1525395" y="65913"/>
                    </a:cubicBezTo>
                    <a:cubicBezTo>
                      <a:pt x="1530856" y="59944"/>
                      <a:pt x="1537714" y="55118"/>
                      <a:pt x="1545969" y="51689"/>
                    </a:cubicBezTo>
                    <a:cubicBezTo>
                      <a:pt x="1554224" y="48260"/>
                      <a:pt x="1563241" y="46609"/>
                      <a:pt x="1573020" y="46609"/>
                    </a:cubicBezTo>
                    <a:cubicBezTo>
                      <a:pt x="1586736" y="46609"/>
                      <a:pt x="1597023" y="49657"/>
                      <a:pt x="1603754" y="55626"/>
                    </a:cubicBezTo>
                    <a:cubicBezTo>
                      <a:pt x="1610485" y="61595"/>
                      <a:pt x="1614803" y="69469"/>
                      <a:pt x="1616708" y="79502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DE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1479353" y="4300230"/>
              <a:ext cx="992172" cy="821492"/>
              <a:chOff x="0" y="0"/>
              <a:chExt cx="1313142" cy="1087247"/>
            </a:xfrm>
          </p:grpSpPr>
          <p:sp>
            <p:nvSpPr>
              <p:cNvPr id="36" name="Freeform 36"/>
              <p:cNvSpPr/>
              <p:nvPr/>
            </p:nvSpPr>
            <p:spPr>
              <a:xfrm flipV="1">
                <a:off x="0" y="0"/>
                <a:ext cx="1313180" cy="1087247"/>
              </a:xfrm>
              <a:custGeom>
                <a:avLst/>
                <a:gdLst/>
                <a:ahLst/>
                <a:cxnLst/>
                <a:rect l="l" t="t" r="r" b="b"/>
                <a:pathLst>
                  <a:path w="1313180" h="1087247">
                    <a:moveTo>
                      <a:pt x="0" y="1087247"/>
                    </a:moveTo>
                    <a:lnTo>
                      <a:pt x="1313180" y="1087247"/>
                    </a:lnTo>
                    <a:lnTo>
                      <a:pt x="1313180" y="0"/>
                    </a:lnTo>
                    <a:lnTo>
                      <a:pt x="0" y="0"/>
                    </a:lnTo>
                    <a:lnTo>
                      <a:pt x="0" y="1087247"/>
                    </a:lnTo>
                    <a:close/>
                  </a:path>
                </a:pathLst>
              </a:custGeom>
              <a:blipFill>
                <a:blip r:embed="rId3"/>
                <a:stretch>
                  <a:fillRect r="2"/>
                </a:stretch>
              </a:blipFill>
            </p:spPr>
            <p:txBody>
              <a:bodyPr/>
              <a:lstStyle/>
              <a:p>
                <a:endParaRPr lang="en-DE"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2914224" y="4300230"/>
              <a:ext cx="992172" cy="821492"/>
              <a:chOff x="0" y="0"/>
              <a:chExt cx="1313142" cy="1087247"/>
            </a:xfrm>
          </p:grpSpPr>
          <p:sp>
            <p:nvSpPr>
              <p:cNvPr id="38" name="Freeform 38"/>
              <p:cNvSpPr/>
              <p:nvPr/>
            </p:nvSpPr>
            <p:spPr>
              <a:xfrm flipV="1">
                <a:off x="0" y="0"/>
                <a:ext cx="1313180" cy="1087247"/>
              </a:xfrm>
              <a:custGeom>
                <a:avLst/>
                <a:gdLst/>
                <a:ahLst/>
                <a:cxnLst/>
                <a:rect l="l" t="t" r="r" b="b"/>
                <a:pathLst>
                  <a:path w="1313180" h="1087247">
                    <a:moveTo>
                      <a:pt x="0" y="1087247"/>
                    </a:moveTo>
                    <a:lnTo>
                      <a:pt x="1313180" y="1087247"/>
                    </a:lnTo>
                    <a:lnTo>
                      <a:pt x="1313180" y="0"/>
                    </a:lnTo>
                    <a:lnTo>
                      <a:pt x="0" y="0"/>
                    </a:lnTo>
                    <a:lnTo>
                      <a:pt x="0" y="1087247"/>
                    </a:lnTo>
                    <a:close/>
                  </a:path>
                </a:pathLst>
              </a:custGeom>
              <a:blipFill>
                <a:blip r:embed="rId4"/>
                <a:stretch>
                  <a:fillRect r="2"/>
                </a:stretch>
              </a:blipFill>
            </p:spPr>
            <p:txBody>
              <a:bodyPr/>
              <a:lstStyle/>
              <a:p>
                <a:endParaRPr lang="en-DE"/>
              </a:p>
            </p:txBody>
          </p:sp>
        </p:grpSp>
        <p:sp>
          <p:nvSpPr>
            <p:cNvPr id="39" name="Freeform 39"/>
            <p:cNvSpPr/>
            <p:nvPr/>
          </p:nvSpPr>
          <p:spPr>
            <a:xfrm>
              <a:off x="7790238" y="6878368"/>
              <a:ext cx="3189109" cy="226786"/>
            </a:xfrm>
            <a:custGeom>
              <a:avLst/>
              <a:gdLst/>
              <a:ahLst/>
              <a:cxnLst/>
              <a:rect l="l" t="t" r="r" b="b"/>
              <a:pathLst>
                <a:path w="3189109" h="226786">
                  <a:moveTo>
                    <a:pt x="0" y="0"/>
                  </a:moveTo>
                  <a:lnTo>
                    <a:pt x="3189109" y="0"/>
                  </a:lnTo>
                  <a:lnTo>
                    <a:pt x="3189109" y="226786"/>
                  </a:lnTo>
                  <a:lnTo>
                    <a:pt x="0" y="226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DE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1900721" y="5521999"/>
              <a:ext cx="129639" cy="130272"/>
              <a:chOff x="0" y="0"/>
              <a:chExt cx="171577" cy="17241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5588" y="0"/>
                <a:ext cx="165995" cy="172469"/>
              </a:xfrm>
              <a:custGeom>
                <a:avLst/>
                <a:gdLst/>
                <a:ahLst/>
                <a:cxnLst/>
                <a:rect l="l" t="t" r="r" b="b"/>
                <a:pathLst>
                  <a:path w="165995" h="172469">
                    <a:moveTo>
                      <a:pt x="39118" y="172469"/>
                    </a:moveTo>
                    <a:lnTo>
                      <a:pt x="0" y="172469"/>
                    </a:lnTo>
                    <a:lnTo>
                      <a:pt x="59565" y="0"/>
                    </a:lnTo>
                    <a:lnTo>
                      <a:pt x="106557" y="0"/>
                    </a:lnTo>
                    <a:lnTo>
                      <a:pt x="165995" y="172469"/>
                    </a:lnTo>
                    <a:lnTo>
                      <a:pt x="126878" y="172469"/>
                    </a:lnTo>
                    <a:lnTo>
                      <a:pt x="83696" y="39371"/>
                    </a:lnTo>
                    <a:lnTo>
                      <a:pt x="82426" y="39371"/>
                    </a:lnTo>
                    <a:lnTo>
                      <a:pt x="39118" y="172469"/>
                    </a:lnTo>
                    <a:close/>
                    <a:moveTo>
                      <a:pt x="36704" y="104650"/>
                    </a:moveTo>
                    <a:lnTo>
                      <a:pt x="129037" y="104650"/>
                    </a:lnTo>
                    <a:lnTo>
                      <a:pt x="129037" y="133099"/>
                    </a:lnTo>
                    <a:lnTo>
                      <a:pt x="36704" y="133099"/>
                    </a:lnTo>
                    <a:lnTo>
                      <a:pt x="36704" y="1046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DE"/>
              </a:p>
            </p:txBody>
          </p:sp>
        </p:grpSp>
        <p:sp>
          <p:nvSpPr>
            <p:cNvPr id="42" name="Freeform 42"/>
            <p:cNvSpPr/>
            <p:nvPr/>
          </p:nvSpPr>
          <p:spPr>
            <a:xfrm>
              <a:off x="11559775" y="5249605"/>
              <a:ext cx="2212233" cy="151191"/>
            </a:xfrm>
            <a:custGeom>
              <a:avLst/>
              <a:gdLst/>
              <a:ahLst/>
              <a:cxnLst/>
              <a:rect l="l" t="t" r="r" b="b"/>
              <a:pathLst>
                <a:path w="2212233" h="151191">
                  <a:moveTo>
                    <a:pt x="0" y="0"/>
                  </a:moveTo>
                  <a:lnTo>
                    <a:pt x="2212233" y="0"/>
                  </a:lnTo>
                  <a:lnTo>
                    <a:pt x="2212233" y="151190"/>
                  </a:lnTo>
                  <a:lnTo>
                    <a:pt x="0" y="1511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DE"/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13345793" y="5530127"/>
              <a:ext cx="110169" cy="133899"/>
              <a:chOff x="0" y="0"/>
              <a:chExt cx="145809" cy="17721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398" y="0"/>
                <a:ext cx="136399" cy="177297"/>
              </a:xfrm>
              <a:custGeom>
                <a:avLst/>
                <a:gdLst/>
                <a:ahLst/>
                <a:cxnLst/>
                <a:rect l="l" t="t" r="r" b="b"/>
                <a:pathLst>
                  <a:path w="136399" h="177297">
                    <a:moveTo>
                      <a:pt x="99060" y="51945"/>
                    </a:moveTo>
                    <a:cubicBezTo>
                      <a:pt x="98425" y="45213"/>
                      <a:pt x="95504" y="39879"/>
                      <a:pt x="90424" y="36069"/>
                    </a:cubicBezTo>
                    <a:cubicBezTo>
                      <a:pt x="85344" y="32259"/>
                      <a:pt x="78359" y="30481"/>
                      <a:pt x="69596" y="30481"/>
                    </a:cubicBezTo>
                    <a:cubicBezTo>
                      <a:pt x="63627" y="30481"/>
                      <a:pt x="58674" y="31370"/>
                      <a:pt x="54483" y="33021"/>
                    </a:cubicBezTo>
                    <a:cubicBezTo>
                      <a:pt x="50292" y="34672"/>
                      <a:pt x="47244" y="36958"/>
                      <a:pt x="45085" y="39879"/>
                    </a:cubicBezTo>
                    <a:cubicBezTo>
                      <a:pt x="42926" y="42800"/>
                      <a:pt x="41910" y="46102"/>
                      <a:pt x="41910" y="49785"/>
                    </a:cubicBezTo>
                    <a:cubicBezTo>
                      <a:pt x="41783" y="52834"/>
                      <a:pt x="42418" y="55628"/>
                      <a:pt x="43815" y="57914"/>
                    </a:cubicBezTo>
                    <a:cubicBezTo>
                      <a:pt x="45212" y="60200"/>
                      <a:pt x="47244" y="62232"/>
                      <a:pt x="49784" y="63883"/>
                    </a:cubicBezTo>
                    <a:cubicBezTo>
                      <a:pt x="52324" y="65534"/>
                      <a:pt x="55245" y="66931"/>
                      <a:pt x="58547" y="68201"/>
                    </a:cubicBezTo>
                    <a:cubicBezTo>
                      <a:pt x="61849" y="69471"/>
                      <a:pt x="65405" y="70360"/>
                      <a:pt x="69215" y="71249"/>
                    </a:cubicBezTo>
                    <a:lnTo>
                      <a:pt x="84709" y="74932"/>
                    </a:lnTo>
                    <a:cubicBezTo>
                      <a:pt x="92202" y="76583"/>
                      <a:pt x="99187" y="78869"/>
                      <a:pt x="105410" y="81663"/>
                    </a:cubicBezTo>
                    <a:cubicBezTo>
                      <a:pt x="111633" y="84458"/>
                      <a:pt x="117094" y="87887"/>
                      <a:pt x="121793" y="92078"/>
                    </a:cubicBezTo>
                    <a:cubicBezTo>
                      <a:pt x="126493" y="96269"/>
                      <a:pt x="129922" y="100968"/>
                      <a:pt x="132462" y="106556"/>
                    </a:cubicBezTo>
                    <a:cubicBezTo>
                      <a:pt x="135002" y="112144"/>
                      <a:pt x="136399" y="118495"/>
                      <a:pt x="136399" y="125607"/>
                    </a:cubicBezTo>
                    <a:cubicBezTo>
                      <a:pt x="136399" y="136148"/>
                      <a:pt x="133605" y="145292"/>
                      <a:pt x="128271" y="153040"/>
                    </a:cubicBezTo>
                    <a:cubicBezTo>
                      <a:pt x="122936" y="160787"/>
                      <a:pt x="115316" y="166756"/>
                      <a:pt x="105410" y="170947"/>
                    </a:cubicBezTo>
                    <a:cubicBezTo>
                      <a:pt x="95504" y="175138"/>
                      <a:pt x="83439" y="177297"/>
                      <a:pt x="69469" y="177297"/>
                    </a:cubicBezTo>
                    <a:cubicBezTo>
                      <a:pt x="55499" y="177297"/>
                      <a:pt x="43434" y="175138"/>
                      <a:pt x="33147" y="170947"/>
                    </a:cubicBezTo>
                    <a:cubicBezTo>
                      <a:pt x="22860" y="166756"/>
                      <a:pt x="14859" y="160406"/>
                      <a:pt x="9017" y="152024"/>
                    </a:cubicBezTo>
                    <a:cubicBezTo>
                      <a:pt x="3175" y="143641"/>
                      <a:pt x="254" y="133100"/>
                      <a:pt x="0" y="120654"/>
                    </a:cubicBezTo>
                    <a:lnTo>
                      <a:pt x="35306" y="120654"/>
                    </a:lnTo>
                    <a:cubicBezTo>
                      <a:pt x="35687" y="126496"/>
                      <a:pt x="37338" y="131322"/>
                      <a:pt x="40259" y="135132"/>
                    </a:cubicBezTo>
                    <a:cubicBezTo>
                      <a:pt x="43180" y="138942"/>
                      <a:pt x="47244" y="141863"/>
                      <a:pt x="52070" y="143768"/>
                    </a:cubicBezTo>
                    <a:cubicBezTo>
                      <a:pt x="56896" y="145673"/>
                      <a:pt x="62738" y="146689"/>
                      <a:pt x="68961" y="146689"/>
                    </a:cubicBezTo>
                    <a:cubicBezTo>
                      <a:pt x="75184" y="146689"/>
                      <a:pt x="80518" y="145800"/>
                      <a:pt x="85090" y="144022"/>
                    </a:cubicBezTo>
                    <a:cubicBezTo>
                      <a:pt x="89662" y="142244"/>
                      <a:pt x="93218" y="139704"/>
                      <a:pt x="95758" y="136529"/>
                    </a:cubicBezTo>
                    <a:cubicBezTo>
                      <a:pt x="98298" y="133354"/>
                      <a:pt x="99568" y="129671"/>
                      <a:pt x="99568" y="125480"/>
                    </a:cubicBezTo>
                    <a:cubicBezTo>
                      <a:pt x="99568" y="121670"/>
                      <a:pt x="98425" y="118368"/>
                      <a:pt x="96139" y="115700"/>
                    </a:cubicBezTo>
                    <a:cubicBezTo>
                      <a:pt x="93853" y="113033"/>
                      <a:pt x="90551" y="110874"/>
                      <a:pt x="86233" y="108969"/>
                    </a:cubicBezTo>
                    <a:cubicBezTo>
                      <a:pt x="81915" y="107064"/>
                      <a:pt x="76581" y="105413"/>
                      <a:pt x="70358" y="103889"/>
                    </a:cubicBezTo>
                    <a:lnTo>
                      <a:pt x="51562" y="99190"/>
                    </a:lnTo>
                    <a:cubicBezTo>
                      <a:pt x="36957" y="95634"/>
                      <a:pt x="25527" y="90173"/>
                      <a:pt x="17145" y="82552"/>
                    </a:cubicBezTo>
                    <a:cubicBezTo>
                      <a:pt x="8763" y="74932"/>
                      <a:pt x="4572" y="64899"/>
                      <a:pt x="4572" y="52199"/>
                    </a:cubicBezTo>
                    <a:cubicBezTo>
                      <a:pt x="4572" y="41784"/>
                      <a:pt x="7239" y="32640"/>
                      <a:pt x="12954" y="24893"/>
                    </a:cubicBezTo>
                    <a:cubicBezTo>
                      <a:pt x="18669" y="17146"/>
                      <a:pt x="26289" y="10922"/>
                      <a:pt x="36195" y="6604"/>
                    </a:cubicBezTo>
                    <a:cubicBezTo>
                      <a:pt x="46101" y="2286"/>
                      <a:pt x="57277" y="0"/>
                      <a:pt x="69850" y="0"/>
                    </a:cubicBezTo>
                    <a:cubicBezTo>
                      <a:pt x="82677" y="0"/>
                      <a:pt x="93853" y="2159"/>
                      <a:pt x="103378" y="6604"/>
                    </a:cubicBezTo>
                    <a:cubicBezTo>
                      <a:pt x="112903" y="11049"/>
                      <a:pt x="120396" y="17019"/>
                      <a:pt x="125731" y="24893"/>
                    </a:cubicBezTo>
                    <a:cubicBezTo>
                      <a:pt x="131065" y="32767"/>
                      <a:pt x="133859" y="41784"/>
                      <a:pt x="133986" y="51945"/>
                    </a:cubicBezTo>
                    <a:lnTo>
                      <a:pt x="99060" y="5194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DE"/>
              </a:p>
            </p:txBody>
          </p:sp>
        </p:grpSp>
        <p:sp>
          <p:nvSpPr>
            <p:cNvPr id="45" name="Freeform 45"/>
            <p:cNvSpPr/>
            <p:nvPr/>
          </p:nvSpPr>
          <p:spPr>
            <a:xfrm>
              <a:off x="8128046" y="7192734"/>
              <a:ext cx="6060330" cy="2378547"/>
            </a:xfrm>
            <a:custGeom>
              <a:avLst/>
              <a:gdLst/>
              <a:ahLst/>
              <a:cxnLst/>
              <a:rect l="l" t="t" r="r" b="b"/>
              <a:pathLst>
                <a:path w="6060330" h="2378547">
                  <a:moveTo>
                    <a:pt x="0" y="0"/>
                  </a:moveTo>
                  <a:lnTo>
                    <a:pt x="6060331" y="0"/>
                  </a:lnTo>
                  <a:lnTo>
                    <a:pt x="6060331" y="2378547"/>
                  </a:lnTo>
                  <a:lnTo>
                    <a:pt x="0" y="23785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DE"/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14101257" y="4865026"/>
              <a:ext cx="310854" cy="171706"/>
              <a:chOff x="0" y="0"/>
              <a:chExt cx="411417" cy="227254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3499" y="96648"/>
                <a:ext cx="257046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257046" h="33909">
                    <a:moveTo>
                      <a:pt x="16891" y="0"/>
                    </a:moveTo>
                    <a:lnTo>
                      <a:pt x="0" y="7620"/>
                    </a:lnTo>
                    <a:cubicBezTo>
                      <a:pt x="0" y="26289"/>
                      <a:pt x="7620" y="33909"/>
                      <a:pt x="16891" y="33909"/>
                    </a:cubicBezTo>
                    <a:lnTo>
                      <a:pt x="16891" y="0"/>
                    </a:lnTo>
                    <a:close/>
                    <a:moveTo>
                      <a:pt x="240156" y="33909"/>
                    </a:moveTo>
                    <a:lnTo>
                      <a:pt x="257046" y="26289"/>
                    </a:lnTo>
                    <a:cubicBezTo>
                      <a:pt x="257046" y="7620"/>
                      <a:pt x="249426" y="0"/>
                      <a:pt x="240156" y="0"/>
                    </a:cubicBezTo>
                    <a:lnTo>
                      <a:pt x="240156" y="33909"/>
                    </a:lnTo>
                    <a:close/>
                    <a:moveTo>
                      <a:pt x="16891" y="17018"/>
                    </a:moveTo>
                    <a:lnTo>
                      <a:pt x="16891" y="33909"/>
                    </a:lnTo>
                    <a:lnTo>
                      <a:pt x="42037" y="33909"/>
                    </a:lnTo>
                    <a:cubicBezTo>
                      <a:pt x="42418" y="33909"/>
                      <a:pt x="42545" y="33909"/>
                      <a:pt x="42672" y="33909"/>
                    </a:cubicBezTo>
                    <a:lnTo>
                      <a:pt x="67945" y="33909"/>
                    </a:lnTo>
                    <a:cubicBezTo>
                      <a:pt x="68326" y="33909"/>
                      <a:pt x="68453" y="33909"/>
                      <a:pt x="68580" y="33909"/>
                    </a:cubicBezTo>
                    <a:lnTo>
                      <a:pt x="93345" y="33909"/>
                    </a:lnTo>
                    <a:cubicBezTo>
                      <a:pt x="93599" y="33909"/>
                      <a:pt x="93853" y="33909"/>
                      <a:pt x="93980" y="33909"/>
                    </a:cubicBezTo>
                    <a:lnTo>
                      <a:pt x="119253" y="33909"/>
                    </a:lnTo>
                    <a:cubicBezTo>
                      <a:pt x="119507" y="33909"/>
                      <a:pt x="119761" y="33909"/>
                      <a:pt x="119888" y="33909"/>
                    </a:cubicBezTo>
                    <a:lnTo>
                      <a:pt x="144779" y="33909"/>
                    </a:lnTo>
                    <a:cubicBezTo>
                      <a:pt x="145033" y="33909"/>
                      <a:pt x="145160" y="33909"/>
                      <a:pt x="145287" y="33909"/>
                    </a:cubicBezTo>
                    <a:lnTo>
                      <a:pt x="170433" y="33909"/>
                    </a:lnTo>
                    <a:cubicBezTo>
                      <a:pt x="170687" y="33909"/>
                      <a:pt x="170814" y="33909"/>
                      <a:pt x="170941" y="33909"/>
                    </a:cubicBezTo>
                    <a:lnTo>
                      <a:pt x="195960" y="33909"/>
                    </a:lnTo>
                    <a:cubicBezTo>
                      <a:pt x="196214" y="33909"/>
                      <a:pt x="196341" y="33909"/>
                      <a:pt x="196468" y="33909"/>
                    </a:cubicBezTo>
                    <a:lnTo>
                      <a:pt x="221614" y="33909"/>
                    </a:lnTo>
                    <a:cubicBezTo>
                      <a:pt x="221868" y="33909"/>
                      <a:pt x="221995" y="33909"/>
                      <a:pt x="222122" y="33909"/>
                    </a:cubicBezTo>
                    <a:lnTo>
                      <a:pt x="239902" y="33909"/>
                    </a:lnTo>
                    <a:lnTo>
                      <a:pt x="240029" y="17018"/>
                    </a:lnTo>
                    <a:lnTo>
                      <a:pt x="240029" y="0"/>
                    </a:lnTo>
                    <a:lnTo>
                      <a:pt x="215010" y="0"/>
                    </a:lnTo>
                    <a:cubicBezTo>
                      <a:pt x="214756" y="0"/>
                      <a:pt x="214629" y="0"/>
                      <a:pt x="214502" y="0"/>
                    </a:cubicBezTo>
                    <a:lnTo>
                      <a:pt x="189356" y="0"/>
                    </a:lnTo>
                    <a:cubicBezTo>
                      <a:pt x="189102" y="0"/>
                      <a:pt x="188975" y="0"/>
                      <a:pt x="188848" y="0"/>
                    </a:cubicBezTo>
                    <a:lnTo>
                      <a:pt x="163829" y="0"/>
                    </a:lnTo>
                    <a:cubicBezTo>
                      <a:pt x="163575" y="0"/>
                      <a:pt x="163448" y="0"/>
                      <a:pt x="163321" y="0"/>
                    </a:cubicBezTo>
                    <a:lnTo>
                      <a:pt x="138175" y="0"/>
                    </a:lnTo>
                    <a:cubicBezTo>
                      <a:pt x="137921" y="0"/>
                      <a:pt x="137794" y="0"/>
                      <a:pt x="137540" y="0"/>
                    </a:cubicBezTo>
                    <a:lnTo>
                      <a:pt x="112649" y="0"/>
                    </a:lnTo>
                    <a:cubicBezTo>
                      <a:pt x="112395" y="0"/>
                      <a:pt x="112141" y="0"/>
                      <a:pt x="112014" y="0"/>
                    </a:cubicBezTo>
                    <a:lnTo>
                      <a:pt x="86995" y="0"/>
                    </a:lnTo>
                    <a:cubicBezTo>
                      <a:pt x="86614" y="0"/>
                      <a:pt x="86487" y="0"/>
                      <a:pt x="86360" y="0"/>
                    </a:cubicBezTo>
                    <a:lnTo>
                      <a:pt x="61341" y="0"/>
                    </a:lnTo>
                    <a:cubicBezTo>
                      <a:pt x="60960" y="0"/>
                      <a:pt x="60833" y="0"/>
                      <a:pt x="60706" y="0"/>
                    </a:cubicBezTo>
                    <a:lnTo>
                      <a:pt x="35687" y="0"/>
                    </a:lnTo>
                    <a:cubicBezTo>
                      <a:pt x="35306" y="0"/>
                      <a:pt x="35179" y="0"/>
                      <a:pt x="35052" y="0"/>
                    </a:cubicBezTo>
                    <a:lnTo>
                      <a:pt x="17145" y="0"/>
                    </a:lnTo>
                    <a:lnTo>
                      <a:pt x="16891" y="1701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DE"/>
              </a:p>
            </p:txBody>
          </p:sp>
          <p:sp>
            <p:nvSpPr>
              <p:cNvPr id="48" name="Freeform 48"/>
              <p:cNvSpPr/>
              <p:nvPr/>
            </p:nvSpPr>
            <p:spPr>
              <a:xfrm>
                <a:off x="206611" y="63484"/>
                <a:ext cx="141366" cy="100109"/>
              </a:xfrm>
              <a:custGeom>
                <a:avLst/>
                <a:gdLst/>
                <a:ahLst/>
                <a:cxnLst/>
                <a:rect l="l" t="t" r="r" b="b"/>
                <a:pathLst>
                  <a:path w="141366" h="100109">
                    <a:moveTo>
                      <a:pt x="23384" y="1287"/>
                    </a:moveTo>
                    <a:cubicBezTo>
                      <a:pt x="14748" y="-2270"/>
                      <a:pt x="4842" y="1795"/>
                      <a:pt x="1286" y="10431"/>
                    </a:cubicBezTo>
                    <a:cubicBezTo>
                      <a:pt x="-2270" y="19067"/>
                      <a:pt x="1794" y="28973"/>
                      <a:pt x="10430" y="32529"/>
                    </a:cubicBezTo>
                    <a:lnTo>
                      <a:pt x="16907" y="16908"/>
                    </a:lnTo>
                    <a:lnTo>
                      <a:pt x="23384" y="1287"/>
                    </a:lnTo>
                    <a:close/>
                    <a:moveTo>
                      <a:pt x="97044" y="50182"/>
                    </a:moveTo>
                    <a:lnTo>
                      <a:pt x="103520" y="65803"/>
                    </a:lnTo>
                    <a:lnTo>
                      <a:pt x="141366" y="50182"/>
                    </a:lnTo>
                    <a:lnTo>
                      <a:pt x="103520" y="34434"/>
                    </a:lnTo>
                    <a:lnTo>
                      <a:pt x="97044" y="50055"/>
                    </a:lnTo>
                    <a:close/>
                    <a:moveTo>
                      <a:pt x="10430" y="67581"/>
                    </a:moveTo>
                    <a:cubicBezTo>
                      <a:pt x="1794" y="71137"/>
                      <a:pt x="-2270" y="81043"/>
                      <a:pt x="1286" y="89679"/>
                    </a:cubicBezTo>
                    <a:cubicBezTo>
                      <a:pt x="4842" y="98315"/>
                      <a:pt x="14748" y="102379"/>
                      <a:pt x="23384" y="98823"/>
                    </a:cubicBezTo>
                    <a:lnTo>
                      <a:pt x="16907" y="83202"/>
                    </a:lnTo>
                    <a:lnTo>
                      <a:pt x="10430" y="67581"/>
                    </a:lnTo>
                    <a:close/>
                    <a:moveTo>
                      <a:pt x="16907" y="16908"/>
                    </a:moveTo>
                    <a:lnTo>
                      <a:pt x="10430" y="32529"/>
                    </a:lnTo>
                    <a:lnTo>
                      <a:pt x="90567" y="65676"/>
                    </a:lnTo>
                    <a:lnTo>
                      <a:pt x="97044" y="50055"/>
                    </a:lnTo>
                    <a:lnTo>
                      <a:pt x="103520" y="34434"/>
                    </a:lnTo>
                    <a:lnTo>
                      <a:pt x="23384" y="1287"/>
                    </a:lnTo>
                    <a:lnTo>
                      <a:pt x="16907" y="16908"/>
                    </a:lnTo>
                    <a:close/>
                    <a:moveTo>
                      <a:pt x="97044" y="50055"/>
                    </a:moveTo>
                    <a:lnTo>
                      <a:pt x="90567" y="34434"/>
                    </a:lnTo>
                    <a:lnTo>
                      <a:pt x="10430" y="67581"/>
                    </a:lnTo>
                    <a:lnTo>
                      <a:pt x="16907" y="83202"/>
                    </a:lnTo>
                    <a:lnTo>
                      <a:pt x="23384" y="98823"/>
                    </a:lnTo>
                    <a:lnTo>
                      <a:pt x="103520" y="65676"/>
                    </a:lnTo>
                    <a:lnTo>
                      <a:pt x="97044" y="5005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DE"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4746542" y="5244999"/>
              <a:ext cx="348364" cy="262261"/>
              <a:chOff x="0" y="0"/>
              <a:chExt cx="461061" cy="347104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3429" y="0"/>
                <a:ext cx="457583" cy="347091"/>
              </a:xfrm>
              <a:custGeom>
                <a:avLst/>
                <a:gdLst/>
                <a:ahLst/>
                <a:cxnLst/>
                <a:rect l="l" t="t" r="r" b="b"/>
                <a:pathLst>
                  <a:path w="457583" h="347091">
                    <a:moveTo>
                      <a:pt x="57912" y="0"/>
                    </a:moveTo>
                    <a:lnTo>
                      <a:pt x="89154" y="98298"/>
                    </a:lnTo>
                    <a:lnTo>
                      <a:pt x="90297" y="98298"/>
                    </a:lnTo>
                    <a:lnTo>
                      <a:pt x="121667" y="0"/>
                    </a:lnTo>
                    <a:lnTo>
                      <a:pt x="152020" y="0"/>
                    </a:lnTo>
                    <a:lnTo>
                      <a:pt x="107443" y="129286"/>
                    </a:lnTo>
                    <a:lnTo>
                      <a:pt x="72136" y="129286"/>
                    </a:lnTo>
                    <a:lnTo>
                      <a:pt x="27559" y="0"/>
                    </a:lnTo>
                    <a:lnTo>
                      <a:pt x="57912" y="0"/>
                    </a:lnTo>
                    <a:close/>
                    <a:moveTo>
                      <a:pt x="200407" y="131191"/>
                    </a:moveTo>
                    <a:cubicBezTo>
                      <a:pt x="190374" y="131191"/>
                      <a:pt x="181865" y="129159"/>
                      <a:pt x="174626" y="125095"/>
                    </a:cubicBezTo>
                    <a:cubicBezTo>
                      <a:pt x="167387" y="121031"/>
                      <a:pt x="161926" y="115189"/>
                      <a:pt x="158116" y="107823"/>
                    </a:cubicBezTo>
                    <a:cubicBezTo>
                      <a:pt x="154306" y="100457"/>
                      <a:pt x="152274" y="91440"/>
                      <a:pt x="152274" y="81280"/>
                    </a:cubicBezTo>
                    <a:cubicBezTo>
                      <a:pt x="152274" y="71247"/>
                      <a:pt x="154179" y="62611"/>
                      <a:pt x="158116" y="54991"/>
                    </a:cubicBezTo>
                    <a:cubicBezTo>
                      <a:pt x="162053" y="47371"/>
                      <a:pt x="167387" y="41529"/>
                      <a:pt x="174372" y="37338"/>
                    </a:cubicBezTo>
                    <a:cubicBezTo>
                      <a:pt x="181357" y="33147"/>
                      <a:pt x="189739" y="30988"/>
                      <a:pt x="199264" y="30988"/>
                    </a:cubicBezTo>
                    <a:cubicBezTo>
                      <a:pt x="205614" y="30988"/>
                      <a:pt x="211583" y="32004"/>
                      <a:pt x="217171" y="34036"/>
                    </a:cubicBezTo>
                    <a:cubicBezTo>
                      <a:pt x="222759" y="36068"/>
                      <a:pt x="227585" y="39116"/>
                      <a:pt x="231649" y="43180"/>
                    </a:cubicBezTo>
                    <a:cubicBezTo>
                      <a:pt x="235713" y="47244"/>
                      <a:pt x="239015" y="52451"/>
                      <a:pt x="241428" y="58547"/>
                    </a:cubicBezTo>
                    <a:cubicBezTo>
                      <a:pt x="243841" y="64643"/>
                      <a:pt x="244857" y="71882"/>
                      <a:pt x="244857" y="80137"/>
                    </a:cubicBezTo>
                    <a:lnTo>
                      <a:pt x="244857" y="87503"/>
                    </a:lnTo>
                    <a:lnTo>
                      <a:pt x="162942" y="87503"/>
                    </a:lnTo>
                    <a:lnTo>
                      <a:pt x="162942" y="70993"/>
                    </a:lnTo>
                    <a:lnTo>
                      <a:pt x="219457" y="70993"/>
                    </a:lnTo>
                    <a:cubicBezTo>
                      <a:pt x="219457" y="67183"/>
                      <a:pt x="218568" y="63627"/>
                      <a:pt x="216917" y="60706"/>
                    </a:cubicBezTo>
                    <a:cubicBezTo>
                      <a:pt x="215266" y="57785"/>
                      <a:pt x="212853" y="55372"/>
                      <a:pt x="209932" y="53721"/>
                    </a:cubicBezTo>
                    <a:cubicBezTo>
                      <a:pt x="207011" y="52070"/>
                      <a:pt x="203582" y="51181"/>
                      <a:pt x="199645" y="51181"/>
                    </a:cubicBezTo>
                    <a:cubicBezTo>
                      <a:pt x="195581" y="51181"/>
                      <a:pt x="191898" y="52070"/>
                      <a:pt x="188723" y="53975"/>
                    </a:cubicBezTo>
                    <a:cubicBezTo>
                      <a:pt x="185548" y="55880"/>
                      <a:pt x="183135" y="58293"/>
                      <a:pt x="181357" y="61468"/>
                    </a:cubicBezTo>
                    <a:cubicBezTo>
                      <a:pt x="179579" y="64643"/>
                      <a:pt x="178690" y="68072"/>
                      <a:pt x="178690" y="71882"/>
                    </a:cubicBezTo>
                    <a:lnTo>
                      <a:pt x="178690" y="87757"/>
                    </a:lnTo>
                    <a:cubicBezTo>
                      <a:pt x="178690" y="92583"/>
                      <a:pt x="179579" y="96647"/>
                      <a:pt x="181357" y="100203"/>
                    </a:cubicBezTo>
                    <a:cubicBezTo>
                      <a:pt x="183135" y="103759"/>
                      <a:pt x="185675" y="106426"/>
                      <a:pt x="188977" y="108331"/>
                    </a:cubicBezTo>
                    <a:cubicBezTo>
                      <a:pt x="192279" y="110236"/>
                      <a:pt x="196216" y="111125"/>
                      <a:pt x="200661" y="111125"/>
                    </a:cubicBezTo>
                    <a:cubicBezTo>
                      <a:pt x="203709" y="111125"/>
                      <a:pt x="206376" y="110744"/>
                      <a:pt x="208916" y="109855"/>
                    </a:cubicBezTo>
                    <a:cubicBezTo>
                      <a:pt x="211456" y="108966"/>
                      <a:pt x="213488" y="107696"/>
                      <a:pt x="215266" y="106045"/>
                    </a:cubicBezTo>
                    <a:cubicBezTo>
                      <a:pt x="217044" y="104394"/>
                      <a:pt x="218441" y="102362"/>
                      <a:pt x="219330" y="99822"/>
                    </a:cubicBezTo>
                    <a:lnTo>
                      <a:pt x="244222" y="101473"/>
                    </a:lnTo>
                    <a:cubicBezTo>
                      <a:pt x="242952" y="107442"/>
                      <a:pt x="240412" y="112649"/>
                      <a:pt x="236475" y="117094"/>
                    </a:cubicBezTo>
                    <a:cubicBezTo>
                      <a:pt x="232538" y="121539"/>
                      <a:pt x="227585" y="124968"/>
                      <a:pt x="221489" y="127508"/>
                    </a:cubicBezTo>
                    <a:cubicBezTo>
                      <a:pt x="215393" y="130048"/>
                      <a:pt x="208281" y="131191"/>
                      <a:pt x="200280" y="131191"/>
                    </a:cubicBezTo>
                    <a:close/>
                    <a:moveTo>
                      <a:pt x="262383" y="129286"/>
                    </a:moveTo>
                    <a:lnTo>
                      <a:pt x="262383" y="32385"/>
                    </a:lnTo>
                    <a:lnTo>
                      <a:pt x="288418" y="32385"/>
                    </a:lnTo>
                    <a:lnTo>
                      <a:pt x="288418" y="49276"/>
                    </a:lnTo>
                    <a:lnTo>
                      <a:pt x="289434" y="49276"/>
                    </a:lnTo>
                    <a:cubicBezTo>
                      <a:pt x="291212" y="43307"/>
                      <a:pt x="294133" y="38735"/>
                      <a:pt x="298324" y="35687"/>
                    </a:cubicBezTo>
                    <a:cubicBezTo>
                      <a:pt x="302515" y="32639"/>
                      <a:pt x="307341" y="30988"/>
                      <a:pt x="312675" y="30988"/>
                    </a:cubicBezTo>
                    <a:cubicBezTo>
                      <a:pt x="314072" y="30988"/>
                      <a:pt x="315469" y="31115"/>
                      <a:pt x="316993" y="31242"/>
                    </a:cubicBezTo>
                    <a:cubicBezTo>
                      <a:pt x="318517" y="31369"/>
                      <a:pt x="319914" y="31623"/>
                      <a:pt x="321058" y="31877"/>
                    </a:cubicBezTo>
                    <a:lnTo>
                      <a:pt x="321058" y="55753"/>
                    </a:lnTo>
                    <a:cubicBezTo>
                      <a:pt x="319787" y="55372"/>
                      <a:pt x="318009" y="54991"/>
                      <a:pt x="315850" y="54737"/>
                    </a:cubicBezTo>
                    <a:cubicBezTo>
                      <a:pt x="313691" y="54483"/>
                      <a:pt x="311532" y="54356"/>
                      <a:pt x="309754" y="54356"/>
                    </a:cubicBezTo>
                    <a:cubicBezTo>
                      <a:pt x="305817" y="54356"/>
                      <a:pt x="302261" y="55245"/>
                      <a:pt x="299086" y="56896"/>
                    </a:cubicBezTo>
                    <a:cubicBezTo>
                      <a:pt x="295911" y="58547"/>
                      <a:pt x="293625" y="60960"/>
                      <a:pt x="291720" y="64008"/>
                    </a:cubicBezTo>
                    <a:cubicBezTo>
                      <a:pt x="289815" y="67056"/>
                      <a:pt x="289053" y="70485"/>
                      <a:pt x="289053" y="74549"/>
                    </a:cubicBezTo>
                    <a:lnTo>
                      <a:pt x="289053" y="129413"/>
                    </a:lnTo>
                    <a:lnTo>
                      <a:pt x="262383" y="129413"/>
                    </a:lnTo>
                    <a:close/>
                    <a:moveTo>
                      <a:pt x="354713" y="165735"/>
                    </a:moveTo>
                    <a:cubicBezTo>
                      <a:pt x="351284" y="165735"/>
                      <a:pt x="348109" y="165481"/>
                      <a:pt x="345061" y="164973"/>
                    </a:cubicBezTo>
                    <a:cubicBezTo>
                      <a:pt x="342013" y="164465"/>
                      <a:pt x="339727" y="163830"/>
                      <a:pt x="337695" y="163068"/>
                    </a:cubicBezTo>
                    <a:lnTo>
                      <a:pt x="343791" y="143002"/>
                    </a:lnTo>
                    <a:cubicBezTo>
                      <a:pt x="346966" y="144018"/>
                      <a:pt x="349760" y="144526"/>
                      <a:pt x="352300" y="144526"/>
                    </a:cubicBezTo>
                    <a:cubicBezTo>
                      <a:pt x="354840" y="144526"/>
                      <a:pt x="357126" y="144018"/>
                      <a:pt x="358904" y="142748"/>
                    </a:cubicBezTo>
                    <a:cubicBezTo>
                      <a:pt x="360682" y="141478"/>
                      <a:pt x="362333" y="139319"/>
                      <a:pt x="363476" y="136271"/>
                    </a:cubicBezTo>
                    <a:lnTo>
                      <a:pt x="365000" y="132207"/>
                    </a:lnTo>
                    <a:lnTo>
                      <a:pt x="330202" y="32385"/>
                    </a:lnTo>
                    <a:lnTo>
                      <a:pt x="358523" y="32385"/>
                    </a:lnTo>
                    <a:lnTo>
                      <a:pt x="378589" y="103632"/>
                    </a:lnTo>
                    <a:lnTo>
                      <a:pt x="379605" y="103632"/>
                    </a:lnTo>
                    <a:lnTo>
                      <a:pt x="399925" y="32385"/>
                    </a:lnTo>
                    <a:lnTo>
                      <a:pt x="428373" y="32385"/>
                    </a:lnTo>
                    <a:lnTo>
                      <a:pt x="390654" y="139827"/>
                    </a:lnTo>
                    <a:cubicBezTo>
                      <a:pt x="388876" y="145034"/>
                      <a:pt x="386336" y="149606"/>
                      <a:pt x="383288" y="153416"/>
                    </a:cubicBezTo>
                    <a:cubicBezTo>
                      <a:pt x="380240" y="157226"/>
                      <a:pt x="376303" y="160401"/>
                      <a:pt x="371604" y="162433"/>
                    </a:cubicBezTo>
                    <a:cubicBezTo>
                      <a:pt x="366905" y="164465"/>
                      <a:pt x="361190" y="165608"/>
                      <a:pt x="354586" y="165608"/>
                    </a:cubicBezTo>
                    <a:close/>
                    <a:moveTo>
                      <a:pt x="26416" y="345186"/>
                    </a:moveTo>
                    <a:lnTo>
                      <a:pt x="0" y="248285"/>
                    </a:lnTo>
                    <a:lnTo>
                      <a:pt x="27305" y="248285"/>
                    </a:lnTo>
                    <a:lnTo>
                      <a:pt x="42291" y="313436"/>
                    </a:lnTo>
                    <a:lnTo>
                      <a:pt x="43180" y="313436"/>
                    </a:lnTo>
                    <a:lnTo>
                      <a:pt x="58801" y="248285"/>
                    </a:lnTo>
                    <a:lnTo>
                      <a:pt x="85471" y="248285"/>
                    </a:lnTo>
                    <a:lnTo>
                      <a:pt x="101346" y="313055"/>
                    </a:lnTo>
                    <a:lnTo>
                      <a:pt x="102108" y="313055"/>
                    </a:lnTo>
                    <a:lnTo>
                      <a:pt x="116841" y="248285"/>
                    </a:lnTo>
                    <a:lnTo>
                      <a:pt x="144019" y="248285"/>
                    </a:lnTo>
                    <a:lnTo>
                      <a:pt x="117857" y="345186"/>
                    </a:lnTo>
                    <a:lnTo>
                      <a:pt x="89408" y="345186"/>
                    </a:lnTo>
                    <a:lnTo>
                      <a:pt x="72771" y="284226"/>
                    </a:lnTo>
                    <a:lnTo>
                      <a:pt x="71501" y="284226"/>
                    </a:lnTo>
                    <a:lnTo>
                      <a:pt x="54864" y="345186"/>
                    </a:lnTo>
                    <a:lnTo>
                      <a:pt x="26416" y="345186"/>
                    </a:lnTo>
                    <a:close/>
                    <a:moveTo>
                      <a:pt x="200407" y="347091"/>
                    </a:moveTo>
                    <a:cubicBezTo>
                      <a:pt x="190374" y="347091"/>
                      <a:pt x="181865" y="345059"/>
                      <a:pt x="174626" y="340995"/>
                    </a:cubicBezTo>
                    <a:cubicBezTo>
                      <a:pt x="167387" y="336931"/>
                      <a:pt x="161926" y="331089"/>
                      <a:pt x="158116" y="323723"/>
                    </a:cubicBezTo>
                    <a:cubicBezTo>
                      <a:pt x="154306" y="316357"/>
                      <a:pt x="152274" y="307340"/>
                      <a:pt x="152274" y="297180"/>
                    </a:cubicBezTo>
                    <a:cubicBezTo>
                      <a:pt x="152274" y="287147"/>
                      <a:pt x="154179" y="278511"/>
                      <a:pt x="158116" y="270891"/>
                    </a:cubicBezTo>
                    <a:cubicBezTo>
                      <a:pt x="162053" y="263271"/>
                      <a:pt x="167387" y="257429"/>
                      <a:pt x="174499" y="253238"/>
                    </a:cubicBezTo>
                    <a:cubicBezTo>
                      <a:pt x="181611" y="249047"/>
                      <a:pt x="189866" y="246888"/>
                      <a:pt x="199391" y="246888"/>
                    </a:cubicBezTo>
                    <a:cubicBezTo>
                      <a:pt x="205741" y="246888"/>
                      <a:pt x="211710" y="247904"/>
                      <a:pt x="217298" y="249936"/>
                    </a:cubicBezTo>
                    <a:cubicBezTo>
                      <a:pt x="222886" y="251968"/>
                      <a:pt x="227712" y="255016"/>
                      <a:pt x="231776" y="259080"/>
                    </a:cubicBezTo>
                    <a:cubicBezTo>
                      <a:pt x="235840" y="263144"/>
                      <a:pt x="239142" y="268351"/>
                      <a:pt x="241555" y="274447"/>
                    </a:cubicBezTo>
                    <a:cubicBezTo>
                      <a:pt x="243968" y="280543"/>
                      <a:pt x="244984" y="287782"/>
                      <a:pt x="244984" y="296037"/>
                    </a:cubicBezTo>
                    <a:lnTo>
                      <a:pt x="244984" y="303403"/>
                    </a:lnTo>
                    <a:lnTo>
                      <a:pt x="162942" y="303403"/>
                    </a:lnTo>
                    <a:lnTo>
                      <a:pt x="162942" y="286893"/>
                    </a:lnTo>
                    <a:lnTo>
                      <a:pt x="219457" y="286893"/>
                    </a:lnTo>
                    <a:cubicBezTo>
                      <a:pt x="219457" y="283083"/>
                      <a:pt x="218568" y="279527"/>
                      <a:pt x="216917" y="276606"/>
                    </a:cubicBezTo>
                    <a:cubicBezTo>
                      <a:pt x="215266" y="273685"/>
                      <a:pt x="212853" y="271272"/>
                      <a:pt x="209932" y="269621"/>
                    </a:cubicBezTo>
                    <a:cubicBezTo>
                      <a:pt x="207011" y="267970"/>
                      <a:pt x="203582" y="267081"/>
                      <a:pt x="199645" y="267081"/>
                    </a:cubicBezTo>
                    <a:cubicBezTo>
                      <a:pt x="195581" y="267081"/>
                      <a:pt x="191898" y="267970"/>
                      <a:pt x="188723" y="269875"/>
                    </a:cubicBezTo>
                    <a:cubicBezTo>
                      <a:pt x="185548" y="271780"/>
                      <a:pt x="183135" y="274193"/>
                      <a:pt x="181357" y="277368"/>
                    </a:cubicBezTo>
                    <a:cubicBezTo>
                      <a:pt x="179579" y="280543"/>
                      <a:pt x="178690" y="283972"/>
                      <a:pt x="178690" y="287782"/>
                    </a:cubicBezTo>
                    <a:lnTo>
                      <a:pt x="178690" y="303657"/>
                    </a:lnTo>
                    <a:cubicBezTo>
                      <a:pt x="178690" y="308483"/>
                      <a:pt x="179579" y="312547"/>
                      <a:pt x="181357" y="316103"/>
                    </a:cubicBezTo>
                    <a:cubicBezTo>
                      <a:pt x="183135" y="319659"/>
                      <a:pt x="185675" y="322326"/>
                      <a:pt x="188977" y="324231"/>
                    </a:cubicBezTo>
                    <a:cubicBezTo>
                      <a:pt x="192279" y="326136"/>
                      <a:pt x="196216" y="327025"/>
                      <a:pt x="200661" y="327025"/>
                    </a:cubicBezTo>
                    <a:cubicBezTo>
                      <a:pt x="203709" y="327025"/>
                      <a:pt x="206376" y="326644"/>
                      <a:pt x="208916" y="325755"/>
                    </a:cubicBezTo>
                    <a:cubicBezTo>
                      <a:pt x="211456" y="324866"/>
                      <a:pt x="213488" y="323596"/>
                      <a:pt x="215266" y="321945"/>
                    </a:cubicBezTo>
                    <a:cubicBezTo>
                      <a:pt x="217044" y="320294"/>
                      <a:pt x="218441" y="318262"/>
                      <a:pt x="219330" y="315722"/>
                    </a:cubicBezTo>
                    <a:lnTo>
                      <a:pt x="244222" y="317373"/>
                    </a:lnTo>
                    <a:cubicBezTo>
                      <a:pt x="242952" y="323342"/>
                      <a:pt x="240412" y="328549"/>
                      <a:pt x="236475" y="332994"/>
                    </a:cubicBezTo>
                    <a:cubicBezTo>
                      <a:pt x="232538" y="337439"/>
                      <a:pt x="227585" y="340868"/>
                      <a:pt x="221489" y="343408"/>
                    </a:cubicBezTo>
                    <a:cubicBezTo>
                      <a:pt x="215393" y="345948"/>
                      <a:pt x="208281" y="347091"/>
                      <a:pt x="200280" y="347091"/>
                    </a:cubicBezTo>
                    <a:close/>
                    <a:moveTo>
                      <a:pt x="289942" y="346964"/>
                    </a:moveTo>
                    <a:cubicBezTo>
                      <a:pt x="283719" y="346964"/>
                      <a:pt x="278258" y="345948"/>
                      <a:pt x="273432" y="343789"/>
                    </a:cubicBezTo>
                    <a:cubicBezTo>
                      <a:pt x="268606" y="341630"/>
                      <a:pt x="264796" y="338328"/>
                      <a:pt x="262002" y="334137"/>
                    </a:cubicBezTo>
                    <a:cubicBezTo>
                      <a:pt x="259208" y="329946"/>
                      <a:pt x="257811" y="324485"/>
                      <a:pt x="257811" y="318135"/>
                    </a:cubicBezTo>
                    <a:cubicBezTo>
                      <a:pt x="257811" y="312801"/>
                      <a:pt x="258827" y="308229"/>
                      <a:pt x="260732" y="304546"/>
                    </a:cubicBezTo>
                    <a:cubicBezTo>
                      <a:pt x="262637" y="300863"/>
                      <a:pt x="265431" y="297942"/>
                      <a:pt x="268860" y="295656"/>
                    </a:cubicBezTo>
                    <a:cubicBezTo>
                      <a:pt x="272289" y="293370"/>
                      <a:pt x="276099" y="291719"/>
                      <a:pt x="280417" y="290576"/>
                    </a:cubicBezTo>
                    <a:cubicBezTo>
                      <a:pt x="284735" y="289433"/>
                      <a:pt x="289434" y="288671"/>
                      <a:pt x="294133" y="288163"/>
                    </a:cubicBezTo>
                    <a:cubicBezTo>
                      <a:pt x="299721" y="287528"/>
                      <a:pt x="304293" y="287020"/>
                      <a:pt x="307722" y="286512"/>
                    </a:cubicBezTo>
                    <a:cubicBezTo>
                      <a:pt x="311151" y="286004"/>
                      <a:pt x="313691" y="285115"/>
                      <a:pt x="315215" y="284099"/>
                    </a:cubicBezTo>
                    <a:cubicBezTo>
                      <a:pt x="316739" y="283083"/>
                      <a:pt x="317501" y="281432"/>
                      <a:pt x="317501" y="279400"/>
                    </a:cubicBezTo>
                    <a:lnTo>
                      <a:pt x="317501" y="279019"/>
                    </a:lnTo>
                    <a:cubicBezTo>
                      <a:pt x="317501" y="275082"/>
                      <a:pt x="316231" y="271907"/>
                      <a:pt x="313691" y="269748"/>
                    </a:cubicBezTo>
                    <a:cubicBezTo>
                      <a:pt x="311151" y="267589"/>
                      <a:pt x="307722" y="266446"/>
                      <a:pt x="303023" y="266446"/>
                    </a:cubicBezTo>
                    <a:cubicBezTo>
                      <a:pt x="298197" y="266446"/>
                      <a:pt x="294387" y="267462"/>
                      <a:pt x="291466" y="269621"/>
                    </a:cubicBezTo>
                    <a:cubicBezTo>
                      <a:pt x="288545" y="271780"/>
                      <a:pt x="286767" y="274320"/>
                      <a:pt x="285751" y="277622"/>
                    </a:cubicBezTo>
                    <a:lnTo>
                      <a:pt x="260859" y="275590"/>
                    </a:lnTo>
                    <a:cubicBezTo>
                      <a:pt x="262129" y="269748"/>
                      <a:pt x="264542" y="264541"/>
                      <a:pt x="268352" y="260350"/>
                    </a:cubicBezTo>
                    <a:cubicBezTo>
                      <a:pt x="272162" y="256159"/>
                      <a:pt x="276861" y="252730"/>
                      <a:pt x="282703" y="250317"/>
                    </a:cubicBezTo>
                    <a:cubicBezTo>
                      <a:pt x="288545" y="247904"/>
                      <a:pt x="295403" y="246761"/>
                      <a:pt x="303150" y="246761"/>
                    </a:cubicBezTo>
                    <a:cubicBezTo>
                      <a:pt x="308484" y="246761"/>
                      <a:pt x="313691" y="247396"/>
                      <a:pt x="318644" y="248666"/>
                    </a:cubicBezTo>
                    <a:cubicBezTo>
                      <a:pt x="323598" y="249936"/>
                      <a:pt x="328043" y="251841"/>
                      <a:pt x="331853" y="254508"/>
                    </a:cubicBezTo>
                    <a:cubicBezTo>
                      <a:pt x="335663" y="257175"/>
                      <a:pt x="338838" y="260604"/>
                      <a:pt x="340997" y="264795"/>
                    </a:cubicBezTo>
                    <a:cubicBezTo>
                      <a:pt x="343156" y="268986"/>
                      <a:pt x="344299" y="273812"/>
                      <a:pt x="344299" y="279654"/>
                    </a:cubicBezTo>
                    <a:lnTo>
                      <a:pt x="344299" y="345059"/>
                    </a:lnTo>
                    <a:lnTo>
                      <a:pt x="319152" y="345059"/>
                    </a:lnTo>
                    <a:lnTo>
                      <a:pt x="319152" y="331724"/>
                    </a:lnTo>
                    <a:lnTo>
                      <a:pt x="318390" y="331724"/>
                    </a:lnTo>
                    <a:cubicBezTo>
                      <a:pt x="316866" y="334772"/>
                      <a:pt x="314707" y="337439"/>
                      <a:pt x="312167" y="339725"/>
                    </a:cubicBezTo>
                    <a:cubicBezTo>
                      <a:pt x="309627" y="342011"/>
                      <a:pt x="306452" y="343789"/>
                      <a:pt x="302769" y="345059"/>
                    </a:cubicBezTo>
                    <a:cubicBezTo>
                      <a:pt x="299086" y="346329"/>
                      <a:pt x="294895" y="346964"/>
                      <a:pt x="290069" y="346964"/>
                    </a:cubicBezTo>
                    <a:close/>
                    <a:moveTo>
                      <a:pt x="297816" y="328422"/>
                    </a:moveTo>
                    <a:cubicBezTo>
                      <a:pt x="301753" y="328422"/>
                      <a:pt x="305309" y="327660"/>
                      <a:pt x="308357" y="326136"/>
                    </a:cubicBezTo>
                    <a:cubicBezTo>
                      <a:pt x="311405" y="324612"/>
                      <a:pt x="313818" y="322453"/>
                      <a:pt x="315469" y="319659"/>
                    </a:cubicBezTo>
                    <a:cubicBezTo>
                      <a:pt x="317120" y="316865"/>
                      <a:pt x="318009" y="313944"/>
                      <a:pt x="318009" y="310515"/>
                    </a:cubicBezTo>
                    <a:lnTo>
                      <a:pt x="318009" y="300228"/>
                    </a:lnTo>
                    <a:cubicBezTo>
                      <a:pt x="317120" y="300736"/>
                      <a:pt x="315977" y="301244"/>
                      <a:pt x="314580" y="301752"/>
                    </a:cubicBezTo>
                    <a:cubicBezTo>
                      <a:pt x="313183" y="302260"/>
                      <a:pt x="311532" y="302514"/>
                      <a:pt x="309754" y="302895"/>
                    </a:cubicBezTo>
                    <a:cubicBezTo>
                      <a:pt x="307976" y="303276"/>
                      <a:pt x="306071" y="303530"/>
                      <a:pt x="304293" y="303784"/>
                    </a:cubicBezTo>
                    <a:cubicBezTo>
                      <a:pt x="302515" y="304038"/>
                      <a:pt x="300864" y="304292"/>
                      <a:pt x="299340" y="304419"/>
                    </a:cubicBezTo>
                    <a:cubicBezTo>
                      <a:pt x="296165" y="304927"/>
                      <a:pt x="293371" y="305562"/>
                      <a:pt x="291085" y="306578"/>
                    </a:cubicBezTo>
                    <a:cubicBezTo>
                      <a:pt x="288799" y="307594"/>
                      <a:pt x="286894" y="308991"/>
                      <a:pt x="285624" y="310642"/>
                    </a:cubicBezTo>
                    <a:cubicBezTo>
                      <a:pt x="284354" y="312293"/>
                      <a:pt x="283719" y="314452"/>
                      <a:pt x="283719" y="316992"/>
                    </a:cubicBezTo>
                    <a:cubicBezTo>
                      <a:pt x="283719" y="320675"/>
                      <a:pt x="284989" y="323469"/>
                      <a:pt x="287656" y="325374"/>
                    </a:cubicBezTo>
                    <a:cubicBezTo>
                      <a:pt x="290323" y="327279"/>
                      <a:pt x="293752" y="328168"/>
                      <a:pt x="297943" y="328168"/>
                    </a:cubicBezTo>
                    <a:close/>
                    <a:moveTo>
                      <a:pt x="390019" y="316992"/>
                    </a:moveTo>
                    <a:lnTo>
                      <a:pt x="390146" y="284734"/>
                    </a:lnTo>
                    <a:lnTo>
                      <a:pt x="394083" y="284734"/>
                    </a:lnTo>
                    <a:lnTo>
                      <a:pt x="425198" y="247904"/>
                    </a:lnTo>
                    <a:lnTo>
                      <a:pt x="456059" y="247904"/>
                    </a:lnTo>
                    <a:lnTo>
                      <a:pt x="414276" y="296672"/>
                    </a:lnTo>
                    <a:lnTo>
                      <a:pt x="407926" y="296672"/>
                    </a:lnTo>
                    <a:lnTo>
                      <a:pt x="390146" y="316992"/>
                    </a:lnTo>
                    <a:close/>
                    <a:moveTo>
                      <a:pt x="365762" y="344932"/>
                    </a:moveTo>
                    <a:lnTo>
                      <a:pt x="365762" y="215900"/>
                    </a:lnTo>
                    <a:lnTo>
                      <a:pt x="392686" y="215900"/>
                    </a:lnTo>
                    <a:lnTo>
                      <a:pt x="392686" y="345186"/>
                    </a:lnTo>
                    <a:lnTo>
                      <a:pt x="365508" y="345186"/>
                    </a:lnTo>
                    <a:close/>
                    <a:moveTo>
                      <a:pt x="426087" y="345186"/>
                    </a:moveTo>
                    <a:lnTo>
                      <a:pt x="397512" y="302895"/>
                    </a:lnTo>
                    <a:lnTo>
                      <a:pt x="415419" y="283845"/>
                    </a:lnTo>
                    <a:lnTo>
                      <a:pt x="457583" y="345059"/>
                    </a:lnTo>
                    <a:lnTo>
                      <a:pt x="426087" y="34505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DE"/>
              </a:p>
            </p:txBody>
          </p:sp>
        </p:grpSp>
        <p:sp>
          <p:nvSpPr>
            <p:cNvPr id="51" name="Freeform 51"/>
            <p:cNvSpPr/>
            <p:nvPr/>
          </p:nvSpPr>
          <p:spPr>
            <a:xfrm>
              <a:off x="15393920" y="5939606"/>
              <a:ext cx="993362" cy="185371"/>
            </a:xfrm>
            <a:custGeom>
              <a:avLst/>
              <a:gdLst/>
              <a:ahLst/>
              <a:cxnLst/>
              <a:rect l="l" t="t" r="r" b="b"/>
              <a:pathLst>
                <a:path w="993362" h="185371">
                  <a:moveTo>
                    <a:pt x="0" y="0"/>
                  </a:moveTo>
                  <a:lnTo>
                    <a:pt x="993361" y="0"/>
                  </a:lnTo>
                  <a:lnTo>
                    <a:pt x="993361" y="185371"/>
                  </a:lnTo>
                  <a:lnTo>
                    <a:pt x="0" y="185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DE"/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15472327" y="5245661"/>
              <a:ext cx="628378" cy="99134"/>
              <a:chOff x="0" y="0"/>
              <a:chExt cx="831660" cy="131204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11303" y="0"/>
                <a:ext cx="820679" cy="131318"/>
              </a:xfrm>
              <a:custGeom>
                <a:avLst/>
                <a:gdLst/>
                <a:ahLst/>
                <a:cxnLst/>
                <a:rect l="l" t="t" r="r" b="b"/>
                <a:pathLst>
                  <a:path w="820679" h="131318">
                    <a:moveTo>
                      <a:pt x="0" y="0"/>
                    </a:moveTo>
                    <a:lnTo>
                      <a:pt x="33655" y="0"/>
                    </a:lnTo>
                    <a:lnTo>
                      <a:pt x="69215" y="86868"/>
                    </a:lnTo>
                    <a:lnTo>
                      <a:pt x="70739" y="86868"/>
                    </a:lnTo>
                    <a:lnTo>
                      <a:pt x="106427" y="0"/>
                    </a:lnTo>
                    <a:lnTo>
                      <a:pt x="140082" y="0"/>
                    </a:lnTo>
                    <a:lnTo>
                      <a:pt x="140082" y="129286"/>
                    </a:lnTo>
                    <a:lnTo>
                      <a:pt x="113539" y="129286"/>
                    </a:lnTo>
                    <a:lnTo>
                      <a:pt x="113539" y="45085"/>
                    </a:lnTo>
                    <a:lnTo>
                      <a:pt x="112523" y="45085"/>
                    </a:lnTo>
                    <a:lnTo>
                      <a:pt x="78995" y="128651"/>
                    </a:lnTo>
                    <a:lnTo>
                      <a:pt x="60960" y="128651"/>
                    </a:lnTo>
                    <a:lnTo>
                      <a:pt x="27559" y="44831"/>
                    </a:lnTo>
                    <a:lnTo>
                      <a:pt x="26416" y="44831"/>
                    </a:lnTo>
                    <a:lnTo>
                      <a:pt x="26416" y="129286"/>
                    </a:lnTo>
                    <a:lnTo>
                      <a:pt x="0" y="129286"/>
                    </a:lnTo>
                    <a:lnTo>
                      <a:pt x="0" y="0"/>
                    </a:lnTo>
                    <a:close/>
                    <a:moveTo>
                      <a:pt x="205995" y="131191"/>
                    </a:moveTo>
                    <a:cubicBezTo>
                      <a:pt x="196216" y="131191"/>
                      <a:pt x="187707" y="129159"/>
                      <a:pt x="180595" y="124968"/>
                    </a:cubicBezTo>
                    <a:cubicBezTo>
                      <a:pt x="173483" y="120777"/>
                      <a:pt x="168022" y="114935"/>
                      <a:pt x="164085" y="107442"/>
                    </a:cubicBezTo>
                    <a:cubicBezTo>
                      <a:pt x="160148" y="99949"/>
                      <a:pt x="158243" y="91186"/>
                      <a:pt x="158243" y="81280"/>
                    </a:cubicBezTo>
                    <a:cubicBezTo>
                      <a:pt x="158243" y="71374"/>
                      <a:pt x="160148" y="62484"/>
                      <a:pt x="164085" y="54991"/>
                    </a:cubicBezTo>
                    <a:cubicBezTo>
                      <a:pt x="168022" y="47498"/>
                      <a:pt x="173483" y="41656"/>
                      <a:pt x="180595" y="37465"/>
                    </a:cubicBezTo>
                    <a:cubicBezTo>
                      <a:pt x="187707" y="33274"/>
                      <a:pt x="196216" y="31115"/>
                      <a:pt x="205995" y="31115"/>
                    </a:cubicBezTo>
                    <a:cubicBezTo>
                      <a:pt x="215774" y="31115"/>
                      <a:pt x="224283" y="33274"/>
                      <a:pt x="231395" y="37465"/>
                    </a:cubicBezTo>
                    <a:cubicBezTo>
                      <a:pt x="238507" y="41656"/>
                      <a:pt x="244095" y="47498"/>
                      <a:pt x="247905" y="54991"/>
                    </a:cubicBezTo>
                    <a:cubicBezTo>
                      <a:pt x="251716" y="62484"/>
                      <a:pt x="253748" y="71247"/>
                      <a:pt x="253748" y="81280"/>
                    </a:cubicBezTo>
                    <a:cubicBezTo>
                      <a:pt x="253748" y="91313"/>
                      <a:pt x="251843" y="99949"/>
                      <a:pt x="247905" y="107442"/>
                    </a:cubicBezTo>
                    <a:cubicBezTo>
                      <a:pt x="243968" y="114935"/>
                      <a:pt x="238507" y="120777"/>
                      <a:pt x="231395" y="124968"/>
                    </a:cubicBezTo>
                    <a:cubicBezTo>
                      <a:pt x="224283" y="129159"/>
                      <a:pt x="215774" y="131191"/>
                      <a:pt x="205995" y="131191"/>
                    </a:cubicBezTo>
                    <a:close/>
                    <a:moveTo>
                      <a:pt x="206122" y="110363"/>
                    </a:moveTo>
                    <a:cubicBezTo>
                      <a:pt x="210567" y="110363"/>
                      <a:pt x="214250" y="109093"/>
                      <a:pt x="217298" y="106553"/>
                    </a:cubicBezTo>
                    <a:cubicBezTo>
                      <a:pt x="220346" y="104013"/>
                      <a:pt x="222505" y="100457"/>
                      <a:pt x="224029" y="96012"/>
                    </a:cubicBezTo>
                    <a:cubicBezTo>
                      <a:pt x="225553" y="91567"/>
                      <a:pt x="226315" y="86614"/>
                      <a:pt x="226315" y="80899"/>
                    </a:cubicBezTo>
                    <a:cubicBezTo>
                      <a:pt x="226315" y="75184"/>
                      <a:pt x="225553" y="70231"/>
                      <a:pt x="224029" y="65786"/>
                    </a:cubicBezTo>
                    <a:cubicBezTo>
                      <a:pt x="222505" y="61341"/>
                      <a:pt x="220219" y="57912"/>
                      <a:pt x="217298" y="55245"/>
                    </a:cubicBezTo>
                    <a:cubicBezTo>
                      <a:pt x="214377" y="52578"/>
                      <a:pt x="210567" y="51435"/>
                      <a:pt x="206122" y="51435"/>
                    </a:cubicBezTo>
                    <a:cubicBezTo>
                      <a:pt x="201677" y="51435"/>
                      <a:pt x="197867" y="52705"/>
                      <a:pt x="194819" y="55245"/>
                    </a:cubicBezTo>
                    <a:cubicBezTo>
                      <a:pt x="191771" y="57785"/>
                      <a:pt x="189485" y="61341"/>
                      <a:pt x="187961" y="65786"/>
                    </a:cubicBezTo>
                    <a:cubicBezTo>
                      <a:pt x="186437" y="70231"/>
                      <a:pt x="185675" y="75184"/>
                      <a:pt x="185675" y="80899"/>
                    </a:cubicBezTo>
                    <a:cubicBezTo>
                      <a:pt x="185675" y="86614"/>
                      <a:pt x="186437" y="91567"/>
                      <a:pt x="187961" y="96012"/>
                    </a:cubicBezTo>
                    <a:cubicBezTo>
                      <a:pt x="189485" y="100457"/>
                      <a:pt x="191771" y="103886"/>
                      <a:pt x="194819" y="106553"/>
                    </a:cubicBezTo>
                    <a:cubicBezTo>
                      <a:pt x="197867" y="109220"/>
                      <a:pt x="201677" y="110363"/>
                      <a:pt x="206122" y="110363"/>
                    </a:cubicBezTo>
                    <a:close/>
                    <a:moveTo>
                      <a:pt x="306961" y="130810"/>
                    </a:moveTo>
                    <a:cubicBezTo>
                      <a:pt x="299595" y="130810"/>
                      <a:pt x="292864" y="128905"/>
                      <a:pt x="286895" y="125095"/>
                    </a:cubicBezTo>
                    <a:cubicBezTo>
                      <a:pt x="280926" y="121285"/>
                      <a:pt x="276227" y="115697"/>
                      <a:pt x="272798" y="108204"/>
                    </a:cubicBezTo>
                    <a:cubicBezTo>
                      <a:pt x="269369" y="100711"/>
                      <a:pt x="267591" y="91567"/>
                      <a:pt x="267591" y="80772"/>
                    </a:cubicBezTo>
                    <a:cubicBezTo>
                      <a:pt x="267591" y="69596"/>
                      <a:pt x="269369" y="60452"/>
                      <a:pt x="272925" y="53086"/>
                    </a:cubicBezTo>
                    <a:cubicBezTo>
                      <a:pt x="276481" y="45720"/>
                      <a:pt x="281307" y="40132"/>
                      <a:pt x="287149" y="36449"/>
                    </a:cubicBezTo>
                    <a:cubicBezTo>
                      <a:pt x="292991" y="32766"/>
                      <a:pt x="299722" y="30861"/>
                      <a:pt x="306834" y="30861"/>
                    </a:cubicBezTo>
                    <a:cubicBezTo>
                      <a:pt x="312295" y="30861"/>
                      <a:pt x="316740" y="31750"/>
                      <a:pt x="320423" y="33655"/>
                    </a:cubicBezTo>
                    <a:cubicBezTo>
                      <a:pt x="324106" y="35560"/>
                      <a:pt x="327027" y="37719"/>
                      <a:pt x="329313" y="40513"/>
                    </a:cubicBezTo>
                    <a:cubicBezTo>
                      <a:pt x="331599" y="43307"/>
                      <a:pt x="333250" y="45847"/>
                      <a:pt x="334520" y="48514"/>
                    </a:cubicBezTo>
                    <a:lnTo>
                      <a:pt x="335282" y="48514"/>
                    </a:lnTo>
                    <a:lnTo>
                      <a:pt x="335282" y="0"/>
                    </a:lnTo>
                    <a:lnTo>
                      <a:pt x="362079" y="0"/>
                    </a:lnTo>
                    <a:lnTo>
                      <a:pt x="362079" y="129286"/>
                    </a:lnTo>
                    <a:lnTo>
                      <a:pt x="335536" y="129286"/>
                    </a:lnTo>
                    <a:lnTo>
                      <a:pt x="335536" y="113792"/>
                    </a:lnTo>
                    <a:lnTo>
                      <a:pt x="334393" y="113792"/>
                    </a:lnTo>
                    <a:cubicBezTo>
                      <a:pt x="333123" y="116459"/>
                      <a:pt x="331345" y="119126"/>
                      <a:pt x="329059" y="121793"/>
                    </a:cubicBezTo>
                    <a:cubicBezTo>
                      <a:pt x="326773" y="124460"/>
                      <a:pt x="323852" y="126619"/>
                      <a:pt x="320169" y="128270"/>
                    </a:cubicBezTo>
                    <a:cubicBezTo>
                      <a:pt x="316486" y="129921"/>
                      <a:pt x="312168" y="130810"/>
                      <a:pt x="306961" y="130810"/>
                    </a:cubicBezTo>
                    <a:close/>
                    <a:moveTo>
                      <a:pt x="315470" y="109347"/>
                    </a:moveTo>
                    <a:cubicBezTo>
                      <a:pt x="319788" y="109347"/>
                      <a:pt x="323471" y="108204"/>
                      <a:pt x="326392" y="105791"/>
                    </a:cubicBezTo>
                    <a:cubicBezTo>
                      <a:pt x="329313" y="103378"/>
                      <a:pt x="331726" y="100076"/>
                      <a:pt x="333377" y="95758"/>
                    </a:cubicBezTo>
                    <a:cubicBezTo>
                      <a:pt x="335028" y="91440"/>
                      <a:pt x="335790" y="86487"/>
                      <a:pt x="335790" y="80645"/>
                    </a:cubicBezTo>
                    <a:cubicBezTo>
                      <a:pt x="335790" y="74803"/>
                      <a:pt x="335028" y="69850"/>
                      <a:pt x="333377" y="65659"/>
                    </a:cubicBezTo>
                    <a:cubicBezTo>
                      <a:pt x="331726" y="61468"/>
                      <a:pt x="329440" y="58166"/>
                      <a:pt x="326392" y="55753"/>
                    </a:cubicBezTo>
                    <a:cubicBezTo>
                      <a:pt x="323344" y="53340"/>
                      <a:pt x="319661" y="52324"/>
                      <a:pt x="315343" y="52324"/>
                    </a:cubicBezTo>
                    <a:cubicBezTo>
                      <a:pt x="311025" y="52324"/>
                      <a:pt x="307215" y="53467"/>
                      <a:pt x="304167" y="55880"/>
                    </a:cubicBezTo>
                    <a:cubicBezTo>
                      <a:pt x="301119" y="58293"/>
                      <a:pt x="298833" y="61595"/>
                      <a:pt x="297309" y="65913"/>
                    </a:cubicBezTo>
                    <a:cubicBezTo>
                      <a:pt x="295785" y="70231"/>
                      <a:pt x="295023" y="75057"/>
                      <a:pt x="295023" y="80645"/>
                    </a:cubicBezTo>
                    <a:cubicBezTo>
                      <a:pt x="295023" y="86233"/>
                      <a:pt x="295785" y="91313"/>
                      <a:pt x="297309" y="95631"/>
                    </a:cubicBezTo>
                    <a:cubicBezTo>
                      <a:pt x="298833" y="99949"/>
                      <a:pt x="301246" y="103251"/>
                      <a:pt x="304167" y="105791"/>
                    </a:cubicBezTo>
                    <a:cubicBezTo>
                      <a:pt x="307088" y="108331"/>
                      <a:pt x="310898" y="109347"/>
                      <a:pt x="315343" y="109347"/>
                    </a:cubicBezTo>
                    <a:close/>
                    <a:moveTo>
                      <a:pt x="428374" y="131064"/>
                    </a:moveTo>
                    <a:cubicBezTo>
                      <a:pt x="418340" y="131064"/>
                      <a:pt x="409831" y="129032"/>
                      <a:pt x="402592" y="124968"/>
                    </a:cubicBezTo>
                    <a:cubicBezTo>
                      <a:pt x="395353" y="120904"/>
                      <a:pt x="389892" y="115062"/>
                      <a:pt x="386082" y="107696"/>
                    </a:cubicBezTo>
                    <a:cubicBezTo>
                      <a:pt x="382272" y="100330"/>
                      <a:pt x="380240" y="91313"/>
                      <a:pt x="380240" y="81153"/>
                    </a:cubicBezTo>
                    <a:cubicBezTo>
                      <a:pt x="380240" y="71120"/>
                      <a:pt x="382145" y="62484"/>
                      <a:pt x="386082" y="54864"/>
                    </a:cubicBezTo>
                    <a:cubicBezTo>
                      <a:pt x="390019" y="47244"/>
                      <a:pt x="395353" y="41402"/>
                      <a:pt x="402465" y="37211"/>
                    </a:cubicBezTo>
                    <a:cubicBezTo>
                      <a:pt x="409577" y="33020"/>
                      <a:pt x="417833" y="30861"/>
                      <a:pt x="427358" y="30861"/>
                    </a:cubicBezTo>
                    <a:cubicBezTo>
                      <a:pt x="433708" y="30861"/>
                      <a:pt x="439677" y="31877"/>
                      <a:pt x="445265" y="33909"/>
                    </a:cubicBezTo>
                    <a:cubicBezTo>
                      <a:pt x="450853" y="35941"/>
                      <a:pt x="455679" y="38989"/>
                      <a:pt x="459743" y="43053"/>
                    </a:cubicBezTo>
                    <a:cubicBezTo>
                      <a:pt x="463807" y="47117"/>
                      <a:pt x="467109" y="52324"/>
                      <a:pt x="469522" y="58420"/>
                    </a:cubicBezTo>
                    <a:cubicBezTo>
                      <a:pt x="471935" y="64516"/>
                      <a:pt x="472951" y="71755"/>
                      <a:pt x="472951" y="80010"/>
                    </a:cubicBezTo>
                    <a:lnTo>
                      <a:pt x="472951" y="87376"/>
                    </a:lnTo>
                    <a:lnTo>
                      <a:pt x="391035" y="87376"/>
                    </a:lnTo>
                    <a:lnTo>
                      <a:pt x="391035" y="70993"/>
                    </a:lnTo>
                    <a:lnTo>
                      <a:pt x="447551" y="70993"/>
                    </a:lnTo>
                    <a:cubicBezTo>
                      <a:pt x="447551" y="67183"/>
                      <a:pt x="446662" y="63627"/>
                      <a:pt x="445011" y="60706"/>
                    </a:cubicBezTo>
                    <a:cubicBezTo>
                      <a:pt x="443360" y="57785"/>
                      <a:pt x="440947" y="55372"/>
                      <a:pt x="438026" y="53721"/>
                    </a:cubicBezTo>
                    <a:cubicBezTo>
                      <a:pt x="435105" y="52070"/>
                      <a:pt x="431676" y="51181"/>
                      <a:pt x="427739" y="51181"/>
                    </a:cubicBezTo>
                    <a:cubicBezTo>
                      <a:pt x="423675" y="51181"/>
                      <a:pt x="419992" y="52070"/>
                      <a:pt x="416816" y="53975"/>
                    </a:cubicBezTo>
                    <a:cubicBezTo>
                      <a:pt x="413641" y="55880"/>
                      <a:pt x="411228" y="58293"/>
                      <a:pt x="409450" y="61468"/>
                    </a:cubicBezTo>
                    <a:cubicBezTo>
                      <a:pt x="407672" y="64643"/>
                      <a:pt x="406783" y="68072"/>
                      <a:pt x="406783" y="71882"/>
                    </a:cubicBezTo>
                    <a:lnTo>
                      <a:pt x="406783" y="87757"/>
                    </a:lnTo>
                    <a:cubicBezTo>
                      <a:pt x="406783" y="92583"/>
                      <a:pt x="407672" y="96647"/>
                      <a:pt x="409450" y="100203"/>
                    </a:cubicBezTo>
                    <a:cubicBezTo>
                      <a:pt x="411228" y="103759"/>
                      <a:pt x="413768" y="106426"/>
                      <a:pt x="417070" y="108331"/>
                    </a:cubicBezTo>
                    <a:cubicBezTo>
                      <a:pt x="420373" y="110236"/>
                      <a:pt x="424310" y="111125"/>
                      <a:pt x="428755" y="111125"/>
                    </a:cubicBezTo>
                    <a:cubicBezTo>
                      <a:pt x="431803" y="111125"/>
                      <a:pt x="434470" y="110744"/>
                      <a:pt x="437010" y="109855"/>
                    </a:cubicBezTo>
                    <a:cubicBezTo>
                      <a:pt x="439550" y="108966"/>
                      <a:pt x="441582" y="107696"/>
                      <a:pt x="443360" y="106045"/>
                    </a:cubicBezTo>
                    <a:cubicBezTo>
                      <a:pt x="445138" y="104394"/>
                      <a:pt x="446535" y="102362"/>
                      <a:pt x="447424" y="99822"/>
                    </a:cubicBezTo>
                    <a:lnTo>
                      <a:pt x="472316" y="101473"/>
                    </a:lnTo>
                    <a:cubicBezTo>
                      <a:pt x="471046" y="107442"/>
                      <a:pt x="468506" y="112649"/>
                      <a:pt x="464569" y="117094"/>
                    </a:cubicBezTo>
                    <a:cubicBezTo>
                      <a:pt x="460632" y="121539"/>
                      <a:pt x="455679" y="124968"/>
                      <a:pt x="449583" y="127508"/>
                    </a:cubicBezTo>
                    <a:cubicBezTo>
                      <a:pt x="443487" y="130048"/>
                      <a:pt x="436375" y="131191"/>
                      <a:pt x="428374" y="131191"/>
                    </a:cubicBezTo>
                    <a:close/>
                    <a:moveTo>
                      <a:pt x="490477" y="129286"/>
                    </a:moveTo>
                    <a:lnTo>
                      <a:pt x="490477" y="32385"/>
                    </a:lnTo>
                    <a:lnTo>
                      <a:pt x="516512" y="32385"/>
                    </a:lnTo>
                    <a:lnTo>
                      <a:pt x="516512" y="49276"/>
                    </a:lnTo>
                    <a:lnTo>
                      <a:pt x="517528" y="49276"/>
                    </a:lnTo>
                    <a:cubicBezTo>
                      <a:pt x="519306" y="43307"/>
                      <a:pt x="522227" y="38735"/>
                      <a:pt x="526418" y="35687"/>
                    </a:cubicBezTo>
                    <a:cubicBezTo>
                      <a:pt x="530609" y="32639"/>
                      <a:pt x="535435" y="30988"/>
                      <a:pt x="540769" y="30988"/>
                    </a:cubicBezTo>
                    <a:cubicBezTo>
                      <a:pt x="542166" y="30988"/>
                      <a:pt x="543563" y="31115"/>
                      <a:pt x="545087" y="31242"/>
                    </a:cubicBezTo>
                    <a:cubicBezTo>
                      <a:pt x="546611" y="31369"/>
                      <a:pt x="548008" y="31623"/>
                      <a:pt x="549151" y="31877"/>
                    </a:cubicBezTo>
                    <a:lnTo>
                      <a:pt x="549151" y="55753"/>
                    </a:lnTo>
                    <a:cubicBezTo>
                      <a:pt x="547881" y="55372"/>
                      <a:pt x="546103" y="54991"/>
                      <a:pt x="543944" y="54737"/>
                    </a:cubicBezTo>
                    <a:cubicBezTo>
                      <a:pt x="541785" y="54483"/>
                      <a:pt x="539626" y="54356"/>
                      <a:pt x="537848" y="54356"/>
                    </a:cubicBezTo>
                    <a:cubicBezTo>
                      <a:pt x="533911" y="54356"/>
                      <a:pt x="530355" y="55245"/>
                      <a:pt x="527180" y="56896"/>
                    </a:cubicBezTo>
                    <a:cubicBezTo>
                      <a:pt x="524005" y="58547"/>
                      <a:pt x="521719" y="60960"/>
                      <a:pt x="519814" y="64008"/>
                    </a:cubicBezTo>
                    <a:cubicBezTo>
                      <a:pt x="517909" y="67056"/>
                      <a:pt x="517147" y="70485"/>
                      <a:pt x="517147" y="74549"/>
                    </a:cubicBezTo>
                    <a:lnTo>
                      <a:pt x="517147" y="129413"/>
                    </a:lnTo>
                    <a:lnTo>
                      <a:pt x="490477" y="129413"/>
                    </a:lnTo>
                    <a:close/>
                    <a:moveTo>
                      <a:pt x="588013" y="131191"/>
                    </a:moveTo>
                    <a:cubicBezTo>
                      <a:pt x="581790" y="131191"/>
                      <a:pt x="576329" y="130175"/>
                      <a:pt x="571503" y="128016"/>
                    </a:cubicBezTo>
                    <a:cubicBezTo>
                      <a:pt x="566677" y="125857"/>
                      <a:pt x="562867" y="122555"/>
                      <a:pt x="560073" y="118364"/>
                    </a:cubicBezTo>
                    <a:cubicBezTo>
                      <a:pt x="557279" y="114173"/>
                      <a:pt x="555882" y="108712"/>
                      <a:pt x="555882" y="102362"/>
                    </a:cubicBezTo>
                    <a:cubicBezTo>
                      <a:pt x="555882" y="97028"/>
                      <a:pt x="556898" y="92456"/>
                      <a:pt x="558803" y="88773"/>
                    </a:cubicBezTo>
                    <a:cubicBezTo>
                      <a:pt x="560708" y="85090"/>
                      <a:pt x="563502" y="82169"/>
                      <a:pt x="566931" y="79883"/>
                    </a:cubicBezTo>
                    <a:cubicBezTo>
                      <a:pt x="570360" y="77597"/>
                      <a:pt x="574170" y="75946"/>
                      <a:pt x="578488" y="74803"/>
                    </a:cubicBezTo>
                    <a:cubicBezTo>
                      <a:pt x="582806" y="73660"/>
                      <a:pt x="587505" y="72898"/>
                      <a:pt x="592204" y="72390"/>
                    </a:cubicBezTo>
                    <a:cubicBezTo>
                      <a:pt x="597793" y="71755"/>
                      <a:pt x="602365" y="71247"/>
                      <a:pt x="605794" y="70739"/>
                    </a:cubicBezTo>
                    <a:cubicBezTo>
                      <a:pt x="609223" y="70231"/>
                      <a:pt x="611763" y="69342"/>
                      <a:pt x="613287" y="68326"/>
                    </a:cubicBezTo>
                    <a:cubicBezTo>
                      <a:pt x="614811" y="67310"/>
                      <a:pt x="615573" y="65659"/>
                      <a:pt x="615573" y="63627"/>
                    </a:cubicBezTo>
                    <a:lnTo>
                      <a:pt x="615573" y="63246"/>
                    </a:lnTo>
                    <a:cubicBezTo>
                      <a:pt x="615573" y="59309"/>
                      <a:pt x="614303" y="56134"/>
                      <a:pt x="611763" y="53975"/>
                    </a:cubicBezTo>
                    <a:cubicBezTo>
                      <a:pt x="609223" y="51816"/>
                      <a:pt x="605794" y="50673"/>
                      <a:pt x="601095" y="50673"/>
                    </a:cubicBezTo>
                    <a:cubicBezTo>
                      <a:pt x="596269" y="50673"/>
                      <a:pt x="592458" y="51689"/>
                      <a:pt x="589537" y="53848"/>
                    </a:cubicBezTo>
                    <a:cubicBezTo>
                      <a:pt x="586616" y="56007"/>
                      <a:pt x="584838" y="58547"/>
                      <a:pt x="583822" y="61849"/>
                    </a:cubicBezTo>
                    <a:lnTo>
                      <a:pt x="558930" y="59817"/>
                    </a:lnTo>
                    <a:cubicBezTo>
                      <a:pt x="560200" y="53975"/>
                      <a:pt x="562613" y="48768"/>
                      <a:pt x="566423" y="44577"/>
                    </a:cubicBezTo>
                    <a:cubicBezTo>
                      <a:pt x="570233" y="40386"/>
                      <a:pt x="574932" y="36957"/>
                      <a:pt x="580774" y="34544"/>
                    </a:cubicBezTo>
                    <a:cubicBezTo>
                      <a:pt x="586616" y="32131"/>
                      <a:pt x="593475" y="30988"/>
                      <a:pt x="601222" y="30988"/>
                    </a:cubicBezTo>
                    <a:cubicBezTo>
                      <a:pt x="606556" y="30988"/>
                      <a:pt x="611763" y="31623"/>
                      <a:pt x="616716" y="32893"/>
                    </a:cubicBezTo>
                    <a:cubicBezTo>
                      <a:pt x="621669" y="34163"/>
                      <a:pt x="626114" y="36068"/>
                      <a:pt x="629924" y="38735"/>
                    </a:cubicBezTo>
                    <a:cubicBezTo>
                      <a:pt x="633734" y="41402"/>
                      <a:pt x="636909" y="44831"/>
                      <a:pt x="639068" y="49022"/>
                    </a:cubicBezTo>
                    <a:cubicBezTo>
                      <a:pt x="641227" y="53213"/>
                      <a:pt x="642370" y="58039"/>
                      <a:pt x="642370" y="63881"/>
                    </a:cubicBezTo>
                    <a:lnTo>
                      <a:pt x="642370" y="129286"/>
                    </a:lnTo>
                    <a:lnTo>
                      <a:pt x="617224" y="129286"/>
                    </a:lnTo>
                    <a:lnTo>
                      <a:pt x="617224" y="115824"/>
                    </a:lnTo>
                    <a:lnTo>
                      <a:pt x="616462" y="115824"/>
                    </a:lnTo>
                    <a:cubicBezTo>
                      <a:pt x="614938" y="118872"/>
                      <a:pt x="612779" y="121539"/>
                      <a:pt x="610239" y="123825"/>
                    </a:cubicBezTo>
                    <a:cubicBezTo>
                      <a:pt x="607699" y="126111"/>
                      <a:pt x="604524" y="127889"/>
                      <a:pt x="600841" y="129159"/>
                    </a:cubicBezTo>
                    <a:cubicBezTo>
                      <a:pt x="597158" y="130429"/>
                      <a:pt x="592967" y="131064"/>
                      <a:pt x="588140" y="131064"/>
                    </a:cubicBezTo>
                    <a:close/>
                    <a:moveTo>
                      <a:pt x="595888" y="112522"/>
                    </a:moveTo>
                    <a:cubicBezTo>
                      <a:pt x="599825" y="112522"/>
                      <a:pt x="603381" y="111760"/>
                      <a:pt x="606429" y="110236"/>
                    </a:cubicBezTo>
                    <a:cubicBezTo>
                      <a:pt x="609477" y="108712"/>
                      <a:pt x="611890" y="106553"/>
                      <a:pt x="613541" y="103759"/>
                    </a:cubicBezTo>
                    <a:cubicBezTo>
                      <a:pt x="615192" y="100965"/>
                      <a:pt x="616081" y="98044"/>
                      <a:pt x="616081" y="94615"/>
                    </a:cubicBezTo>
                    <a:lnTo>
                      <a:pt x="616081" y="84328"/>
                    </a:lnTo>
                    <a:cubicBezTo>
                      <a:pt x="615192" y="84836"/>
                      <a:pt x="614049" y="85344"/>
                      <a:pt x="612652" y="85852"/>
                    </a:cubicBezTo>
                    <a:cubicBezTo>
                      <a:pt x="611255" y="86360"/>
                      <a:pt x="609604" y="86614"/>
                      <a:pt x="607826" y="86995"/>
                    </a:cubicBezTo>
                    <a:cubicBezTo>
                      <a:pt x="606048" y="87376"/>
                      <a:pt x="604143" y="87630"/>
                      <a:pt x="602365" y="87884"/>
                    </a:cubicBezTo>
                    <a:cubicBezTo>
                      <a:pt x="600587" y="88138"/>
                      <a:pt x="598936" y="88392"/>
                      <a:pt x="597412" y="88519"/>
                    </a:cubicBezTo>
                    <a:cubicBezTo>
                      <a:pt x="594237" y="89027"/>
                      <a:pt x="591443" y="89662"/>
                      <a:pt x="589157" y="90678"/>
                    </a:cubicBezTo>
                    <a:cubicBezTo>
                      <a:pt x="586871" y="91694"/>
                      <a:pt x="584965" y="93091"/>
                      <a:pt x="583695" y="94742"/>
                    </a:cubicBezTo>
                    <a:cubicBezTo>
                      <a:pt x="582425" y="96393"/>
                      <a:pt x="581790" y="98552"/>
                      <a:pt x="581790" y="101092"/>
                    </a:cubicBezTo>
                    <a:cubicBezTo>
                      <a:pt x="581790" y="104775"/>
                      <a:pt x="583060" y="107569"/>
                      <a:pt x="585728" y="109474"/>
                    </a:cubicBezTo>
                    <a:cubicBezTo>
                      <a:pt x="588395" y="111379"/>
                      <a:pt x="591824" y="112268"/>
                      <a:pt x="596015" y="112268"/>
                    </a:cubicBezTo>
                    <a:close/>
                    <a:moveTo>
                      <a:pt x="715141" y="32385"/>
                    </a:moveTo>
                    <a:lnTo>
                      <a:pt x="715141" y="52578"/>
                    </a:lnTo>
                    <a:lnTo>
                      <a:pt x="656721" y="52578"/>
                    </a:lnTo>
                    <a:lnTo>
                      <a:pt x="656721" y="32385"/>
                    </a:lnTo>
                    <a:lnTo>
                      <a:pt x="715141" y="32385"/>
                    </a:lnTo>
                    <a:close/>
                    <a:moveTo>
                      <a:pt x="670056" y="9144"/>
                    </a:moveTo>
                    <a:lnTo>
                      <a:pt x="696980" y="9144"/>
                    </a:lnTo>
                    <a:lnTo>
                      <a:pt x="696980" y="99568"/>
                    </a:lnTo>
                    <a:cubicBezTo>
                      <a:pt x="696980" y="102108"/>
                      <a:pt x="697361" y="104013"/>
                      <a:pt x="698123" y="105410"/>
                    </a:cubicBezTo>
                    <a:cubicBezTo>
                      <a:pt x="698885" y="106807"/>
                      <a:pt x="699901" y="107696"/>
                      <a:pt x="701298" y="108204"/>
                    </a:cubicBezTo>
                    <a:cubicBezTo>
                      <a:pt x="702695" y="108712"/>
                      <a:pt x="704346" y="108966"/>
                      <a:pt x="706124" y="108966"/>
                    </a:cubicBezTo>
                    <a:cubicBezTo>
                      <a:pt x="707394" y="108966"/>
                      <a:pt x="708664" y="108839"/>
                      <a:pt x="709934" y="108712"/>
                    </a:cubicBezTo>
                    <a:cubicBezTo>
                      <a:pt x="711204" y="108585"/>
                      <a:pt x="712220" y="108331"/>
                      <a:pt x="712855" y="108204"/>
                    </a:cubicBezTo>
                    <a:lnTo>
                      <a:pt x="717046" y="128270"/>
                    </a:lnTo>
                    <a:cubicBezTo>
                      <a:pt x="715649" y="128651"/>
                      <a:pt x="713744" y="129159"/>
                      <a:pt x="711331" y="129667"/>
                    </a:cubicBezTo>
                    <a:cubicBezTo>
                      <a:pt x="708918" y="130175"/>
                      <a:pt x="705870" y="130556"/>
                      <a:pt x="702441" y="130683"/>
                    </a:cubicBezTo>
                    <a:cubicBezTo>
                      <a:pt x="695964" y="130937"/>
                      <a:pt x="690249" y="130048"/>
                      <a:pt x="685423" y="128143"/>
                    </a:cubicBezTo>
                    <a:cubicBezTo>
                      <a:pt x="680597" y="126238"/>
                      <a:pt x="676787" y="123063"/>
                      <a:pt x="674120" y="118872"/>
                    </a:cubicBezTo>
                    <a:cubicBezTo>
                      <a:pt x="671453" y="114681"/>
                      <a:pt x="670056" y="109474"/>
                      <a:pt x="670183" y="103124"/>
                    </a:cubicBezTo>
                    <a:lnTo>
                      <a:pt x="670183" y="9144"/>
                    </a:lnTo>
                    <a:close/>
                    <a:moveTo>
                      <a:pt x="776102" y="131318"/>
                    </a:moveTo>
                    <a:cubicBezTo>
                      <a:pt x="766069" y="131318"/>
                      <a:pt x="757559" y="129286"/>
                      <a:pt x="750320" y="125222"/>
                    </a:cubicBezTo>
                    <a:cubicBezTo>
                      <a:pt x="743081" y="121158"/>
                      <a:pt x="737620" y="115316"/>
                      <a:pt x="733810" y="107950"/>
                    </a:cubicBezTo>
                    <a:cubicBezTo>
                      <a:pt x="730000" y="100584"/>
                      <a:pt x="727968" y="91567"/>
                      <a:pt x="727968" y="81407"/>
                    </a:cubicBezTo>
                    <a:cubicBezTo>
                      <a:pt x="727968" y="71374"/>
                      <a:pt x="729873" y="62738"/>
                      <a:pt x="733810" y="55118"/>
                    </a:cubicBezTo>
                    <a:cubicBezTo>
                      <a:pt x="737747" y="47498"/>
                      <a:pt x="743081" y="41656"/>
                      <a:pt x="750193" y="37465"/>
                    </a:cubicBezTo>
                    <a:cubicBezTo>
                      <a:pt x="757305" y="33274"/>
                      <a:pt x="765561" y="31115"/>
                      <a:pt x="775086" y="31115"/>
                    </a:cubicBezTo>
                    <a:cubicBezTo>
                      <a:pt x="781436" y="31115"/>
                      <a:pt x="787405" y="32131"/>
                      <a:pt x="792993" y="34163"/>
                    </a:cubicBezTo>
                    <a:cubicBezTo>
                      <a:pt x="798581" y="36195"/>
                      <a:pt x="803407" y="39243"/>
                      <a:pt x="807471" y="43307"/>
                    </a:cubicBezTo>
                    <a:cubicBezTo>
                      <a:pt x="811535" y="47371"/>
                      <a:pt x="814837" y="52578"/>
                      <a:pt x="817250" y="58674"/>
                    </a:cubicBezTo>
                    <a:cubicBezTo>
                      <a:pt x="819663" y="64770"/>
                      <a:pt x="820679" y="72009"/>
                      <a:pt x="820679" y="80264"/>
                    </a:cubicBezTo>
                    <a:lnTo>
                      <a:pt x="820679" y="87630"/>
                    </a:lnTo>
                    <a:lnTo>
                      <a:pt x="738509" y="87630"/>
                    </a:lnTo>
                    <a:lnTo>
                      <a:pt x="738509" y="70993"/>
                    </a:lnTo>
                    <a:lnTo>
                      <a:pt x="795025" y="70993"/>
                    </a:lnTo>
                    <a:cubicBezTo>
                      <a:pt x="795025" y="67183"/>
                      <a:pt x="794136" y="63627"/>
                      <a:pt x="792485" y="60706"/>
                    </a:cubicBezTo>
                    <a:cubicBezTo>
                      <a:pt x="790834" y="57785"/>
                      <a:pt x="788421" y="55372"/>
                      <a:pt x="785500" y="53721"/>
                    </a:cubicBezTo>
                    <a:cubicBezTo>
                      <a:pt x="782579" y="52070"/>
                      <a:pt x="779150" y="51181"/>
                      <a:pt x="775213" y="51181"/>
                    </a:cubicBezTo>
                    <a:cubicBezTo>
                      <a:pt x="771149" y="51181"/>
                      <a:pt x="767466" y="52070"/>
                      <a:pt x="764291" y="53975"/>
                    </a:cubicBezTo>
                    <a:cubicBezTo>
                      <a:pt x="761116" y="55880"/>
                      <a:pt x="758702" y="58293"/>
                      <a:pt x="756924" y="61468"/>
                    </a:cubicBezTo>
                    <a:cubicBezTo>
                      <a:pt x="755146" y="64643"/>
                      <a:pt x="754257" y="68072"/>
                      <a:pt x="754257" y="71882"/>
                    </a:cubicBezTo>
                    <a:lnTo>
                      <a:pt x="754257" y="87757"/>
                    </a:lnTo>
                    <a:cubicBezTo>
                      <a:pt x="754257" y="92583"/>
                      <a:pt x="755146" y="96647"/>
                      <a:pt x="756924" y="100203"/>
                    </a:cubicBezTo>
                    <a:cubicBezTo>
                      <a:pt x="758702" y="103759"/>
                      <a:pt x="761243" y="106426"/>
                      <a:pt x="764545" y="108331"/>
                    </a:cubicBezTo>
                    <a:cubicBezTo>
                      <a:pt x="767847" y="110236"/>
                      <a:pt x="771784" y="111125"/>
                      <a:pt x="776229" y="111125"/>
                    </a:cubicBezTo>
                    <a:cubicBezTo>
                      <a:pt x="779277" y="111125"/>
                      <a:pt x="781944" y="110744"/>
                      <a:pt x="784484" y="109855"/>
                    </a:cubicBezTo>
                    <a:cubicBezTo>
                      <a:pt x="787024" y="108966"/>
                      <a:pt x="789056" y="107696"/>
                      <a:pt x="790834" y="106045"/>
                    </a:cubicBezTo>
                    <a:cubicBezTo>
                      <a:pt x="792612" y="104394"/>
                      <a:pt x="794009" y="102362"/>
                      <a:pt x="794898" y="99822"/>
                    </a:cubicBezTo>
                    <a:lnTo>
                      <a:pt x="819790" y="101473"/>
                    </a:lnTo>
                    <a:cubicBezTo>
                      <a:pt x="818520" y="107442"/>
                      <a:pt x="815980" y="112649"/>
                      <a:pt x="812043" y="117094"/>
                    </a:cubicBezTo>
                    <a:cubicBezTo>
                      <a:pt x="808106" y="121539"/>
                      <a:pt x="803153" y="124968"/>
                      <a:pt x="797057" y="127508"/>
                    </a:cubicBezTo>
                    <a:cubicBezTo>
                      <a:pt x="790961" y="130048"/>
                      <a:pt x="783849" y="131191"/>
                      <a:pt x="775848" y="13119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DE"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14798503" y="4984810"/>
              <a:ext cx="1892992" cy="143389"/>
              <a:chOff x="0" y="0"/>
              <a:chExt cx="2505380" cy="18977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12954" y="0"/>
                <a:ext cx="2492116" cy="189989"/>
              </a:xfrm>
              <a:custGeom>
                <a:avLst/>
                <a:gdLst/>
                <a:ahLst/>
                <a:cxnLst/>
                <a:rect l="l" t="t" r="r" b="b"/>
                <a:pathLst>
                  <a:path w="2492116" h="189989">
                    <a:moveTo>
                      <a:pt x="82423" y="2540"/>
                    </a:moveTo>
                    <a:lnTo>
                      <a:pt x="82423" y="187195"/>
                    </a:lnTo>
                    <a:lnTo>
                      <a:pt x="43307" y="187195"/>
                    </a:lnTo>
                    <a:lnTo>
                      <a:pt x="43307" y="39623"/>
                    </a:lnTo>
                    <a:lnTo>
                      <a:pt x="42291" y="39623"/>
                    </a:lnTo>
                    <a:lnTo>
                      <a:pt x="0" y="66166"/>
                    </a:lnTo>
                    <a:lnTo>
                      <a:pt x="0" y="31495"/>
                    </a:lnTo>
                    <a:lnTo>
                      <a:pt x="45720" y="2540"/>
                    </a:lnTo>
                    <a:lnTo>
                      <a:pt x="82423" y="2540"/>
                    </a:lnTo>
                    <a:close/>
                    <a:moveTo>
                      <a:pt x="361441" y="187195"/>
                    </a:moveTo>
                    <a:lnTo>
                      <a:pt x="361441" y="159128"/>
                    </a:lnTo>
                    <a:lnTo>
                      <a:pt x="427227" y="98296"/>
                    </a:lnTo>
                    <a:cubicBezTo>
                      <a:pt x="432815" y="92835"/>
                      <a:pt x="437514" y="88010"/>
                      <a:pt x="441324" y="83692"/>
                    </a:cubicBezTo>
                    <a:cubicBezTo>
                      <a:pt x="445134" y="79374"/>
                      <a:pt x="448055" y="75183"/>
                      <a:pt x="450087" y="70992"/>
                    </a:cubicBezTo>
                    <a:cubicBezTo>
                      <a:pt x="452119" y="66801"/>
                      <a:pt x="453008" y="62229"/>
                      <a:pt x="453008" y="57403"/>
                    </a:cubicBezTo>
                    <a:cubicBezTo>
                      <a:pt x="453008" y="51942"/>
                      <a:pt x="451738" y="47370"/>
                      <a:pt x="449325" y="43433"/>
                    </a:cubicBezTo>
                    <a:cubicBezTo>
                      <a:pt x="446912" y="39496"/>
                      <a:pt x="443483" y="36448"/>
                      <a:pt x="439165" y="34289"/>
                    </a:cubicBezTo>
                    <a:cubicBezTo>
                      <a:pt x="434847" y="32130"/>
                      <a:pt x="430021" y="30987"/>
                      <a:pt x="424687" y="30987"/>
                    </a:cubicBezTo>
                    <a:cubicBezTo>
                      <a:pt x="418972" y="30987"/>
                      <a:pt x="414146" y="32130"/>
                      <a:pt x="409955" y="34416"/>
                    </a:cubicBezTo>
                    <a:cubicBezTo>
                      <a:pt x="405764" y="36702"/>
                      <a:pt x="402462" y="40004"/>
                      <a:pt x="400176" y="44195"/>
                    </a:cubicBezTo>
                    <a:cubicBezTo>
                      <a:pt x="397890" y="48386"/>
                      <a:pt x="396747" y="53593"/>
                      <a:pt x="396747" y="59435"/>
                    </a:cubicBezTo>
                    <a:lnTo>
                      <a:pt x="359663" y="59435"/>
                    </a:lnTo>
                    <a:cubicBezTo>
                      <a:pt x="359663" y="47370"/>
                      <a:pt x="362457" y="36829"/>
                      <a:pt x="367918" y="27940"/>
                    </a:cubicBezTo>
                    <a:cubicBezTo>
                      <a:pt x="373379" y="19050"/>
                      <a:pt x="380999" y="12192"/>
                      <a:pt x="390905" y="7366"/>
                    </a:cubicBezTo>
                    <a:cubicBezTo>
                      <a:pt x="400811" y="2540"/>
                      <a:pt x="412114" y="0"/>
                      <a:pt x="424941" y="0"/>
                    </a:cubicBezTo>
                    <a:cubicBezTo>
                      <a:pt x="438149" y="0"/>
                      <a:pt x="449706" y="2286"/>
                      <a:pt x="459485" y="6985"/>
                    </a:cubicBezTo>
                    <a:cubicBezTo>
                      <a:pt x="469264" y="11684"/>
                      <a:pt x="477011" y="18034"/>
                      <a:pt x="482472" y="26289"/>
                    </a:cubicBezTo>
                    <a:cubicBezTo>
                      <a:pt x="487933" y="34543"/>
                      <a:pt x="490727" y="43941"/>
                      <a:pt x="490727" y="54609"/>
                    </a:cubicBezTo>
                    <a:cubicBezTo>
                      <a:pt x="490727" y="61594"/>
                      <a:pt x="489330" y="68452"/>
                      <a:pt x="486536" y="75310"/>
                    </a:cubicBezTo>
                    <a:cubicBezTo>
                      <a:pt x="483742" y="82168"/>
                      <a:pt x="479043" y="89660"/>
                      <a:pt x="472058" y="97915"/>
                    </a:cubicBezTo>
                    <a:cubicBezTo>
                      <a:pt x="465073" y="106170"/>
                      <a:pt x="455294" y="116076"/>
                      <a:pt x="442594" y="127633"/>
                    </a:cubicBezTo>
                    <a:lnTo>
                      <a:pt x="415670" y="154048"/>
                    </a:lnTo>
                    <a:lnTo>
                      <a:pt x="415670" y="155318"/>
                    </a:lnTo>
                    <a:lnTo>
                      <a:pt x="493267" y="155318"/>
                    </a:lnTo>
                    <a:lnTo>
                      <a:pt x="493267" y="187195"/>
                    </a:lnTo>
                    <a:lnTo>
                      <a:pt x="361441" y="187195"/>
                    </a:lnTo>
                    <a:close/>
                    <a:moveTo>
                      <a:pt x="824863" y="189735"/>
                    </a:moveTo>
                    <a:cubicBezTo>
                      <a:pt x="811401" y="189735"/>
                      <a:pt x="799336" y="187449"/>
                      <a:pt x="788922" y="182750"/>
                    </a:cubicBezTo>
                    <a:cubicBezTo>
                      <a:pt x="778508" y="178051"/>
                      <a:pt x="770253" y="171574"/>
                      <a:pt x="764157" y="163446"/>
                    </a:cubicBezTo>
                    <a:cubicBezTo>
                      <a:pt x="758061" y="155318"/>
                      <a:pt x="755013" y="145667"/>
                      <a:pt x="754886" y="134999"/>
                    </a:cubicBezTo>
                    <a:lnTo>
                      <a:pt x="794256" y="134999"/>
                    </a:lnTo>
                    <a:cubicBezTo>
                      <a:pt x="794510" y="139571"/>
                      <a:pt x="796034" y="143508"/>
                      <a:pt x="798701" y="146937"/>
                    </a:cubicBezTo>
                    <a:cubicBezTo>
                      <a:pt x="801368" y="150365"/>
                      <a:pt x="805178" y="152905"/>
                      <a:pt x="809750" y="154810"/>
                    </a:cubicBezTo>
                    <a:cubicBezTo>
                      <a:pt x="814322" y="156715"/>
                      <a:pt x="819402" y="157604"/>
                      <a:pt x="825117" y="157604"/>
                    </a:cubicBezTo>
                    <a:cubicBezTo>
                      <a:pt x="831086" y="157604"/>
                      <a:pt x="836293" y="156588"/>
                      <a:pt x="840865" y="154429"/>
                    </a:cubicBezTo>
                    <a:cubicBezTo>
                      <a:pt x="845437" y="152270"/>
                      <a:pt x="848993" y="149349"/>
                      <a:pt x="851660" y="145667"/>
                    </a:cubicBezTo>
                    <a:cubicBezTo>
                      <a:pt x="854327" y="141984"/>
                      <a:pt x="855597" y="137666"/>
                      <a:pt x="855597" y="132713"/>
                    </a:cubicBezTo>
                    <a:cubicBezTo>
                      <a:pt x="855597" y="127760"/>
                      <a:pt x="854200" y="123442"/>
                      <a:pt x="851406" y="119632"/>
                    </a:cubicBezTo>
                    <a:cubicBezTo>
                      <a:pt x="848612" y="115822"/>
                      <a:pt x="844802" y="112774"/>
                      <a:pt x="839722" y="110615"/>
                    </a:cubicBezTo>
                    <a:cubicBezTo>
                      <a:pt x="834642" y="108456"/>
                      <a:pt x="828673" y="107313"/>
                      <a:pt x="821688" y="107313"/>
                    </a:cubicBezTo>
                    <a:lnTo>
                      <a:pt x="804162" y="107313"/>
                    </a:lnTo>
                    <a:lnTo>
                      <a:pt x="804162" y="78739"/>
                    </a:lnTo>
                    <a:lnTo>
                      <a:pt x="821434" y="78739"/>
                    </a:lnTo>
                    <a:cubicBezTo>
                      <a:pt x="827276" y="78739"/>
                      <a:pt x="832483" y="77723"/>
                      <a:pt x="837055" y="75691"/>
                    </a:cubicBezTo>
                    <a:cubicBezTo>
                      <a:pt x="841627" y="73659"/>
                      <a:pt x="845183" y="70865"/>
                      <a:pt x="847723" y="67182"/>
                    </a:cubicBezTo>
                    <a:cubicBezTo>
                      <a:pt x="850263" y="63499"/>
                      <a:pt x="851533" y="59308"/>
                      <a:pt x="851533" y="54355"/>
                    </a:cubicBezTo>
                    <a:cubicBezTo>
                      <a:pt x="851533" y="49783"/>
                      <a:pt x="850390" y="45719"/>
                      <a:pt x="848231" y="42163"/>
                    </a:cubicBezTo>
                    <a:cubicBezTo>
                      <a:pt x="846072" y="38607"/>
                      <a:pt x="843024" y="35813"/>
                      <a:pt x="839087" y="33908"/>
                    </a:cubicBezTo>
                    <a:cubicBezTo>
                      <a:pt x="835150" y="32003"/>
                      <a:pt x="830578" y="30987"/>
                      <a:pt x="825371" y="30987"/>
                    </a:cubicBezTo>
                    <a:cubicBezTo>
                      <a:pt x="820164" y="30987"/>
                      <a:pt x="815211" y="32003"/>
                      <a:pt x="810893" y="33908"/>
                    </a:cubicBezTo>
                    <a:cubicBezTo>
                      <a:pt x="806575" y="35813"/>
                      <a:pt x="803019" y="38480"/>
                      <a:pt x="800352" y="41909"/>
                    </a:cubicBezTo>
                    <a:cubicBezTo>
                      <a:pt x="797685" y="45338"/>
                      <a:pt x="796288" y="49529"/>
                      <a:pt x="796161" y="54228"/>
                    </a:cubicBezTo>
                    <a:lnTo>
                      <a:pt x="758442" y="54228"/>
                    </a:lnTo>
                    <a:cubicBezTo>
                      <a:pt x="758569" y="43560"/>
                      <a:pt x="761617" y="34162"/>
                      <a:pt x="767586" y="26035"/>
                    </a:cubicBezTo>
                    <a:cubicBezTo>
                      <a:pt x="773555" y="17907"/>
                      <a:pt x="781429" y="11557"/>
                      <a:pt x="791335" y="6985"/>
                    </a:cubicBezTo>
                    <a:cubicBezTo>
                      <a:pt x="801241" y="2413"/>
                      <a:pt x="812798" y="0"/>
                      <a:pt x="825371" y="0"/>
                    </a:cubicBezTo>
                    <a:cubicBezTo>
                      <a:pt x="837944" y="0"/>
                      <a:pt x="849247" y="2286"/>
                      <a:pt x="858899" y="6985"/>
                    </a:cubicBezTo>
                    <a:cubicBezTo>
                      <a:pt x="868551" y="11684"/>
                      <a:pt x="875917" y="17907"/>
                      <a:pt x="881124" y="25781"/>
                    </a:cubicBezTo>
                    <a:cubicBezTo>
                      <a:pt x="886331" y="33654"/>
                      <a:pt x="889125" y="42417"/>
                      <a:pt x="888998" y="52069"/>
                    </a:cubicBezTo>
                    <a:cubicBezTo>
                      <a:pt x="888998" y="62356"/>
                      <a:pt x="885823" y="70992"/>
                      <a:pt x="879346" y="77977"/>
                    </a:cubicBezTo>
                    <a:cubicBezTo>
                      <a:pt x="872869" y="84962"/>
                      <a:pt x="864487" y="89279"/>
                      <a:pt x="854200" y="91184"/>
                    </a:cubicBezTo>
                    <a:lnTo>
                      <a:pt x="854200" y="92581"/>
                    </a:lnTo>
                    <a:cubicBezTo>
                      <a:pt x="867789" y="94359"/>
                      <a:pt x="878076" y="99058"/>
                      <a:pt x="885188" y="106805"/>
                    </a:cubicBezTo>
                    <a:cubicBezTo>
                      <a:pt x="892300" y="114552"/>
                      <a:pt x="895856" y="123950"/>
                      <a:pt x="895856" y="135507"/>
                    </a:cubicBezTo>
                    <a:cubicBezTo>
                      <a:pt x="895856" y="146048"/>
                      <a:pt x="892935" y="155318"/>
                      <a:pt x="886712" y="163573"/>
                    </a:cubicBezTo>
                    <a:cubicBezTo>
                      <a:pt x="880489" y="171828"/>
                      <a:pt x="872234" y="178178"/>
                      <a:pt x="861566" y="182877"/>
                    </a:cubicBezTo>
                    <a:cubicBezTo>
                      <a:pt x="850898" y="187576"/>
                      <a:pt x="838579" y="189862"/>
                      <a:pt x="824736" y="189862"/>
                    </a:cubicBezTo>
                    <a:close/>
                    <a:moveTo>
                      <a:pt x="1156206" y="154810"/>
                    </a:moveTo>
                    <a:lnTo>
                      <a:pt x="1156206" y="124077"/>
                    </a:lnTo>
                    <a:lnTo>
                      <a:pt x="1233421" y="2540"/>
                    </a:lnTo>
                    <a:lnTo>
                      <a:pt x="1259964" y="2540"/>
                    </a:lnTo>
                    <a:lnTo>
                      <a:pt x="1259964" y="45084"/>
                    </a:lnTo>
                    <a:lnTo>
                      <a:pt x="1244343" y="45084"/>
                    </a:lnTo>
                    <a:lnTo>
                      <a:pt x="1195702" y="122045"/>
                    </a:lnTo>
                    <a:lnTo>
                      <a:pt x="1195702" y="123442"/>
                    </a:lnTo>
                    <a:lnTo>
                      <a:pt x="1305303" y="123442"/>
                    </a:lnTo>
                    <a:lnTo>
                      <a:pt x="1305303" y="154683"/>
                    </a:lnTo>
                    <a:lnTo>
                      <a:pt x="1156333" y="154683"/>
                    </a:lnTo>
                    <a:close/>
                    <a:moveTo>
                      <a:pt x="1244978" y="187195"/>
                    </a:moveTo>
                    <a:lnTo>
                      <a:pt x="1244978" y="145286"/>
                    </a:lnTo>
                    <a:lnTo>
                      <a:pt x="1245740" y="131697"/>
                    </a:lnTo>
                    <a:lnTo>
                      <a:pt x="1245740" y="2540"/>
                    </a:lnTo>
                    <a:lnTo>
                      <a:pt x="1282316" y="2540"/>
                    </a:lnTo>
                    <a:lnTo>
                      <a:pt x="1282316" y="187195"/>
                    </a:lnTo>
                    <a:lnTo>
                      <a:pt x="1244978" y="187195"/>
                    </a:lnTo>
                    <a:close/>
                    <a:moveTo>
                      <a:pt x="1633851" y="189735"/>
                    </a:moveTo>
                    <a:cubicBezTo>
                      <a:pt x="1621151" y="189735"/>
                      <a:pt x="1609722" y="187449"/>
                      <a:pt x="1599816" y="182750"/>
                    </a:cubicBezTo>
                    <a:cubicBezTo>
                      <a:pt x="1589910" y="178051"/>
                      <a:pt x="1582036" y="171574"/>
                      <a:pt x="1576194" y="163319"/>
                    </a:cubicBezTo>
                    <a:cubicBezTo>
                      <a:pt x="1570352" y="155064"/>
                      <a:pt x="1567304" y="145667"/>
                      <a:pt x="1567050" y="134999"/>
                    </a:cubicBezTo>
                    <a:lnTo>
                      <a:pt x="1604896" y="134999"/>
                    </a:lnTo>
                    <a:cubicBezTo>
                      <a:pt x="1605277" y="142111"/>
                      <a:pt x="1608325" y="147952"/>
                      <a:pt x="1613913" y="152397"/>
                    </a:cubicBezTo>
                    <a:cubicBezTo>
                      <a:pt x="1619501" y="156842"/>
                      <a:pt x="1626104" y="159128"/>
                      <a:pt x="1633851" y="159128"/>
                    </a:cubicBezTo>
                    <a:cubicBezTo>
                      <a:pt x="1639948" y="159128"/>
                      <a:pt x="1645409" y="157731"/>
                      <a:pt x="1650107" y="155064"/>
                    </a:cubicBezTo>
                    <a:cubicBezTo>
                      <a:pt x="1654807" y="152397"/>
                      <a:pt x="1658616" y="148460"/>
                      <a:pt x="1661157" y="143635"/>
                    </a:cubicBezTo>
                    <a:cubicBezTo>
                      <a:pt x="1663697" y="138809"/>
                      <a:pt x="1665221" y="133094"/>
                      <a:pt x="1665221" y="126617"/>
                    </a:cubicBezTo>
                    <a:cubicBezTo>
                      <a:pt x="1665221" y="120140"/>
                      <a:pt x="1663823" y="114425"/>
                      <a:pt x="1661029" y="109472"/>
                    </a:cubicBezTo>
                    <a:cubicBezTo>
                      <a:pt x="1658235" y="104519"/>
                      <a:pt x="1654553" y="100709"/>
                      <a:pt x="1649726" y="97915"/>
                    </a:cubicBezTo>
                    <a:cubicBezTo>
                      <a:pt x="1644901" y="95121"/>
                      <a:pt x="1639440" y="93724"/>
                      <a:pt x="1633216" y="93724"/>
                    </a:cubicBezTo>
                    <a:cubicBezTo>
                      <a:pt x="1627756" y="93724"/>
                      <a:pt x="1622548" y="94867"/>
                      <a:pt x="1617469" y="97026"/>
                    </a:cubicBezTo>
                    <a:cubicBezTo>
                      <a:pt x="1612389" y="99185"/>
                      <a:pt x="1608452" y="102233"/>
                      <a:pt x="1605658" y="106170"/>
                    </a:cubicBezTo>
                    <a:lnTo>
                      <a:pt x="1570987" y="99947"/>
                    </a:lnTo>
                    <a:lnTo>
                      <a:pt x="1579750" y="2540"/>
                    </a:lnTo>
                    <a:lnTo>
                      <a:pt x="1692653" y="2540"/>
                    </a:lnTo>
                    <a:lnTo>
                      <a:pt x="1692653" y="34416"/>
                    </a:lnTo>
                    <a:lnTo>
                      <a:pt x="1611881" y="34416"/>
                    </a:lnTo>
                    <a:lnTo>
                      <a:pt x="1607055" y="80644"/>
                    </a:lnTo>
                    <a:lnTo>
                      <a:pt x="1608198" y="80644"/>
                    </a:lnTo>
                    <a:cubicBezTo>
                      <a:pt x="1611500" y="76072"/>
                      <a:pt x="1616326" y="72262"/>
                      <a:pt x="1622929" y="69341"/>
                    </a:cubicBezTo>
                    <a:cubicBezTo>
                      <a:pt x="1629534" y="66420"/>
                      <a:pt x="1636773" y="64769"/>
                      <a:pt x="1644901" y="64769"/>
                    </a:cubicBezTo>
                    <a:cubicBezTo>
                      <a:pt x="1656076" y="64769"/>
                      <a:pt x="1665982" y="67436"/>
                      <a:pt x="1674619" y="72643"/>
                    </a:cubicBezTo>
                    <a:cubicBezTo>
                      <a:pt x="1683254" y="77850"/>
                      <a:pt x="1690240" y="85089"/>
                      <a:pt x="1695320" y="94232"/>
                    </a:cubicBezTo>
                    <a:cubicBezTo>
                      <a:pt x="1700399" y="103376"/>
                      <a:pt x="1702812" y="113790"/>
                      <a:pt x="1702812" y="125601"/>
                    </a:cubicBezTo>
                    <a:cubicBezTo>
                      <a:pt x="1702812" y="138047"/>
                      <a:pt x="1700018" y="149095"/>
                      <a:pt x="1694176" y="158747"/>
                    </a:cubicBezTo>
                    <a:cubicBezTo>
                      <a:pt x="1688335" y="168399"/>
                      <a:pt x="1680334" y="175892"/>
                      <a:pt x="1669920" y="181480"/>
                    </a:cubicBezTo>
                    <a:cubicBezTo>
                      <a:pt x="1659506" y="187068"/>
                      <a:pt x="1647568" y="189735"/>
                      <a:pt x="1633851" y="189735"/>
                    </a:cubicBezTo>
                    <a:close/>
                    <a:moveTo>
                      <a:pt x="2036060" y="189735"/>
                    </a:moveTo>
                    <a:cubicBezTo>
                      <a:pt x="2026535" y="189735"/>
                      <a:pt x="2017391" y="188084"/>
                      <a:pt x="2008501" y="184909"/>
                    </a:cubicBezTo>
                    <a:cubicBezTo>
                      <a:pt x="1999611" y="181734"/>
                      <a:pt x="1991864" y="176654"/>
                      <a:pt x="1984879" y="169669"/>
                    </a:cubicBezTo>
                    <a:cubicBezTo>
                      <a:pt x="1977894" y="162684"/>
                      <a:pt x="1972433" y="153286"/>
                      <a:pt x="1968242" y="141730"/>
                    </a:cubicBezTo>
                    <a:cubicBezTo>
                      <a:pt x="1964051" y="130173"/>
                      <a:pt x="1962146" y="115822"/>
                      <a:pt x="1962146" y="98931"/>
                    </a:cubicBezTo>
                    <a:cubicBezTo>
                      <a:pt x="1962146" y="83438"/>
                      <a:pt x="1963924" y="69595"/>
                      <a:pt x="1967480" y="57403"/>
                    </a:cubicBezTo>
                    <a:cubicBezTo>
                      <a:pt x="1971036" y="45211"/>
                      <a:pt x="1976116" y="34670"/>
                      <a:pt x="1982593" y="26162"/>
                    </a:cubicBezTo>
                    <a:cubicBezTo>
                      <a:pt x="1989070" y="17653"/>
                      <a:pt x="1997452" y="11176"/>
                      <a:pt x="2006596" y="6731"/>
                    </a:cubicBezTo>
                    <a:cubicBezTo>
                      <a:pt x="2015740" y="2286"/>
                      <a:pt x="2026154" y="0"/>
                      <a:pt x="2037584" y="0"/>
                    </a:cubicBezTo>
                    <a:cubicBezTo>
                      <a:pt x="2049903" y="0"/>
                      <a:pt x="2060825" y="2413"/>
                      <a:pt x="2070223" y="7239"/>
                    </a:cubicBezTo>
                    <a:cubicBezTo>
                      <a:pt x="2079621" y="12065"/>
                      <a:pt x="2087241" y="18415"/>
                      <a:pt x="2092956" y="26670"/>
                    </a:cubicBezTo>
                    <a:cubicBezTo>
                      <a:pt x="2098671" y="34924"/>
                      <a:pt x="2102227" y="44068"/>
                      <a:pt x="2103370" y="54228"/>
                    </a:cubicBezTo>
                    <a:lnTo>
                      <a:pt x="2064889" y="54228"/>
                    </a:lnTo>
                    <a:cubicBezTo>
                      <a:pt x="2063365" y="47751"/>
                      <a:pt x="2060190" y="42798"/>
                      <a:pt x="2055364" y="39115"/>
                    </a:cubicBezTo>
                    <a:cubicBezTo>
                      <a:pt x="2050538" y="35432"/>
                      <a:pt x="2044569" y="33654"/>
                      <a:pt x="2037457" y="33654"/>
                    </a:cubicBezTo>
                    <a:cubicBezTo>
                      <a:pt x="2025392" y="33654"/>
                      <a:pt x="2016248" y="38861"/>
                      <a:pt x="2010025" y="49402"/>
                    </a:cubicBezTo>
                    <a:cubicBezTo>
                      <a:pt x="2003802" y="59943"/>
                      <a:pt x="2000627" y="74040"/>
                      <a:pt x="2000500" y="92073"/>
                    </a:cubicBezTo>
                    <a:lnTo>
                      <a:pt x="2001770" y="92073"/>
                    </a:lnTo>
                    <a:cubicBezTo>
                      <a:pt x="2004564" y="86613"/>
                      <a:pt x="2008247" y="81914"/>
                      <a:pt x="2012946" y="78104"/>
                    </a:cubicBezTo>
                    <a:cubicBezTo>
                      <a:pt x="2017645" y="74294"/>
                      <a:pt x="2023106" y="71246"/>
                      <a:pt x="2029075" y="69214"/>
                    </a:cubicBezTo>
                    <a:cubicBezTo>
                      <a:pt x="2035044" y="67182"/>
                      <a:pt x="2041521" y="66039"/>
                      <a:pt x="2048252" y="66039"/>
                    </a:cubicBezTo>
                    <a:cubicBezTo>
                      <a:pt x="2059174" y="66039"/>
                      <a:pt x="2068953" y="68579"/>
                      <a:pt x="2077462" y="73786"/>
                    </a:cubicBezTo>
                    <a:cubicBezTo>
                      <a:pt x="2085971" y="78993"/>
                      <a:pt x="2092702" y="85978"/>
                      <a:pt x="2097655" y="94867"/>
                    </a:cubicBezTo>
                    <a:cubicBezTo>
                      <a:pt x="2102608" y="103757"/>
                      <a:pt x="2105021" y="114044"/>
                      <a:pt x="2105021" y="125601"/>
                    </a:cubicBezTo>
                    <a:cubicBezTo>
                      <a:pt x="2105021" y="138047"/>
                      <a:pt x="2102100" y="149222"/>
                      <a:pt x="2096258" y="159001"/>
                    </a:cubicBezTo>
                    <a:cubicBezTo>
                      <a:pt x="2090416" y="168780"/>
                      <a:pt x="2082415" y="176400"/>
                      <a:pt x="2072001" y="181861"/>
                    </a:cubicBezTo>
                    <a:cubicBezTo>
                      <a:pt x="2061587" y="187322"/>
                      <a:pt x="2049649" y="189989"/>
                      <a:pt x="2035933" y="189989"/>
                    </a:cubicBezTo>
                    <a:close/>
                    <a:moveTo>
                      <a:pt x="2035806" y="159382"/>
                    </a:moveTo>
                    <a:cubicBezTo>
                      <a:pt x="2041775" y="159382"/>
                      <a:pt x="2047236" y="157985"/>
                      <a:pt x="2051935" y="155064"/>
                    </a:cubicBezTo>
                    <a:cubicBezTo>
                      <a:pt x="2056634" y="152143"/>
                      <a:pt x="2060444" y="148206"/>
                      <a:pt x="2063111" y="143381"/>
                    </a:cubicBezTo>
                    <a:cubicBezTo>
                      <a:pt x="2065778" y="138555"/>
                      <a:pt x="2067175" y="132967"/>
                      <a:pt x="2067175" y="126744"/>
                    </a:cubicBezTo>
                    <a:cubicBezTo>
                      <a:pt x="2067175" y="120521"/>
                      <a:pt x="2065778" y="115060"/>
                      <a:pt x="2063111" y="110234"/>
                    </a:cubicBezTo>
                    <a:cubicBezTo>
                      <a:pt x="2060444" y="105408"/>
                      <a:pt x="2056761" y="101471"/>
                      <a:pt x="2052062" y="98550"/>
                    </a:cubicBezTo>
                    <a:cubicBezTo>
                      <a:pt x="2047363" y="95629"/>
                      <a:pt x="2042029" y="94232"/>
                      <a:pt x="2036060" y="94232"/>
                    </a:cubicBezTo>
                    <a:cubicBezTo>
                      <a:pt x="2031488" y="94232"/>
                      <a:pt x="2027424" y="95121"/>
                      <a:pt x="2023487" y="96772"/>
                    </a:cubicBezTo>
                    <a:cubicBezTo>
                      <a:pt x="2019550" y="98423"/>
                      <a:pt x="2016375" y="100836"/>
                      <a:pt x="2013454" y="103757"/>
                    </a:cubicBezTo>
                    <a:cubicBezTo>
                      <a:pt x="2010533" y="106678"/>
                      <a:pt x="2008374" y="110234"/>
                      <a:pt x="2006723" y="114171"/>
                    </a:cubicBezTo>
                    <a:cubicBezTo>
                      <a:pt x="2005072" y="118108"/>
                      <a:pt x="2004310" y="122299"/>
                      <a:pt x="2004310" y="126744"/>
                    </a:cubicBezTo>
                    <a:cubicBezTo>
                      <a:pt x="2004310" y="132713"/>
                      <a:pt x="2005707" y="138174"/>
                      <a:pt x="2008374" y="143127"/>
                    </a:cubicBezTo>
                    <a:cubicBezTo>
                      <a:pt x="2011041" y="148079"/>
                      <a:pt x="2014851" y="152016"/>
                      <a:pt x="2019550" y="154937"/>
                    </a:cubicBezTo>
                    <a:cubicBezTo>
                      <a:pt x="2024249" y="157858"/>
                      <a:pt x="2029710" y="159382"/>
                      <a:pt x="2035679" y="159382"/>
                    </a:cubicBezTo>
                    <a:close/>
                    <a:moveTo>
                      <a:pt x="2375022" y="187576"/>
                    </a:moveTo>
                    <a:lnTo>
                      <a:pt x="2451603" y="36067"/>
                    </a:lnTo>
                    <a:lnTo>
                      <a:pt x="2451603" y="34797"/>
                    </a:lnTo>
                    <a:lnTo>
                      <a:pt x="2362449" y="34797"/>
                    </a:lnTo>
                    <a:lnTo>
                      <a:pt x="2362449" y="2540"/>
                    </a:lnTo>
                    <a:lnTo>
                      <a:pt x="2492116" y="2540"/>
                    </a:lnTo>
                    <a:lnTo>
                      <a:pt x="2492116" y="34924"/>
                    </a:lnTo>
                    <a:lnTo>
                      <a:pt x="2415408" y="187322"/>
                    </a:lnTo>
                    <a:lnTo>
                      <a:pt x="2375149" y="18732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DE"/>
              </a:p>
            </p:txBody>
          </p:sp>
        </p:grpSp>
        <p:sp>
          <p:nvSpPr>
            <p:cNvPr id="56" name="Freeform 56"/>
            <p:cNvSpPr/>
            <p:nvPr/>
          </p:nvSpPr>
          <p:spPr>
            <a:xfrm>
              <a:off x="15145764" y="3842388"/>
              <a:ext cx="1357185" cy="188988"/>
            </a:xfrm>
            <a:custGeom>
              <a:avLst/>
              <a:gdLst/>
              <a:ahLst/>
              <a:cxnLst/>
              <a:rect l="l" t="t" r="r" b="b"/>
              <a:pathLst>
                <a:path w="1357185" h="188988">
                  <a:moveTo>
                    <a:pt x="0" y="0"/>
                  </a:moveTo>
                  <a:lnTo>
                    <a:pt x="1357184" y="0"/>
                  </a:lnTo>
                  <a:lnTo>
                    <a:pt x="1357184" y="188988"/>
                  </a:lnTo>
                  <a:lnTo>
                    <a:pt x="0" y="188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DE"/>
            </a:p>
          </p:txBody>
        </p:sp>
        <p:sp>
          <p:nvSpPr>
            <p:cNvPr id="57" name="Freeform 57"/>
            <p:cNvSpPr/>
            <p:nvPr/>
          </p:nvSpPr>
          <p:spPr>
            <a:xfrm>
              <a:off x="14870020" y="4272844"/>
              <a:ext cx="1722802" cy="568750"/>
            </a:xfrm>
            <a:custGeom>
              <a:avLst/>
              <a:gdLst/>
              <a:ahLst/>
              <a:cxnLst/>
              <a:rect l="l" t="t" r="r" b="b"/>
              <a:pathLst>
                <a:path w="1722802" h="568750">
                  <a:moveTo>
                    <a:pt x="0" y="0"/>
                  </a:moveTo>
                  <a:lnTo>
                    <a:pt x="1722802" y="0"/>
                  </a:lnTo>
                  <a:lnTo>
                    <a:pt x="1722802" y="568749"/>
                  </a:lnTo>
                  <a:lnTo>
                    <a:pt x="0" y="568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DE"/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16535536" y="5244999"/>
              <a:ext cx="422117" cy="289840"/>
              <a:chOff x="0" y="0"/>
              <a:chExt cx="558673" cy="383604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604" y="0"/>
                <a:ext cx="552071" cy="383546"/>
              </a:xfrm>
              <a:custGeom>
                <a:avLst/>
                <a:gdLst/>
                <a:ahLst/>
                <a:cxnLst/>
                <a:rect l="l" t="t" r="r" b="b"/>
                <a:pathLst>
                  <a:path w="552071" h="383546">
                    <a:moveTo>
                      <a:pt x="108585" y="0"/>
                    </a:moveTo>
                    <a:lnTo>
                      <a:pt x="139827" y="98299"/>
                    </a:lnTo>
                    <a:lnTo>
                      <a:pt x="140970" y="98299"/>
                    </a:lnTo>
                    <a:lnTo>
                      <a:pt x="172340" y="0"/>
                    </a:lnTo>
                    <a:lnTo>
                      <a:pt x="202693" y="0"/>
                    </a:lnTo>
                    <a:lnTo>
                      <a:pt x="158115" y="129288"/>
                    </a:lnTo>
                    <a:lnTo>
                      <a:pt x="122809" y="129288"/>
                    </a:lnTo>
                    <a:lnTo>
                      <a:pt x="78232" y="0"/>
                    </a:lnTo>
                    <a:lnTo>
                      <a:pt x="108585" y="0"/>
                    </a:lnTo>
                    <a:close/>
                    <a:moveTo>
                      <a:pt x="251080" y="131193"/>
                    </a:moveTo>
                    <a:cubicBezTo>
                      <a:pt x="241047" y="131193"/>
                      <a:pt x="232538" y="129161"/>
                      <a:pt x="225299" y="125097"/>
                    </a:cubicBezTo>
                    <a:cubicBezTo>
                      <a:pt x="218060" y="121033"/>
                      <a:pt x="212599" y="115191"/>
                      <a:pt x="208789" y="107825"/>
                    </a:cubicBezTo>
                    <a:cubicBezTo>
                      <a:pt x="204979" y="100458"/>
                      <a:pt x="202947" y="91441"/>
                      <a:pt x="202947" y="81281"/>
                    </a:cubicBezTo>
                    <a:cubicBezTo>
                      <a:pt x="202947" y="71248"/>
                      <a:pt x="204852" y="62612"/>
                      <a:pt x="208789" y="54992"/>
                    </a:cubicBezTo>
                    <a:cubicBezTo>
                      <a:pt x="212726" y="47372"/>
                      <a:pt x="218060" y="41530"/>
                      <a:pt x="225172" y="37339"/>
                    </a:cubicBezTo>
                    <a:cubicBezTo>
                      <a:pt x="232284" y="33147"/>
                      <a:pt x="240539" y="30988"/>
                      <a:pt x="250064" y="30988"/>
                    </a:cubicBezTo>
                    <a:cubicBezTo>
                      <a:pt x="256414" y="30988"/>
                      <a:pt x="262383" y="32004"/>
                      <a:pt x="267971" y="34037"/>
                    </a:cubicBezTo>
                    <a:cubicBezTo>
                      <a:pt x="273559" y="36069"/>
                      <a:pt x="278385" y="39117"/>
                      <a:pt x="282449" y="43181"/>
                    </a:cubicBezTo>
                    <a:cubicBezTo>
                      <a:pt x="286513" y="47245"/>
                      <a:pt x="289815" y="52452"/>
                      <a:pt x="292228" y="58548"/>
                    </a:cubicBezTo>
                    <a:cubicBezTo>
                      <a:pt x="294641" y="64644"/>
                      <a:pt x="295657" y="71883"/>
                      <a:pt x="295657" y="80138"/>
                    </a:cubicBezTo>
                    <a:lnTo>
                      <a:pt x="295657" y="87504"/>
                    </a:lnTo>
                    <a:lnTo>
                      <a:pt x="213615" y="87504"/>
                    </a:lnTo>
                    <a:lnTo>
                      <a:pt x="213615" y="70994"/>
                    </a:lnTo>
                    <a:lnTo>
                      <a:pt x="270130" y="70994"/>
                    </a:lnTo>
                    <a:cubicBezTo>
                      <a:pt x="270130" y="67184"/>
                      <a:pt x="269241" y="63628"/>
                      <a:pt x="267590" y="60707"/>
                    </a:cubicBezTo>
                    <a:cubicBezTo>
                      <a:pt x="265939" y="57786"/>
                      <a:pt x="263526" y="55373"/>
                      <a:pt x="260605" y="53722"/>
                    </a:cubicBezTo>
                    <a:cubicBezTo>
                      <a:pt x="257684" y="52071"/>
                      <a:pt x="254255" y="51182"/>
                      <a:pt x="250318" y="51182"/>
                    </a:cubicBezTo>
                    <a:cubicBezTo>
                      <a:pt x="246254" y="51182"/>
                      <a:pt x="242571" y="52071"/>
                      <a:pt x="239396" y="53976"/>
                    </a:cubicBezTo>
                    <a:cubicBezTo>
                      <a:pt x="236221" y="55881"/>
                      <a:pt x="233808" y="58294"/>
                      <a:pt x="232030" y="61469"/>
                    </a:cubicBezTo>
                    <a:cubicBezTo>
                      <a:pt x="230252" y="64644"/>
                      <a:pt x="229363" y="68073"/>
                      <a:pt x="229363" y="71883"/>
                    </a:cubicBezTo>
                    <a:lnTo>
                      <a:pt x="229363" y="87758"/>
                    </a:lnTo>
                    <a:cubicBezTo>
                      <a:pt x="229363" y="92584"/>
                      <a:pt x="230252" y="96648"/>
                      <a:pt x="232030" y="100204"/>
                    </a:cubicBezTo>
                    <a:cubicBezTo>
                      <a:pt x="233808" y="103761"/>
                      <a:pt x="236348" y="106428"/>
                      <a:pt x="239650" y="108333"/>
                    </a:cubicBezTo>
                    <a:cubicBezTo>
                      <a:pt x="242952" y="110238"/>
                      <a:pt x="246889" y="111127"/>
                      <a:pt x="251334" y="111127"/>
                    </a:cubicBezTo>
                    <a:cubicBezTo>
                      <a:pt x="254382" y="111127"/>
                      <a:pt x="257049" y="110746"/>
                      <a:pt x="259589" y="109857"/>
                    </a:cubicBezTo>
                    <a:cubicBezTo>
                      <a:pt x="262129" y="108968"/>
                      <a:pt x="264161" y="107698"/>
                      <a:pt x="265939" y="106047"/>
                    </a:cubicBezTo>
                    <a:cubicBezTo>
                      <a:pt x="267717" y="104396"/>
                      <a:pt x="269114" y="102363"/>
                      <a:pt x="270003" y="99823"/>
                    </a:cubicBezTo>
                    <a:lnTo>
                      <a:pt x="294895" y="101474"/>
                    </a:lnTo>
                    <a:cubicBezTo>
                      <a:pt x="293625" y="107444"/>
                      <a:pt x="291085" y="112651"/>
                      <a:pt x="287148" y="117096"/>
                    </a:cubicBezTo>
                    <a:cubicBezTo>
                      <a:pt x="283211" y="121541"/>
                      <a:pt x="278258" y="124970"/>
                      <a:pt x="272162" y="127510"/>
                    </a:cubicBezTo>
                    <a:cubicBezTo>
                      <a:pt x="266066" y="130050"/>
                      <a:pt x="258954" y="131193"/>
                      <a:pt x="250953" y="131193"/>
                    </a:cubicBezTo>
                    <a:close/>
                    <a:moveTo>
                      <a:pt x="313056" y="129288"/>
                    </a:moveTo>
                    <a:lnTo>
                      <a:pt x="313056" y="32385"/>
                    </a:lnTo>
                    <a:lnTo>
                      <a:pt x="339091" y="32385"/>
                    </a:lnTo>
                    <a:lnTo>
                      <a:pt x="339091" y="49277"/>
                    </a:lnTo>
                    <a:lnTo>
                      <a:pt x="340107" y="49277"/>
                    </a:lnTo>
                    <a:cubicBezTo>
                      <a:pt x="341885" y="43308"/>
                      <a:pt x="344806" y="38736"/>
                      <a:pt x="348997" y="35688"/>
                    </a:cubicBezTo>
                    <a:cubicBezTo>
                      <a:pt x="353188" y="32639"/>
                      <a:pt x="358014" y="30988"/>
                      <a:pt x="363348" y="30988"/>
                    </a:cubicBezTo>
                    <a:cubicBezTo>
                      <a:pt x="364745" y="30988"/>
                      <a:pt x="366142" y="31115"/>
                      <a:pt x="367666" y="31242"/>
                    </a:cubicBezTo>
                    <a:cubicBezTo>
                      <a:pt x="369190" y="31369"/>
                      <a:pt x="370587" y="31623"/>
                      <a:pt x="371730" y="31877"/>
                    </a:cubicBezTo>
                    <a:lnTo>
                      <a:pt x="371730" y="55754"/>
                    </a:lnTo>
                    <a:cubicBezTo>
                      <a:pt x="370460" y="55373"/>
                      <a:pt x="368682" y="54992"/>
                      <a:pt x="366523" y="54738"/>
                    </a:cubicBezTo>
                    <a:cubicBezTo>
                      <a:pt x="364364" y="54484"/>
                      <a:pt x="362205" y="54357"/>
                      <a:pt x="360427" y="54357"/>
                    </a:cubicBezTo>
                    <a:cubicBezTo>
                      <a:pt x="356490" y="54357"/>
                      <a:pt x="352934" y="55246"/>
                      <a:pt x="349759" y="56897"/>
                    </a:cubicBezTo>
                    <a:cubicBezTo>
                      <a:pt x="346584" y="58548"/>
                      <a:pt x="344298" y="60961"/>
                      <a:pt x="342393" y="64009"/>
                    </a:cubicBezTo>
                    <a:cubicBezTo>
                      <a:pt x="340488" y="67057"/>
                      <a:pt x="339726" y="70486"/>
                      <a:pt x="339726" y="74550"/>
                    </a:cubicBezTo>
                    <a:lnTo>
                      <a:pt x="339726" y="129415"/>
                    </a:lnTo>
                    <a:lnTo>
                      <a:pt x="313056" y="129415"/>
                    </a:lnTo>
                    <a:close/>
                    <a:moveTo>
                      <a:pt x="405385" y="165737"/>
                    </a:moveTo>
                    <a:cubicBezTo>
                      <a:pt x="401956" y="165737"/>
                      <a:pt x="398781" y="165483"/>
                      <a:pt x="395733" y="164975"/>
                    </a:cubicBezTo>
                    <a:cubicBezTo>
                      <a:pt x="392685" y="164467"/>
                      <a:pt x="390399" y="163832"/>
                      <a:pt x="388367" y="163070"/>
                    </a:cubicBezTo>
                    <a:lnTo>
                      <a:pt x="394463" y="143004"/>
                    </a:lnTo>
                    <a:cubicBezTo>
                      <a:pt x="397638" y="144020"/>
                      <a:pt x="400432" y="144528"/>
                      <a:pt x="402972" y="144528"/>
                    </a:cubicBezTo>
                    <a:cubicBezTo>
                      <a:pt x="405512" y="144528"/>
                      <a:pt x="407798" y="144020"/>
                      <a:pt x="409576" y="142750"/>
                    </a:cubicBezTo>
                    <a:cubicBezTo>
                      <a:pt x="411354" y="141480"/>
                      <a:pt x="413005" y="139321"/>
                      <a:pt x="414148" y="136273"/>
                    </a:cubicBezTo>
                    <a:lnTo>
                      <a:pt x="415672" y="132209"/>
                    </a:lnTo>
                    <a:lnTo>
                      <a:pt x="380874" y="32385"/>
                    </a:lnTo>
                    <a:lnTo>
                      <a:pt x="409195" y="32385"/>
                    </a:lnTo>
                    <a:lnTo>
                      <a:pt x="429261" y="103634"/>
                    </a:lnTo>
                    <a:lnTo>
                      <a:pt x="430277" y="103634"/>
                    </a:lnTo>
                    <a:lnTo>
                      <a:pt x="450597" y="32385"/>
                    </a:lnTo>
                    <a:lnTo>
                      <a:pt x="479045" y="32385"/>
                    </a:lnTo>
                    <a:lnTo>
                      <a:pt x="441326" y="139829"/>
                    </a:lnTo>
                    <a:cubicBezTo>
                      <a:pt x="439548" y="145036"/>
                      <a:pt x="437008" y="149608"/>
                      <a:pt x="433960" y="153418"/>
                    </a:cubicBezTo>
                    <a:cubicBezTo>
                      <a:pt x="430912" y="157228"/>
                      <a:pt x="426975" y="160403"/>
                      <a:pt x="422276" y="162435"/>
                    </a:cubicBezTo>
                    <a:cubicBezTo>
                      <a:pt x="417577" y="164467"/>
                      <a:pt x="411862" y="165610"/>
                      <a:pt x="405258" y="165610"/>
                    </a:cubicBezTo>
                    <a:close/>
                    <a:moveTo>
                      <a:pt x="84836" y="275848"/>
                    </a:moveTo>
                    <a:lnTo>
                      <a:pt x="60198" y="277372"/>
                    </a:lnTo>
                    <a:cubicBezTo>
                      <a:pt x="59817" y="275213"/>
                      <a:pt x="58928" y="273435"/>
                      <a:pt x="57531" y="271657"/>
                    </a:cubicBezTo>
                    <a:cubicBezTo>
                      <a:pt x="56134" y="269879"/>
                      <a:pt x="54356" y="268609"/>
                      <a:pt x="52070" y="267593"/>
                    </a:cubicBezTo>
                    <a:cubicBezTo>
                      <a:pt x="49784" y="266577"/>
                      <a:pt x="47117" y="266069"/>
                      <a:pt x="44069" y="266069"/>
                    </a:cubicBezTo>
                    <a:cubicBezTo>
                      <a:pt x="39878" y="266069"/>
                      <a:pt x="36449" y="266958"/>
                      <a:pt x="33528" y="268736"/>
                    </a:cubicBezTo>
                    <a:cubicBezTo>
                      <a:pt x="30607" y="270514"/>
                      <a:pt x="29210" y="272800"/>
                      <a:pt x="29210" y="275721"/>
                    </a:cubicBezTo>
                    <a:cubicBezTo>
                      <a:pt x="29210" y="278007"/>
                      <a:pt x="30099" y="280039"/>
                      <a:pt x="32004" y="281563"/>
                    </a:cubicBezTo>
                    <a:cubicBezTo>
                      <a:pt x="33909" y="283087"/>
                      <a:pt x="37084" y="284484"/>
                      <a:pt x="41529" y="285373"/>
                    </a:cubicBezTo>
                    <a:lnTo>
                      <a:pt x="59055" y="288929"/>
                    </a:lnTo>
                    <a:cubicBezTo>
                      <a:pt x="68453" y="290834"/>
                      <a:pt x="75565" y="294009"/>
                      <a:pt x="80137" y="298327"/>
                    </a:cubicBezTo>
                    <a:cubicBezTo>
                      <a:pt x="84709" y="302645"/>
                      <a:pt x="87122" y="308234"/>
                      <a:pt x="87122" y="315219"/>
                    </a:cubicBezTo>
                    <a:cubicBezTo>
                      <a:pt x="87122" y="321569"/>
                      <a:pt x="85217" y="327157"/>
                      <a:pt x="81534" y="331983"/>
                    </a:cubicBezTo>
                    <a:cubicBezTo>
                      <a:pt x="77851" y="336809"/>
                      <a:pt x="72771" y="340492"/>
                      <a:pt x="66294" y="343159"/>
                    </a:cubicBezTo>
                    <a:cubicBezTo>
                      <a:pt x="59817" y="345826"/>
                      <a:pt x="52451" y="347096"/>
                      <a:pt x="44069" y="347096"/>
                    </a:cubicBezTo>
                    <a:cubicBezTo>
                      <a:pt x="31242" y="347096"/>
                      <a:pt x="20955" y="344429"/>
                      <a:pt x="13335" y="339095"/>
                    </a:cubicBezTo>
                    <a:cubicBezTo>
                      <a:pt x="5715" y="333761"/>
                      <a:pt x="1270" y="326395"/>
                      <a:pt x="0" y="317124"/>
                    </a:cubicBezTo>
                    <a:lnTo>
                      <a:pt x="26416" y="315727"/>
                    </a:lnTo>
                    <a:cubicBezTo>
                      <a:pt x="27178" y="319664"/>
                      <a:pt x="29210" y="322585"/>
                      <a:pt x="32258" y="324744"/>
                    </a:cubicBezTo>
                    <a:cubicBezTo>
                      <a:pt x="35306" y="326903"/>
                      <a:pt x="39243" y="327792"/>
                      <a:pt x="44069" y="327792"/>
                    </a:cubicBezTo>
                    <a:cubicBezTo>
                      <a:pt x="48895" y="327792"/>
                      <a:pt x="52578" y="326903"/>
                      <a:pt x="55372" y="325125"/>
                    </a:cubicBezTo>
                    <a:cubicBezTo>
                      <a:pt x="58166" y="323347"/>
                      <a:pt x="59690" y="320934"/>
                      <a:pt x="59817" y="318013"/>
                    </a:cubicBezTo>
                    <a:cubicBezTo>
                      <a:pt x="59817" y="315600"/>
                      <a:pt x="58801" y="313568"/>
                      <a:pt x="56769" y="312044"/>
                    </a:cubicBezTo>
                    <a:cubicBezTo>
                      <a:pt x="54737" y="310520"/>
                      <a:pt x="51689" y="309250"/>
                      <a:pt x="47371" y="308361"/>
                    </a:cubicBezTo>
                    <a:lnTo>
                      <a:pt x="30607" y="305058"/>
                    </a:lnTo>
                    <a:cubicBezTo>
                      <a:pt x="21082" y="303153"/>
                      <a:pt x="14097" y="299851"/>
                      <a:pt x="9398" y="295152"/>
                    </a:cubicBezTo>
                    <a:cubicBezTo>
                      <a:pt x="4699" y="290453"/>
                      <a:pt x="2540" y="284484"/>
                      <a:pt x="2540" y="277245"/>
                    </a:cubicBezTo>
                    <a:cubicBezTo>
                      <a:pt x="2540" y="271022"/>
                      <a:pt x="4191" y="265688"/>
                      <a:pt x="7620" y="261116"/>
                    </a:cubicBezTo>
                    <a:cubicBezTo>
                      <a:pt x="11049" y="256544"/>
                      <a:pt x="15748" y="253115"/>
                      <a:pt x="21971" y="250702"/>
                    </a:cubicBezTo>
                    <a:cubicBezTo>
                      <a:pt x="28194" y="248289"/>
                      <a:pt x="35433" y="247019"/>
                      <a:pt x="43688" y="247019"/>
                    </a:cubicBezTo>
                    <a:cubicBezTo>
                      <a:pt x="55880" y="247019"/>
                      <a:pt x="65532" y="249559"/>
                      <a:pt x="72644" y="254766"/>
                    </a:cubicBezTo>
                    <a:cubicBezTo>
                      <a:pt x="79756" y="259973"/>
                      <a:pt x="83820" y="266958"/>
                      <a:pt x="84963" y="275975"/>
                    </a:cubicBezTo>
                    <a:close/>
                    <a:moveTo>
                      <a:pt x="155702" y="248289"/>
                    </a:moveTo>
                    <a:lnTo>
                      <a:pt x="155702" y="268482"/>
                    </a:lnTo>
                    <a:lnTo>
                      <a:pt x="97155" y="268482"/>
                    </a:lnTo>
                    <a:lnTo>
                      <a:pt x="97155" y="248289"/>
                    </a:lnTo>
                    <a:lnTo>
                      <a:pt x="155575" y="248289"/>
                    </a:lnTo>
                    <a:close/>
                    <a:moveTo>
                      <a:pt x="110363" y="225047"/>
                    </a:moveTo>
                    <a:lnTo>
                      <a:pt x="137287" y="225047"/>
                    </a:lnTo>
                    <a:lnTo>
                      <a:pt x="137287" y="315473"/>
                    </a:lnTo>
                    <a:cubicBezTo>
                      <a:pt x="137287" y="318013"/>
                      <a:pt x="137668" y="319918"/>
                      <a:pt x="138430" y="321315"/>
                    </a:cubicBezTo>
                    <a:cubicBezTo>
                      <a:pt x="139192" y="322712"/>
                      <a:pt x="140208" y="323601"/>
                      <a:pt x="141605" y="324109"/>
                    </a:cubicBezTo>
                    <a:cubicBezTo>
                      <a:pt x="143002" y="324617"/>
                      <a:pt x="144653" y="324871"/>
                      <a:pt x="146431" y="324871"/>
                    </a:cubicBezTo>
                    <a:cubicBezTo>
                      <a:pt x="147701" y="324871"/>
                      <a:pt x="148971" y="324744"/>
                      <a:pt x="150241" y="324617"/>
                    </a:cubicBezTo>
                    <a:cubicBezTo>
                      <a:pt x="151511" y="324490"/>
                      <a:pt x="152527" y="324236"/>
                      <a:pt x="153162" y="324109"/>
                    </a:cubicBezTo>
                    <a:lnTo>
                      <a:pt x="157353" y="344175"/>
                    </a:lnTo>
                    <a:cubicBezTo>
                      <a:pt x="155956" y="344556"/>
                      <a:pt x="154051" y="345064"/>
                      <a:pt x="151638" y="345572"/>
                    </a:cubicBezTo>
                    <a:cubicBezTo>
                      <a:pt x="149225" y="346080"/>
                      <a:pt x="146177" y="346461"/>
                      <a:pt x="142748" y="346588"/>
                    </a:cubicBezTo>
                    <a:cubicBezTo>
                      <a:pt x="136271" y="346842"/>
                      <a:pt x="130556" y="345953"/>
                      <a:pt x="125730" y="344048"/>
                    </a:cubicBezTo>
                    <a:cubicBezTo>
                      <a:pt x="120904" y="342143"/>
                      <a:pt x="117094" y="338968"/>
                      <a:pt x="114427" y="334777"/>
                    </a:cubicBezTo>
                    <a:cubicBezTo>
                      <a:pt x="111760" y="330586"/>
                      <a:pt x="110363" y="325379"/>
                      <a:pt x="110490" y="319029"/>
                    </a:cubicBezTo>
                    <a:lnTo>
                      <a:pt x="110490" y="225047"/>
                    </a:lnTo>
                    <a:close/>
                    <a:moveTo>
                      <a:pt x="173229" y="345318"/>
                    </a:moveTo>
                    <a:lnTo>
                      <a:pt x="173229" y="248289"/>
                    </a:lnTo>
                    <a:lnTo>
                      <a:pt x="199137" y="248289"/>
                    </a:lnTo>
                    <a:lnTo>
                      <a:pt x="199137" y="265180"/>
                    </a:lnTo>
                    <a:lnTo>
                      <a:pt x="200153" y="265180"/>
                    </a:lnTo>
                    <a:cubicBezTo>
                      <a:pt x="201931" y="259211"/>
                      <a:pt x="204852" y="254639"/>
                      <a:pt x="209043" y="251591"/>
                    </a:cubicBezTo>
                    <a:cubicBezTo>
                      <a:pt x="213234" y="248543"/>
                      <a:pt x="218060" y="246892"/>
                      <a:pt x="223394" y="246892"/>
                    </a:cubicBezTo>
                    <a:cubicBezTo>
                      <a:pt x="224791" y="246892"/>
                      <a:pt x="226188" y="247019"/>
                      <a:pt x="227712" y="247146"/>
                    </a:cubicBezTo>
                    <a:cubicBezTo>
                      <a:pt x="229236" y="247273"/>
                      <a:pt x="230633" y="247527"/>
                      <a:pt x="231776" y="247781"/>
                    </a:cubicBezTo>
                    <a:lnTo>
                      <a:pt x="231776" y="271657"/>
                    </a:lnTo>
                    <a:cubicBezTo>
                      <a:pt x="230506" y="271276"/>
                      <a:pt x="228728" y="270895"/>
                      <a:pt x="226569" y="270641"/>
                    </a:cubicBezTo>
                    <a:cubicBezTo>
                      <a:pt x="224410" y="270387"/>
                      <a:pt x="222251" y="270260"/>
                      <a:pt x="220473" y="270260"/>
                    </a:cubicBezTo>
                    <a:cubicBezTo>
                      <a:pt x="216536" y="270260"/>
                      <a:pt x="212980" y="271149"/>
                      <a:pt x="209805" y="272800"/>
                    </a:cubicBezTo>
                    <a:cubicBezTo>
                      <a:pt x="206630" y="274451"/>
                      <a:pt x="204344" y="276864"/>
                      <a:pt x="202439" y="279912"/>
                    </a:cubicBezTo>
                    <a:cubicBezTo>
                      <a:pt x="200534" y="282960"/>
                      <a:pt x="199772" y="286389"/>
                      <a:pt x="199772" y="290453"/>
                    </a:cubicBezTo>
                    <a:lnTo>
                      <a:pt x="199772" y="345318"/>
                    </a:lnTo>
                    <a:lnTo>
                      <a:pt x="173102" y="345318"/>
                    </a:lnTo>
                    <a:close/>
                    <a:moveTo>
                      <a:pt x="285243" y="347223"/>
                    </a:moveTo>
                    <a:cubicBezTo>
                      <a:pt x="275464" y="347223"/>
                      <a:pt x="266955" y="345191"/>
                      <a:pt x="259843" y="341000"/>
                    </a:cubicBezTo>
                    <a:cubicBezTo>
                      <a:pt x="252731" y="336809"/>
                      <a:pt x="247270" y="330967"/>
                      <a:pt x="243333" y="323474"/>
                    </a:cubicBezTo>
                    <a:cubicBezTo>
                      <a:pt x="239396" y="315981"/>
                      <a:pt x="237491" y="307217"/>
                      <a:pt x="237491" y="297311"/>
                    </a:cubicBezTo>
                    <a:cubicBezTo>
                      <a:pt x="237491" y="287405"/>
                      <a:pt x="239396" y="278515"/>
                      <a:pt x="243333" y="271022"/>
                    </a:cubicBezTo>
                    <a:cubicBezTo>
                      <a:pt x="247270" y="263529"/>
                      <a:pt x="252731" y="257687"/>
                      <a:pt x="259843" y="253496"/>
                    </a:cubicBezTo>
                    <a:cubicBezTo>
                      <a:pt x="266955" y="249305"/>
                      <a:pt x="275464" y="247146"/>
                      <a:pt x="285243" y="247146"/>
                    </a:cubicBezTo>
                    <a:cubicBezTo>
                      <a:pt x="295022" y="247146"/>
                      <a:pt x="303531" y="249305"/>
                      <a:pt x="310643" y="253496"/>
                    </a:cubicBezTo>
                    <a:cubicBezTo>
                      <a:pt x="317755" y="257687"/>
                      <a:pt x="323343" y="263529"/>
                      <a:pt x="327153" y="271022"/>
                    </a:cubicBezTo>
                    <a:cubicBezTo>
                      <a:pt x="330963" y="278515"/>
                      <a:pt x="332995" y="287278"/>
                      <a:pt x="332995" y="297311"/>
                    </a:cubicBezTo>
                    <a:cubicBezTo>
                      <a:pt x="332995" y="307344"/>
                      <a:pt x="331090" y="315981"/>
                      <a:pt x="327153" y="323474"/>
                    </a:cubicBezTo>
                    <a:cubicBezTo>
                      <a:pt x="323216" y="330967"/>
                      <a:pt x="317755" y="336809"/>
                      <a:pt x="310643" y="341000"/>
                    </a:cubicBezTo>
                    <a:cubicBezTo>
                      <a:pt x="303531" y="345191"/>
                      <a:pt x="295022" y="347223"/>
                      <a:pt x="285243" y="347223"/>
                    </a:cubicBezTo>
                    <a:close/>
                    <a:moveTo>
                      <a:pt x="285370" y="326395"/>
                    </a:moveTo>
                    <a:cubicBezTo>
                      <a:pt x="289815" y="326395"/>
                      <a:pt x="293498" y="325125"/>
                      <a:pt x="296546" y="322585"/>
                    </a:cubicBezTo>
                    <a:cubicBezTo>
                      <a:pt x="299594" y="320045"/>
                      <a:pt x="301753" y="316489"/>
                      <a:pt x="303277" y="312044"/>
                    </a:cubicBezTo>
                    <a:cubicBezTo>
                      <a:pt x="304801" y="307598"/>
                      <a:pt x="305563" y="302645"/>
                      <a:pt x="305563" y="296930"/>
                    </a:cubicBezTo>
                    <a:cubicBezTo>
                      <a:pt x="305563" y="291215"/>
                      <a:pt x="304801" y="286262"/>
                      <a:pt x="303277" y="281817"/>
                    </a:cubicBezTo>
                    <a:cubicBezTo>
                      <a:pt x="301753" y="277372"/>
                      <a:pt x="299467" y="273943"/>
                      <a:pt x="296546" y="271276"/>
                    </a:cubicBezTo>
                    <a:cubicBezTo>
                      <a:pt x="293625" y="268609"/>
                      <a:pt x="289815" y="267466"/>
                      <a:pt x="285370" y="267466"/>
                    </a:cubicBezTo>
                    <a:cubicBezTo>
                      <a:pt x="280925" y="267466"/>
                      <a:pt x="277115" y="268736"/>
                      <a:pt x="274067" y="271276"/>
                    </a:cubicBezTo>
                    <a:cubicBezTo>
                      <a:pt x="271019" y="273816"/>
                      <a:pt x="268733" y="277372"/>
                      <a:pt x="267209" y="281817"/>
                    </a:cubicBezTo>
                    <a:cubicBezTo>
                      <a:pt x="265685" y="286262"/>
                      <a:pt x="264923" y="291215"/>
                      <a:pt x="264923" y="296930"/>
                    </a:cubicBezTo>
                    <a:cubicBezTo>
                      <a:pt x="264923" y="302645"/>
                      <a:pt x="265685" y="307598"/>
                      <a:pt x="267209" y="312044"/>
                    </a:cubicBezTo>
                    <a:cubicBezTo>
                      <a:pt x="268733" y="316489"/>
                      <a:pt x="271019" y="319918"/>
                      <a:pt x="274067" y="322585"/>
                    </a:cubicBezTo>
                    <a:cubicBezTo>
                      <a:pt x="277115" y="325252"/>
                      <a:pt x="280925" y="326395"/>
                      <a:pt x="285370" y="326395"/>
                    </a:cubicBezTo>
                    <a:close/>
                    <a:moveTo>
                      <a:pt x="377318" y="289310"/>
                    </a:moveTo>
                    <a:lnTo>
                      <a:pt x="377318" y="345318"/>
                    </a:lnTo>
                    <a:lnTo>
                      <a:pt x="350394" y="345318"/>
                    </a:lnTo>
                    <a:lnTo>
                      <a:pt x="350394" y="248289"/>
                    </a:lnTo>
                    <a:lnTo>
                      <a:pt x="376048" y="248289"/>
                    </a:lnTo>
                    <a:lnTo>
                      <a:pt x="376048" y="265434"/>
                    </a:lnTo>
                    <a:lnTo>
                      <a:pt x="377191" y="265434"/>
                    </a:lnTo>
                    <a:cubicBezTo>
                      <a:pt x="379350" y="259846"/>
                      <a:pt x="382906" y="255274"/>
                      <a:pt x="387986" y="252099"/>
                    </a:cubicBezTo>
                    <a:cubicBezTo>
                      <a:pt x="393066" y="248924"/>
                      <a:pt x="399162" y="247146"/>
                      <a:pt x="406401" y="247146"/>
                    </a:cubicBezTo>
                    <a:cubicBezTo>
                      <a:pt x="413132" y="247146"/>
                      <a:pt x="418974" y="248670"/>
                      <a:pt x="424054" y="251591"/>
                    </a:cubicBezTo>
                    <a:cubicBezTo>
                      <a:pt x="429134" y="254512"/>
                      <a:pt x="432944" y="258703"/>
                      <a:pt x="435738" y="264164"/>
                    </a:cubicBezTo>
                    <a:cubicBezTo>
                      <a:pt x="438532" y="269625"/>
                      <a:pt x="439929" y="276102"/>
                      <a:pt x="439929" y="283595"/>
                    </a:cubicBezTo>
                    <a:lnTo>
                      <a:pt x="439929" y="345318"/>
                    </a:lnTo>
                    <a:lnTo>
                      <a:pt x="412878" y="345318"/>
                    </a:lnTo>
                    <a:lnTo>
                      <a:pt x="412878" y="288294"/>
                    </a:lnTo>
                    <a:cubicBezTo>
                      <a:pt x="412878" y="282325"/>
                      <a:pt x="411354" y="277753"/>
                      <a:pt x="408306" y="274451"/>
                    </a:cubicBezTo>
                    <a:cubicBezTo>
                      <a:pt x="405258" y="271149"/>
                      <a:pt x="400940" y="269371"/>
                      <a:pt x="395606" y="269371"/>
                    </a:cubicBezTo>
                    <a:cubicBezTo>
                      <a:pt x="391923" y="269371"/>
                      <a:pt x="388748" y="270133"/>
                      <a:pt x="385954" y="271657"/>
                    </a:cubicBezTo>
                    <a:cubicBezTo>
                      <a:pt x="383160" y="273181"/>
                      <a:pt x="381128" y="275467"/>
                      <a:pt x="379477" y="278515"/>
                    </a:cubicBezTo>
                    <a:cubicBezTo>
                      <a:pt x="377826" y="281563"/>
                      <a:pt x="377191" y="284992"/>
                      <a:pt x="377191" y="289183"/>
                    </a:cubicBezTo>
                    <a:close/>
                    <a:moveTo>
                      <a:pt x="504700" y="383546"/>
                    </a:moveTo>
                    <a:cubicBezTo>
                      <a:pt x="495936" y="383546"/>
                      <a:pt x="488570" y="382403"/>
                      <a:pt x="482347" y="379990"/>
                    </a:cubicBezTo>
                    <a:cubicBezTo>
                      <a:pt x="476124" y="377577"/>
                      <a:pt x="471171" y="374401"/>
                      <a:pt x="467615" y="370337"/>
                    </a:cubicBezTo>
                    <a:cubicBezTo>
                      <a:pt x="464059" y="366273"/>
                      <a:pt x="461519" y="361701"/>
                      <a:pt x="460503" y="356621"/>
                    </a:cubicBezTo>
                    <a:lnTo>
                      <a:pt x="485395" y="353319"/>
                    </a:lnTo>
                    <a:cubicBezTo>
                      <a:pt x="486157" y="355224"/>
                      <a:pt x="487300" y="357002"/>
                      <a:pt x="488952" y="358780"/>
                    </a:cubicBezTo>
                    <a:cubicBezTo>
                      <a:pt x="490602" y="360558"/>
                      <a:pt x="492761" y="361828"/>
                      <a:pt x="495428" y="362844"/>
                    </a:cubicBezTo>
                    <a:cubicBezTo>
                      <a:pt x="498095" y="363860"/>
                      <a:pt x="501524" y="364368"/>
                      <a:pt x="505462" y="364368"/>
                    </a:cubicBezTo>
                    <a:cubicBezTo>
                      <a:pt x="511304" y="364368"/>
                      <a:pt x="516130" y="362971"/>
                      <a:pt x="519940" y="360050"/>
                    </a:cubicBezTo>
                    <a:cubicBezTo>
                      <a:pt x="523750" y="357129"/>
                      <a:pt x="525655" y="352557"/>
                      <a:pt x="525655" y="345826"/>
                    </a:cubicBezTo>
                    <a:lnTo>
                      <a:pt x="525655" y="328046"/>
                    </a:lnTo>
                    <a:lnTo>
                      <a:pt x="524512" y="328046"/>
                    </a:lnTo>
                    <a:cubicBezTo>
                      <a:pt x="523369" y="330713"/>
                      <a:pt x="521591" y="333253"/>
                      <a:pt x="519178" y="335666"/>
                    </a:cubicBezTo>
                    <a:cubicBezTo>
                      <a:pt x="516765" y="338079"/>
                      <a:pt x="513844" y="339984"/>
                      <a:pt x="510034" y="341508"/>
                    </a:cubicBezTo>
                    <a:cubicBezTo>
                      <a:pt x="506224" y="343032"/>
                      <a:pt x="501905" y="343794"/>
                      <a:pt x="496825" y="343794"/>
                    </a:cubicBezTo>
                    <a:cubicBezTo>
                      <a:pt x="489586" y="343794"/>
                      <a:pt x="482855" y="342143"/>
                      <a:pt x="476886" y="338714"/>
                    </a:cubicBezTo>
                    <a:cubicBezTo>
                      <a:pt x="470917" y="335285"/>
                      <a:pt x="466218" y="330078"/>
                      <a:pt x="462662" y="323093"/>
                    </a:cubicBezTo>
                    <a:cubicBezTo>
                      <a:pt x="459106" y="316108"/>
                      <a:pt x="457455" y="307217"/>
                      <a:pt x="457455" y="296422"/>
                    </a:cubicBezTo>
                    <a:cubicBezTo>
                      <a:pt x="457455" y="285373"/>
                      <a:pt x="459233" y="276229"/>
                      <a:pt x="462789" y="268863"/>
                    </a:cubicBezTo>
                    <a:cubicBezTo>
                      <a:pt x="466345" y="261497"/>
                      <a:pt x="471171" y="256036"/>
                      <a:pt x="477013" y="252353"/>
                    </a:cubicBezTo>
                    <a:cubicBezTo>
                      <a:pt x="482855" y="248670"/>
                      <a:pt x="489586" y="246892"/>
                      <a:pt x="496698" y="246892"/>
                    </a:cubicBezTo>
                    <a:cubicBezTo>
                      <a:pt x="502159" y="246892"/>
                      <a:pt x="506732" y="247781"/>
                      <a:pt x="510288" y="249686"/>
                    </a:cubicBezTo>
                    <a:cubicBezTo>
                      <a:pt x="513844" y="251591"/>
                      <a:pt x="516892" y="253750"/>
                      <a:pt x="519178" y="256544"/>
                    </a:cubicBezTo>
                    <a:cubicBezTo>
                      <a:pt x="521464" y="259338"/>
                      <a:pt x="523242" y="261878"/>
                      <a:pt x="524385" y="264545"/>
                    </a:cubicBezTo>
                    <a:lnTo>
                      <a:pt x="525401" y="264545"/>
                    </a:lnTo>
                    <a:lnTo>
                      <a:pt x="525401" y="248289"/>
                    </a:lnTo>
                    <a:lnTo>
                      <a:pt x="552071" y="248289"/>
                    </a:lnTo>
                    <a:lnTo>
                      <a:pt x="552071" y="346207"/>
                    </a:lnTo>
                    <a:cubicBezTo>
                      <a:pt x="552071" y="354462"/>
                      <a:pt x="550039" y="361320"/>
                      <a:pt x="545975" y="366908"/>
                    </a:cubicBezTo>
                    <a:cubicBezTo>
                      <a:pt x="541911" y="372496"/>
                      <a:pt x="536323" y="376687"/>
                      <a:pt x="529211" y="379355"/>
                    </a:cubicBezTo>
                    <a:cubicBezTo>
                      <a:pt x="522099" y="382022"/>
                      <a:pt x="513971" y="383546"/>
                      <a:pt x="504700" y="383546"/>
                    </a:cubicBezTo>
                    <a:close/>
                    <a:moveTo>
                      <a:pt x="505208" y="323601"/>
                    </a:moveTo>
                    <a:cubicBezTo>
                      <a:pt x="509526" y="323601"/>
                      <a:pt x="513209" y="322585"/>
                      <a:pt x="516257" y="320426"/>
                    </a:cubicBezTo>
                    <a:cubicBezTo>
                      <a:pt x="519305" y="318267"/>
                      <a:pt x="521591" y="315092"/>
                      <a:pt x="523242" y="311028"/>
                    </a:cubicBezTo>
                    <a:cubicBezTo>
                      <a:pt x="524893" y="306963"/>
                      <a:pt x="525655" y="302010"/>
                      <a:pt x="525655" y="296422"/>
                    </a:cubicBezTo>
                    <a:cubicBezTo>
                      <a:pt x="525655" y="290834"/>
                      <a:pt x="524893" y="285754"/>
                      <a:pt x="523242" y="281690"/>
                    </a:cubicBezTo>
                    <a:cubicBezTo>
                      <a:pt x="521591" y="277626"/>
                      <a:pt x="519305" y="274197"/>
                      <a:pt x="516257" y="271911"/>
                    </a:cubicBezTo>
                    <a:cubicBezTo>
                      <a:pt x="513209" y="269625"/>
                      <a:pt x="509526" y="268482"/>
                      <a:pt x="505208" y="268482"/>
                    </a:cubicBezTo>
                    <a:cubicBezTo>
                      <a:pt x="500889" y="268482"/>
                      <a:pt x="497079" y="269625"/>
                      <a:pt x="494031" y="272038"/>
                    </a:cubicBezTo>
                    <a:cubicBezTo>
                      <a:pt x="490984" y="274451"/>
                      <a:pt x="488698" y="277626"/>
                      <a:pt x="487173" y="281944"/>
                    </a:cubicBezTo>
                    <a:cubicBezTo>
                      <a:pt x="485649" y="286262"/>
                      <a:pt x="484887" y="290961"/>
                      <a:pt x="484887" y="296549"/>
                    </a:cubicBezTo>
                    <a:cubicBezTo>
                      <a:pt x="484887" y="302137"/>
                      <a:pt x="485649" y="306963"/>
                      <a:pt x="487173" y="311028"/>
                    </a:cubicBezTo>
                    <a:cubicBezTo>
                      <a:pt x="488698" y="315092"/>
                      <a:pt x="491110" y="318267"/>
                      <a:pt x="494031" y="320426"/>
                    </a:cubicBezTo>
                    <a:cubicBezTo>
                      <a:pt x="496952" y="322585"/>
                      <a:pt x="500762" y="323728"/>
                      <a:pt x="505208" y="32372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DE"/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12316150" y="7588713"/>
              <a:ext cx="839532" cy="695107"/>
              <a:chOff x="0" y="0"/>
              <a:chExt cx="1111123" cy="919975"/>
            </a:xfrm>
          </p:grpSpPr>
          <p:sp>
            <p:nvSpPr>
              <p:cNvPr id="61" name="Freeform 61"/>
              <p:cNvSpPr/>
              <p:nvPr/>
            </p:nvSpPr>
            <p:spPr>
              <a:xfrm flipV="1">
                <a:off x="0" y="0"/>
                <a:ext cx="1111123" cy="919988"/>
              </a:xfrm>
              <a:custGeom>
                <a:avLst/>
                <a:gdLst/>
                <a:ahLst/>
                <a:cxnLst/>
                <a:rect l="l" t="t" r="r" b="b"/>
                <a:pathLst>
                  <a:path w="1111123" h="919988">
                    <a:moveTo>
                      <a:pt x="0" y="919988"/>
                    </a:moveTo>
                    <a:lnTo>
                      <a:pt x="1111123" y="919988"/>
                    </a:lnTo>
                    <a:lnTo>
                      <a:pt x="1111123" y="0"/>
                    </a:lnTo>
                    <a:lnTo>
                      <a:pt x="0" y="0"/>
                    </a:lnTo>
                    <a:lnTo>
                      <a:pt x="0" y="919988"/>
                    </a:lnTo>
                    <a:close/>
                  </a:path>
                </a:pathLst>
              </a:custGeom>
              <a:blipFill>
                <a:blip r:embed="rId12"/>
                <a:stretch>
                  <a:fillRect b="1"/>
                </a:stretch>
              </a:blipFill>
            </p:spPr>
            <p:txBody>
              <a:bodyPr/>
              <a:lstStyle/>
              <a:p>
                <a:endParaRPr lang="en-DE"/>
              </a:p>
            </p:txBody>
          </p:sp>
        </p:grpSp>
        <p:sp>
          <p:nvSpPr>
            <p:cNvPr id="62" name="Freeform 62"/>
            <p:cNvSpPr/>
            <p:nvPr/>
          </p:nvSpPr>
          <p:spPr>
            <a:xfrm>
              <a:off x="11590874" y="8397145"/>
              <a:ext cx="2013937" cy="783886"/>
            </a:xfrm>
            <a:custGeom>
              <a:avLst/>
              <a:gdLst/>
              <a:ahLst/>
              <a:cxnLst/>
              <a:rect l="l" t="t" r="r" b="b"/>
              <a:pathLst>
                <a:path w="2013937" h="783886">
                  <a:moveTo>
                    <a:pt x="0" y="0"/>
                  </a:moveTo>
                  <a:lnTo>
                    <a:pt x="2013937" y="0"/>
                  </a:lnTo>
                  <a:lnTo>
                    <a:pt x="2013937" y="783886"/>
                  </a:lnTo>
                  <a:lnTo>
                    <a:pt x="0" y="7838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DE"/>
            </a:p>
          </p:txBody>
        </p:sp>
        <p:grpSp>
          <p:nvGrpSpPr>
            <p:cNvPr id="63" name="Group 63"/>
            <p:cNvGrpSpPr/>
            <p:nvPr/>
          </p:nvGrpSpPr>
          <p:grpSpPr>
            <a:xfrm>
              <a:off x="8898854" y="2822120"/>
              <a:ext cx="1190737" cy="485478"/>
              <a:chOff x="0" y="0"/>
              <a:chExt cx="1575943" cy="642531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1575943" cy="642493"/>
              </a:xfrm>
              <a:custGeom>
                <a:avLst/>
                <a:gdLst/>
                <a:ahLst/>
                <a:cxnLst/>
                <a:rect l="l" t="t" r="r" b="b"/>
                <a:pathLst>
                  <a:path w="1575943" h="642493">
                    <a:moveTo>
                      <a:pt x="0" y="0"/>
                    </a:moveTo>
                    <a:lnTo>
                      <a:pt x="1575943" y="0"/>
                    </a:lnTo>
                    <a:lnTo>
                      <a:pt x="1575943" y="642493"/>
                    </a:lnTo>
                    <a:lnTo>
                      <a:pt x="0" y="64249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t="-1788" b="-1794"/>
                </a:stretch>
              </a:blipFill>
            </p:spPr>
            <p:txBody>
              <a:bodyPr/>
              <a:lstStyle/>
              <a:p>
                <a:endParaRPr lang="en-DE"/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12080987" y="6180815"/>
              <a:ext cx="1190737" cy="485478"/>
              <a:chOff x="0" y="0"/>
              <a:chExt cx="1575943" cy="642531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1575943" cy="642493"/>
              </a:xfrm>
              <a:custGeom>
                <a:avLst/>
                <a:gdLst/>
                <a:ahLst/>
                <a:cxnLst/>
                <a:rect l="l" t="t" r="r" b="b"/>
                <a:pathLst>
                  <a:path w="1575943" h="642493">
                    <a:moveTo>
                      <a:pt x="0" y="0"/>
                    </a:moveTo>
                    <a:lnTo>
                      <a:pt x="1575943" y="0"/>
                    </a:lnTo>
                    <a:lnTo>
                      <a:pt x="1575943" y="642493"/>
                    </a:lnTo>
                    <a:lnTo>
                      <a:pt x="0" y="64249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t="-1788" b="-1794"/>
                </a:stretch>
              </a:blipFill>
            </p:spPr>
            <p:txBody>
              <a:bodyPr/>
              <a:lstStyle/>
              <a:p>
                <a:endParaRPr lang="en-DE"/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15232327" y="6180815"/>
              <a:ext cx="1190737" cy="485478"/>
              <a:chOff x="0" y="0"/>
              <a:chExt cx="1575943" cy="642531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1575943" cy="642493"/>
              </a:xfrm>
              <a:custGeom>
                <a:avLst/>
                <a:gdLst/>
                <a:ahLst/>
                <a:cxnLst/>
                <a:rect l="l" t="t" r="r" b="b"/>
                <a:pathLst>
                  <a:path w="1575943" h="642493">
                    <a:moveTo>
                      <a:pt x="0" y="0"/>
                    </a:moveTo>
                    <a:lnTo>
                      <a:pt x="1575943" y="0"/>
                    </a:lnTo>
                    <a:lnTo>
                      <a:pt x="1575943" y="642493"/>
                    </a:lnTo>
                    <a:lnTo>
                      <a:pt x="0" y="64249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t="-1788" b="-1794"/>
                </a:stretch>
              </a:blipFill>
            </p:spPr>
            <p:txBody>
              <a:bodyPr/>
              <a:lstStyle/>
              <a:p>
                <a:endParaRPr lang="en-DE"/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15232327" y="6180815"/>
              <a:ext cx="1190737" cy="485478"/>
              <a:chOff x="0" y="0"/>
              <a:chExt cx="1575943" cy="642531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1575943" cy="642493"/>
              </a:xfrm>
              <a:custGeom>
                <a:avLst/>
                <a:gdLst/>
                <a:ahLst/>
                <a:cxnLst/>
                <a:rect l="l" t="t" r="r" b="b"/>
                <a:pathLst>
                  <a:path w="1575943" h="642493">
                    <a:moveTo>
                      <a:pt x="0" y="0"/>
                    </a:moveTo>
                    <a:lnTo>
                      <a:pt x="1575943" y="0"/>
                    </a:lnTo>
                    <a:lnTo>
                      <a:pt x="1575943" y="642493"/>
                    </a:lnTo>
                    <a:lnTo>
                      <a:pt x="0" y="64249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t="-1788" b="-1794"/>
                </a:stretch>
              </a:blipFill>
            </p:spPr>
            <p:txBody>
              <a:bodyPr/>
              <a:lstStyle/>
              <a:p>
                <a:endParaRPr lang="en-DE"/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15232327" y="6180815"/>
              <a:ext cx="1190737" cy="485478"/>
              <a:chOff x="0" y="0"/>
              <a:chExt cx="1575943" cy="642531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1575943" cy="642493"/>
              </a:xfrm>
              <a:custGeom>
                <a:avLst/>
                <a:gdLst/>
                <a:ahLst/>
                <a:cxnLst/>
                <a:rect l="l" t="t" r="r" b="b"/>
                <a:pathLst>
                  <a:path w="1575943" h="642493">
                    <a:moveTo>
                      <a:pt x="0" y="0"/>
                    </a:moveTo>
                    <a:lnTo>
                      <a:pt x="1575943" y="0"/>
                    </a:lnTo>
                    <a:lnTo>
                      <a:pt x="1575943" y="642493"/>
                    </a:lnTo>
                    <a:lnTo>
                      <a:pt x="0" y="64249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t="-1788" b="-1794"/>
                </a:stretch>
              </a:blipFill>
            </p:spPr>
            <p:txBody>
              <a:bodyPr/>
              <a:lstStyle/>
              <a:p>
                <a:endParaRPr lang="en-DE"/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15232327" y="6180815"/>
              <a:ext cx="1190737" cy="485478"/>
              <a:chOff x="0" y="0"/>
              <a:chExt cx="1575943" cy="642531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1575943" cy="642493"/>
              </a:xfrm>
              <a:custGeom>
                <a:avLst/>
                <a:gdLst/>
                <a:ahLst/>
                <a:cxnLst/>
                <a:rect l="l" t="t" r="r" b="b"/>
                <a:pathLst>
                  <a:path w="1575943" h="642493">
                    <a:moveTo>
                      <a:pt x="0" y="0"/>
                    </a:moveTo>
                    <a:lnTo>
                      <a:pt x="1575943" y="0"/>
                    </a:lnTo>
                    <a:lnTo>
                      <a:pt x="1575943" y="642493"/>
                    </a:lnTo>
                    <a:lnTo>
                      <a:pt x="0" y="64249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t="-1788" b="-1794"/>
                </a:stretch>
              </a:blipFill>
            </p:spPr>
            <p:txBody>
              <a:bodyPr/>
              <a:lstStyle/>
              <a:p>
                <a:endParaRPr lang="en-DE"/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15232327" y="6180815"/>
              <a:ext cx="1190737" cy="485478"/>
              <a:chOff x="0" y="0"/>
              <a:chExt cx="1575943" cy="642531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1575943" cy="642493"/>
              </a:xfrm>
              <a:custGeom>
                <a:avLst/>
                <a:gdLst/>
                <a:ahLst/>
                <a:cxnLst/>
                <a:rect l="l" t="t" r="r" b="b"/>
                <a:pathLst>
                  <a:path w="1575943" h="642493">
                    <a:moveTo>
                      <a:pt x="0" y="0"/>
                    </a:moveTo>
                    <a:lnTo>
                      <a:pt x="1575943" y="0"/>
                    </a:lnTo>
                    <a:lnTo>
                      <a:pt x="1575943" y="642493"/>
                    </a:lnTo>
                    <a:lnTo>
                      <a:pt x="0" y="64249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t="-1788" b="-1794"/>
                </a:stretch>
              </a:blipFill>
            </p:spPr>
            <p:txBody>
              <a:bodyPr/>
              <a:lstStyle/>
              <a:p>
                <a:endParaRPr lang="en-DE"/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9145215" y="6111466"/>
              <a:ext cx="656954" cy="634087"/>
              <a:chOff x="0" y="0"/>
              <a:chExt cx="869480" cy="839216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869442" cy="839216"/>
              </a:xfrm>
              <a:custGeom>
                <a:avLst/>
                <a:gdLst/>
                <a:ahLst/>
                <a:cxnLst/>
                <a:rect l="l" t="t" r="r" b="b"/>
                <a:pathLst>
                  <a:path w="869442" h="839216">
                    <a:moveTo>
                      <a:pt x="0" y="0"/>
                    </a:moveTo>
                    <a:lnTo>
                      <a:pt x="869442" y="0"/>
                    </a:lnTo>
                    <a:lnTo>
                      <a:pt x="869442" y="839216"/>
                    </a:lnTo>
                    <a:lnTo>
                      <a:pt x="0" y="83921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>
                  <a:fillRect t="-1802" r="-4" b="-1803"/>
                </a:stretch>
              </a:blipFill>
            </p:spPr>
            <p:txBody>
              <a:bodyPr/>
              <a:lstStyle/>
              <a:p>
                <a:endParaRPr lang="en-DE"/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4852748" y="3350494"/>
              <a:ext cx="4912727" cy="430154"/>
              <a:chOff x="0" y="0"/>
              <a:chExt cx="970415" cy="84969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970415" cy="84969"/>
              </a:xfrm>
              <a:custGeom>
                <a:avLst/>
                <a:gdLst/>
                <a:ahLst/>
                <a:cxnLst/>
                <a:rect l="l" t="t" r="r" b="b"/>
                <a:pathLst>
                  <a:path w="970415" h="84969">
                    <a:moveTo>
                      <a:pt x="0" y="0"/>
                    </a:moveTo>
                    <a:lnTo>
                      <a:pt x="970415" y="0"/>
                    </a:lnTo>
                    <a:lnTo>
                      <a:pt x="970415" y="84969"/>
                    </a:lnTo>
                    <a:lnTo>
                      <a:pt x="0" y="84969"/>
                    </a:lnTo>
                    <a:close/>
                  </a:path>
                </a:pathLst>
              </a:custGeom>
              <a:solidFill>
                <a:srgbClr val="FBFBFB"/>
              </a:solidFill>
            </p:spPr>
            <p:txBody>
              <a:bodyPr/>
              <a:lstStyle/>
              <a:p>
                <a:endParaRPr lang="en-DE"/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0" y="-19050"/>
                <a:ext cx="970415" cy="10401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  <a:r>
                  <a:rPr lang="en-US" sz="1200" b="1">
                    <a:solidFill>
                      <a:srgbClr val="00000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Control Detection / Incidental Encoding Phase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12101522" y="9598965"/>
              <a:ext cx="1190737" cy="485478"/>
              <a:chOff x="0" y="0"/>
              <a:chExt cx="1575943" cy="642531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1575943" cy="642493"/>
              </a:xfrm>
              <a:custGeom>
                <a:avLst/>
                <a:gdLst/>
                <a:ahLst/>
                <a:cxnLst/>
                <a:rect l="l" t="t" r="r" b="b"/>
                <a:pathLst>
                  <a:path w="1575943" h="642493">
                    <a:moveTo>
                      <a:pt x="0" y="0"/>
                    </a:moveTo>
                    <a:lnTo>
                      <a:pt x="1575943" y="0"/>
                    </a:lnTo>
                    <a:lnTo>
                      <a:pt x="1575943" y="642493"/>
                    </a:lnTo>
                    <a:lnTo>
                      <a:pt x="0" y="64249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t="-1788" b="-1794"/>
                </a:stretch>
              </a:blipFill>
            </p:spPr>
            <p:txBody>
              <a:bodyPr/>
              <a:lstStyle/>
              <a:p>
                <a:endParaRPr lang="en-DE"/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12101522" y="9598965"/>
              <a:ext cx="1190737" cy="485478"/>
              <a:chOff x="0" y="0"/>
              <a:chExt cx="1575943" cy="642531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0" y="0"/>
                <a:ext cx="1575943" cy="642493"/>
              </a:xfrm>
              <a:custGeom>
                <a:avLst/>
                <a:gdLst/>
                <a:ahLst/>
                <a:cxnLst/>
                <a:rect l="l" t="t" r="r" b="b"/>
                <a:pathLst>
                  <a:path w="1575943" h="642493">
                    <a:moveTo>
                      <a:pt x="0" y="0"/>
                    </a:moveTo>
                    <a:lnTo>
                      <a:pt x="1575943" y="0"/>
                    </a:lnTo>
                    <a:lnTo>
                      <a:pt x="1575943" y="642493"/>
                    </a:lnTo>
                    <a:lnTo>
                      <a:pt x="0" y="64249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t="-1788" b="-1794"/>
                </a:stretch>
              </a:blipFill>
            </p:spPr>
            <p:txBody>
              <a:bodyPr/>
              <a:lstStyle/>
              <a:p>
                <a:endParaRPr lang="en-DE"/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>
              <a:off x="12101522" y="9598965"/>
              <a:ext cx="1190737" cy="485478"/>
              <a:chOff x="0" y="0"/>
              <a:chExt cx="1575943" cy="642531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1575943" cy="642493"/>
              </a:xfrm>
              <a:custGeom>
                <a:avLst/>
                <a:gdLst/>
                <a:ahLst/>
                <a:cxnLst/>
                <a:rect l="l" t="t" r="r" b="b"/>
                <a:pathLst>
                  <a:path w="1575943" h="642493">
                    <a:moveTo>
                      <a:pt x="0" y="0"/>
                    </a:moveTo>
                    <a:lnTo>
                      <a:pt x="1575943" y="0"/>
                    </a:lnTo>
                    <a:lnTo>
                      <a:pt x="1575943" y="642493"/>
                    </a:lnTo>
                    <a:lnTo>
                      <a:pt x="0" y="64249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t="-1788" b="-1794"/>
                </a:stretch>
              </a:blipFill>
            </p:spPr>
            <p:txBody>
              <a:bodyPr/>
              <a:lstStyle/>
              <a:p>
                <a:endParaRPr lang="en-DE"/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12101522" y="9598965"/>
              <a:ext cx="1190737" cy="485478"/>
              <a:chOff x="0" y="0"/>
              <a:chExt cx="1575943" cy="642531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1575943" cy="642493"/>
              </a:xfrm>
              <a:custGeom>
                <a:avLst/>
                <a:gdLst/>
                <a:ahLst/>
                <a:cxnLst/>
                <a:rect l="l" t="t" r="r" b="b"/>
                <a:pathLst>
                  <a:path w="1575943" h="642493">
                    <a:moveTo>
                      <a:pt x="0" y="0"/>
                    </a:moveTo>
                    <a:lnTo>
                      <a:pt x="1575943" y="0"/>
                    </a:lnTo>
                    <a:lnTo>
                      <a:pt x="1575943" y="642493"/>
                    </a:lnTo>
                    <a:lnTo>
                      <a:pt x="0" y="64249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t="-1788" b="-1794"/>
                </a:stretch>
              </a:blipFill>
            </p:spPr>
            <p:txBody>
              <a:bodyPr/>
              <a:lstStyle/>
              <a:p>
                <a:endParaRPr lang="en-DE"/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12101522" y="9598965"/>
              <a:ext cx="1190737" cy="485478"/>
              <a:chOff x="0" y="0"/>
              <a:chExt cx="1575943" cy="642531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0" y="0"/>
                <a:ext cx="1575943" cy="642493"/>
              </a:xfrm>
              <a:custGeom>
                <a:avLst/>
                <a:gdLst/>
                <a:ahLst/>
                <a:cxnLst/>
                <a:rect l="l" t="t" r="r" b="b"/>
                <a:pathLst>
                  <a:path w="1575943" h="642493">
                    <a:moveTo>
                      <a:pt x="0" y="0"/>
                    </a:moveTo>
                    <a:lnTo>
                      <a:pt x="1575943" y="0"/>
                    </a:lnTo>
                    <a:lnTo>
                      <a:pt x="1575943" y="642493"/>
                    </a:lnTo>
                    <a:lnTo>
                      <a:pt x="0" y="64249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t="-1788" b="-1794"/>
                </a:stretch>
              </a:blipFill>
            </p:spPr>
            <p:txBody>
              <a:bodyPr/>
              <a:lstStyle/>
              <a:p>
                <a:endParaRPr lang="en-DE"/>
              </a:p>
            </p:txBody>
          </p:sp>
        </p:grpSp>
        <p:grpSp>
          <p:nvGrpSpPr>
            <p:cNvPr id="92" name="Group 92"/>
            <p:cNvGrpSpPr/>
            <p:nvPr/>
          </p:nvGrpSpPr>
          <p:grpSpPr>
            <a:xfrm>
              <a:off x="6024668" y="2752771"/>
              <a:ext cx="656954" cy="634087"/>
              <a:chOff x="0" y="0"/>
              <a:chExt cx="869480" cy="839216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0" y="0"/>
                <a:ext cx="869442" cy="839216"/>
              </a:xfrm>
              <a:custGeom>
                <a:avLst/>
                <a:gdLst/>
                <a:ahLst/>
                <a:cxnLst/>
                <a:rect l="l" t="t" r="r" b="b"/>
                <a:pathLst>
                  <a:path w="869442" h="839216">
                    <a:moveTo>
                      <a:pt x="0" y="0"/>
                    </a:moveTo>
                    <a:lnTo>
                      <a:pt x="869442" y="0"/>
                    </a:lnTo>
                    <a:lnTo>
                      <a:pt x="869442" y="839216"/>
                    </a:lnTo>
                    <a:lnTo>
                      <a:pt x="0" y="83921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>
                  <a:fillRect t="-1803" r="-4" b="-1802"/>
                </a:stretch>
              </a:blipFill>
            </p:spPr>
            <p:txBody>
              <a:bodyPr/>
              <a:lstStyle/>
              <a:p>
                <a:endParaRPr lang="en-DE"/>
              </a:p>
            </p:txBody>
          </p:sp>
        </p:grpSp>
      </p:grpSp>
      <p:sp>
        <p:nvSpPr>
          <p:cNvPr id="94" name="TextBox 94"/>
          <p:cNvSpPr txBox="1"/>
          <p:nvPr/>
        </p:nvSpPr>
        <p:spPr>
          <a:xfrm>
            <a:off x="14244940" y="4742815"/>
            <a:ext cx="4210050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-96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alternating </a:t>
            </a:r>
            <a:r>
              <a:rPr lang="en-US" sz="2199" b="1" spc="-96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high- &amp; low-control</a:t>
            </a:r>
          </a:p>
          <a:p>
            <a:pPr algn="l">
              <a:lnSpc>
                <a:spcPts val="3079"/>
              </a:lnSpc>
            </a:pPr>
            <a:r>
              <a:rPr lang="en-US" sz="2199" spc="-96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6 blocks of 20 trials</a:t>
            </a:r>
          </a:p>
        </p:txBody>
      </p:sp>
      <p:grpSp>
        <p:nvGrpSpPr>
          <p:cNvPr id="95" name="Group 95"/>
          <p:cNvGrpSpPr/>
          <p:nvPr/>
        </p:nvGrpSpPr>
        <p:grpSpPr>
          <a:xfrm>
            <a:off x="2374025" y="6651580"/>
            <a:ext cx="1392948" cy="2107915"/>
            <a:chOff x="0" y="0"/>
            <a:chExt cx="1857264" cy="2810553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1857264" cy="2007853"/>
            </a:xfrm>
            <a:custGeom>
              <a:avLst/>
              <a:gdLst/>
              <a:ahLst/>
              <a:cxnLst/>
              <a:rect l="l" t="t" r="r" b="b"/>
              <a:pathLst>
                <a:path w="1857264" h="2007853">
                  <a:moveTo>
                    <a:pt x="0" y="0"/>
                  </a:moveTo>
                  <a:lnTo>
                    <a:pt x="1857264" y="0"/>
                  </a:lnTo>
                  <a:lnTo>
                    <a:pt x="1857264" y="2007853"/>
                  </a:lnTo>
                  <a:lnTo>
                    <a:pt x="0" y="2007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  <p:txBody>
            <a:bodyPr/>
            <a:lstStyle/>
            <a:p>
              <a:endParaRPr lang="en-DE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37113" y="2143803"/>
              <a:ext cx="1631833" cy="666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i="1" spc="-131">
                  <a:solidFill>
                    <a:srgbClr val="424242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N</a:t>
              </a:r>
              <a:r>
                <a:rPr lang="en-US" sz="3000" spc="-131">
                  <a:solidFill>
                    <a:srgbClr val="424242"/>
                  </a:solidFill>
                  <a:latin typeface="Open Sans"/>
                  <a:ea typeface="Open Sans"/>
                  <a:cs typeface="Open Sans"/>
                  <a:sym typeface="Open Sans"/>
                </a:rPr>
                <a:t> = 38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72417" y="1038225"/>
            <a:ext cx="9627175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3" name="AutoShape 3"/>
          <p:cNvSpPr/>
          <p:nvPr/>
        </p:nvSpPr>
        <p:spPr>
          <a:xfrm flipH="1" flipV="1">
            <a:off x="990600" y="-142991"/>
            <a:ext cx="38100" cy="9926717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4" name="AutoShape 4"/>
          <p:cNvSpPr/>
          <p:nvPr/>
        </p:nvSpPr>
        <p:spPr>
          <a:xfrm>
            <a:off x="0" y="9774201"/>
            <a:ext cx="18288000" cy="9525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5" name="Freeform 5"/>
          <p:cNvSpPr/>
          <p:nvPr/>
        </p:nvSpPr>
        <p:spPr>
          <a:xfrm>
            <a:off x="8439150" y="3757068"/>
            <a:ext cx="1406444" cy="991543"/>
          </a:xfrm>
          <a:custGeom>
            <a:avLst/>
            <a:gdLst/>
            <a:ahLst/>
            <a:cxnLst/>
            <a:rect l="l" t="t" r="r" b="b"/>
            <a:pathLst>
              <a:path w="1406444" h="991543">
                <a:moveTo>
                  <a:pt x="0" y="0"/>
                </a:moveTo>
                <a:lnTo>
                  <a:pt x="1406444" y="0"/>
                </a:lnTo>
                <a:lnTo>
                  <a:pt x="1406444" y="991544"/>
                </a:lnTo>
                <a:lnTo>
                  <a:pt x="0" y="991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  <p:grpSp>
        <p:nvGrpSpPr>
          <p:cNvPr id="6" name="Group 6"/>
          <p:cNvGrpSpPr/>
          <p:nvPr/>
        </p:nvGrpSpPr>
        <p:grpSpPr>
          <a:xfrm>
            <a:off x="3332122" y="1629488"/>
            <a:ext cx="3429000" cy="514350"/>
            <a:chOff x="0" y="0"/>
            <a:chExt cx="4572000" cy="685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72000" cy="685800"/>
            </a:xfrm>
            <a:custGeom>
              <a:avLst/>
              <a:gdLst/>
              <a:ahLst/>
              <a:cxnLst/>
              <a:rect l="l" t="t" r="r" b="b"/>
              <a:pathLst>
                <a:path w="4572000" h="685800">
                  <a:moveTo>
                    <a:pt x="146403" y="0"/>
                  </a:moveTo>
                  <a:lnTo>
                    <a:pt x="4425597" y="0"/>
                  </a:lnTo>
                  <a:cubicBezTo>
                    <a:pt x="4506453" y="0"/>
                    <a:pt x="4572000" y="65547"/>
                    <a:pt x="4572000" y="146403"/>
                  </a:cubicBezTo>
                  <a:lnTo>
                    <a:pt x="4572000" y="539397"/>
                  </a:lnTo>
                  <a:cubicBezTo>
                    <a:pt x="4572000" y="620253"/>
                    <a:pt x="4506453" y="685800"/>
                    <a:pt x="4425597" y="685800"/>
                  </a:cubicBezTo>
                  <a:lnTo>
                    <a:pt x="146403" y="685800"/>
                  </a:lnTo>
                  <a:cubicBezTo>
                    <a:pt x="65547" y="685800"/>
                    <a:pt x="0" y="620253"/>
                    <a:pt x="0" y="539397"/>
                  </a:cubicBezTo>
                  <a:lnTo>
                    <a:pt x="0" y="146403"/>
                  </a:lnTo>
                  <a:cubicBezTo>
                    <a:pt x="0" y="65547"/>
                    <a:pt x="65547" y="0"/>
                    <a:pt x="146403" y="0"/>
                  </a:cubicBezTo>
                  <a:close/>
                </a:path>
              </a:pathLst>
            </a:custGeom>
            <a:solidFill>
              <a:srgbClr val="55BFFF"/>
            </a:solidFill>
          </p:spPr>
          <p:txBody>
            <a:bodyPr/>
            <a:lstStyle/>
            <a:p>
              <a:endParaRPr lang="en-D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5720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794121" y="1642518"/>
            <a:ext cx="3429000" cy="514350"/>
            <a:chOff x="0" y="0"/>
            <a:chExt cx="4572000" cy="6858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4572000" cy="685800"/>
              <a:chOff x="0" y="0"/>
              <a:chExt cx="4572000" cy="685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57200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685800">
                    <a:moveTo>
                      <a:pt x="146403" y="0"/>
                    </a:moveTo>
                    <a:lnTo>
                      <a:pt x="4425597" y="0"/>
                    </a:lnTo>
                    <a:cubicBezTo>
                      <a:pt x="4506453" y="0"/>
                      <a:pt x="4572000" y="65547"/>
                      <a:pt x="4572000" y="146403"/>
                    </a:cubicBezTo>
                    <a:lnTo>
                      <a:pt x="4572000" y="539397"/>
                    </a:lnTo>
                    <a:cubicBezTo>
                      <a:pt x="4572000" y="620253"/>
                      <a:pt x="4506453" y="685800"/>
                      <a:pt x="4425597" y="685800"/>
                    </a:cubicBezTo>
                    <a:lnTo>
                      <a:pt x="146403" y="685800"/>
                    </a:lnTo>
                    <a:cubicBezTo>
                      <a:pt x="65547" y="685800"/>
                      <a:pt x="0" y="620253"/>
                      <a:pt x="0" y="539397"/>
                    </a:cubicBezTo>
                    <a:lnTo>
                      <a:pt x="0" y="146403"/>
                    </a:lnTo>
                    <a:cubicBezTo>
                      <a:pt x="0" y="65547"/>
                      <a:pt x="65547" y="0"/>
                      <a:pt x="146403" y="0"/>
                    </a:cubicBezTo>
                    <a:close/>
                  </a:path>
                </a:pathLst>
              </a:custGeom>
              <a:solidFill>
                <a:srgbClr val="F87AC4"/>
              </a:solidFill>
            </p:spPr>
            <p:txBody>
              <a:bodyPr/>
              <a:lstStyle/>
              <a:p>
                <a:endParaRPr lang="en-DE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4572000" cy="723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0" y="88900"/>
              <a:ext cx="4572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42424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Higher-level 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3572634" y="2539007"/>
            <a:ext cx="3034328" cy="3209080"/>
          </a:xfrm>
          <a:custGeom>
            <a:avLst/>
            <a:gdLst/>
            <a:ahLst/>
            <a:cxnLst/>
            <a:rect l="l" t="t" r="r" b="b"/>
            <a:pathLst>
              <a:path w="3034328" h="3209080">
                <a:moveTo>
                  <a:pt x="0" y="0"/>
                </a:moveTo>
                <a:lnTo>
                  <a:pt x="3034329" y="0"/>
                </a:lnTo>
                <a:lnTo>
                  <a:pt x="3034329" y="3209080"/>
                </a:lnTo>
                <a:lnTo>
                  <a:pt x="0" y="3209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  <p:sp>
        <p:nvSpPr>
          <p:cNvPr id="15" name="Freeform 15"/>
          <p:cNvSpPr/>
          <p:nvPr/>
        </p:nvSpPr>
        <p:spPr>
          <a:xfrm>
            <a:off x="10421501" y="2539007"/>
            <a:ext cx="6174240" cy="3209080"/>
          </a:xfrm>
          <a:custGeom>
            <a:avLst/>
            <a:gdLst/>
            <a:ahLst/>
            <a:cxnLst/>
            <a:rect l="l" t="t" r="r" b="b"/>
            <a:pathLst>
              <a:path w="6174240" h="3209080">
                <a:moveTo>
                  <a:pt x="0" y="0"/>
                </a:moveTo>
                <a:lnTo>
                  <a:pt x="6174240" y="0"/>
                </a:lnTo>
                <a:lnTo>
                  <a:pt x="6174240" y="3209080"/>
                </a:lnTo>
                <a:lnTo>
                  <a:pt x="0" y="3209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  <p:sp>
        <p:nvSpPr>
          <p:cNvPr id="16" name="TextBox 16"/>
          <p:cNvSpPr txBox="1"/>
          <p:nvPr/>
        </p:nvSpPr>
        <p:spPr>
          <a:xfrm>
            <a:off x="1372417" y="200025"/>
            <a:ext cx="11720929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5499" b="1" spc="-38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Hypotheses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970399" y="981774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24242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5776" y="9869762"/>
            <a:ext cx="5829445" cy="26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7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Elif Gezen | elif.gezen@psy.lmu.de |TUM-IAS SoA Workshop 2026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42415" y="6177431"/>
            <a:ext cx="5851665" cy="5143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287"/>
              </a:lnSpc>
            </a:pPr>
            <a:r>
              <a:rPr lang="en-US" sz="3062" spc="-134" dirty="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recognition </a:t>
            </a:r>
            <a:r>
              <a:rPr lang="en-US" sz="3062" b="1" i="1" spc="-134" dirty="0">
                <a:solidFill>
                  <a:srgbClr val="424242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high  &gt; </a:t>
            </a:r>
            <a:r>
              <a:rPr lang="en-US" sz="3062" i="1" spc="-134" dirty="0">
                <a:solidFill>
                  <a:srgbClr val="424242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recognition </a:t>
            </a:r>
            <a:r>
              <a:rPr lang="en-US" sz="3062" b="1" i="1" spc="-134" dirty="0">
                <a:solidFill>
                  <a:srgbClr val="424242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low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93921" y="6177431"/>
            <a:ext cx="7776478" cy="522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87"/>
              </a:lnSpc>
            </a:pPr>
            <a:r>
              <a:rPr lang="en-US" sz="3062" spc="-134" dirty="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recognition </a:t>
            </a:r>
            <a:r>
              <a:rPr lang="en-US" sz="3062" b="1" i="1" spc="-134" dirty="0">
                <a:solidFill>
                  <a:srgbClr val="424242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detected  &gt; </a:t>
            </a:r>
            <a:r>
              <a:rPr lang="en-US" sz="3062" i="1" spc="-134" dirty="0" err="1">
                <a:solidFill>
                  <a:srgbClr val="424242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recognition</a:t>
            </a:r>
            <a:r>
              <a:rPr lang="en-US" sz="3062" b="1" i="1" spc="-134" dirty="0" err="1">
                <a:solidFill>
                  <a:srgbClr val="424242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not</a:t>
            </a:r>
            <a:r>
              <a:rPr lang="en-US" sz="3062" b="1" i="1" spc="-134" dirty="0">
                <a:solidFill>
                  <a:srgbClr val="424242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detected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767460" y="7514718"/>
            <a:ext cx="6629400" cy="522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7"/>
              </a:lnSpc>
            </a:pPr>
            <a:r>
              <a:rPr lang="en-US" sz="3062" spc="-134" dirty="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subjective agency ratings  → recognition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332122" y="1686638"/>
            <a:ext cx="342900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Lower-level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1210" y="7511248"/>
            <a:ext cx="8467758" cy="514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287"/>
              </a:lnSpc>
            </a:pPr>
            <a:r>
              <a:rPr lang="en-US" sz="3062" spc="-134" dirty="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recognition </a:t>
            </a:r>
            <a:r>
              <a:rPr lang="en-US" sz="3062" b="1" i="1" spc="-134" dirty="0">
                <a:solidFill>
                  <a:srgbClr val="424242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controlled  &gt; </a:t>
            </a:r>
            <a:r>
              <a:rPr lang="en-US" sz="3062" i="1" spc="-134" dirty="0">
                <a:solidFill>
                  <a:srgbClr val="424242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recognition </a:t>
            </a:r>
            <a:r>
              <a:rPr lang="en-US" sz="3062" b="1" i="1" spc="-134" dirty="0">
                <a:solidFill>
                  <a:srgbClr val="424242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not controlled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72417" y="1038225"/>
            <a:ext cx="9627175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3" name="AutoShape 3"/>
          <p:cNvSpPr/>
          <p:nvPr/>
        </p:nvSpPr>
        <p:spPr>
          <a:xfrm flipH="1" flipV="1">
            <a:off x="990600" y="-142991"/>
            <a:ext cx="38100" cy="9926717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4" name="AutoShape 4"/>
          <p:cNvSpPr/>
          <p:nvPr/>
        </p:nvSpPr>
        <p:spPr>
          <a:xfrm>
            <a:off x="0" y="9774201"/>
            <a:ext cx="18288000" cy="9525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grpSp>
        <p:nvGrpSpPr>
          <p:cNvPr id="5" name="Group 5"/>
          <p:cNvGrpSpPr/>
          <p:nvPr/>
        </p:nvGrpSpPr>
        <p:grpSpPr>
          <a:xfrm>
            <a:off x="1387951" y="3345100"/>
            <a:ext cx="10315937" cy="6072660"/>
            <a:chOff x="0" y="0"/>
            <a:chExt cx="13754583" cy="8096879"/>
          </a:xfrm>
        </p:grpSpPr>
        <p:sp>
          <p:nvSpPr>
            <p:cNvPr id="6" name="Freeform 6"/>
            <p:cNvSpPr/>
            <p:nvPr/>
          </p:nvSpPr>
          <p:spPr>
            <a:xfrm>
              <a:off x="0" y="230911"/>
              <a:ext cx="13754583" cy="7865968"/>
            </a:xfrm>
            <a:custGeom>
              <a:avLst/>
              <a:gdLst/>
              <a:ahLst/>
              <a:cxnLst/>
              <a:rect l="l" t="t" r="r" b="b"/>
              <a:pathLst>
                <a:path w="13754583" h="7865968">
                  <a:moveTo>
                    <a:pt x="0" y="0"/>
                  </a:moveTo>
                  <a:lnTo>
                    <a:pt x="13754583" y="0"/>
                  </a:lnTo>
                  <a:lnTo>
                    <a:pt x="13754583" y="7865968"/>
                  </a:lnTo>
                  <a:lnTo>
                    <a:pt x="0" y="7865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603" b="-209108"/>
              </a:stretch>
            </a:blipFill>
          </p:spPr>
          <p:txBody>
            <a:bodyPr/>
            <a:lstStyle/>
            <a:p>
              <a:endParaRPr lang="en-DE"/>
            </a:p>
          </p:txBody>
        </p:sp>
        <p:sp>
          <p:nvSpPr>
            <p:cNvPr id="7" name="AutoShape 7"/>
            <p:cNvSpPr/>
            <p:nvPr/>
          </p:nvSpPr>
          <p:spPr>
            <a:xfrm>
              <a:off x="3237900" y="1090458"/>
              <a:ext cx="7616348" cy="0"/>
            </a:xfrm>
            <a:prstGeom prst="line">
              <a:avLst/>
            </a:prstGeom>
            <a:ln w="47954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8" name="AutoShape 8"/>
            <p:cNvSpPr/>
            <p:nvPr/>
          </p:nvSpPr>
          <p:spPr>
            <a:xfrm flipV="1">
              <a:off x="3251846" y="1090296"/>
              <a:ext cx="0" cy="1200432"/>
            </a:xfrm>
            <a:prstGeom prst="line">
              <a:avLst/>
            </a:prstGeom>
            <a:ln w="47954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9" name="AutoShape 9"/>
            <p:cNvSpPr/>
            <p:nvPr/>
          </p:nvSpPr>
          <p:spPr>
            <a:xfrm flipV="1">
              <a:off x="10826357" y="1062567"/>
              <a:ext cx="0" cy="1200432"/>
            </a:xfrm>
            <a:prstGeom prst="line">
              <a:avLst/>
            </a:prstGeom>
            <a:ln w="47954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43845" y="-161925"/>
              <a:ext cx="680002" cy="18385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684"/>
                </a:lnSpc>
                <a:spcBef>
                  <a:spcPct val="0"/>
                </a:spcBef>
              </a:pPr>
              <a:r>
                <a:rPr lang="en-US" sz="8345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*</a:t>
              </a:r>
            </a:p>
          </p:txBody>
        </p:sp>
        <p:sp>
          <p:nvSpPr>
            <p:cNvPr id="11" name="AutoShape 11"/>
            <p:cNvSpPr/>
            <p:nvPr/>
          </p:nvSpPr>
          <p:spPr>
            <a:xfrm flipV="1">
              <a:off x="1946944" y="2796735"/>
              <a:ext cx="0" cy="619038"/>
            </a:xfrm>
            <a:prstGeom prst="line">
              <a:avLst/>
            </a:prstGeom>
            <a:ln w="47954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2" name="AutoShape 12"/>
            <p:cNvSpPr/>
            <p:nvPr/>
          </p:nvSpPr>
          <p:spPr>
            <a:xfrm flipV="1">
              <a:off x="1939753" y="2796819"/>
              <a:ext cx="3927590" cy="0"/>
            </a:xfrm>
            <a:prstGeom prst="line">
              <a:avLst/>
            </a:prstGeom>
            <a:ln w="47954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3" name="AutoShape 13"/>
            <p:cNvSpPr/>
            <p:nvPr/>
          </p:nvSpPr>
          <p:spPr>
            <a:xfrm flipV="1">
              <a:off x="5852960" y="2782436"/>
              <a:ext cx="0" cy="619038"/>
            </a:xfrm>
            <a:prstGeom prst="line">
              <a:avLst/>
            </a:prstGeom>
            <a:ln w="47954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16496" y="2097380"/>
              <a:ext cx="1366912" cy="9502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5"/>
                </a:lnSpc>
                <a:spcBef>
                  <a:spcPct val="0"/>
                </a:spcBef>
              </a:pPr>
              <a:r>
                <a:rPr lang="en-US" sz="4303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***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59580" y="3158267"/>
              <a:ext cx="1006260" cy="7030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35"/>
                </a:lnSpc>
                <a:spcBef>
                  <a:spcPct val="0"/>
                </a:spcBef>
              </a:pPr>
              <a:r>
                <a:rPr lang="en-US" sz="3168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***</a:t>
              </a:r>
            </a:p>
          </p:txBody>
        </p:sp>
        <p:sp>
          <p:nvSpPr>
            <p:cNvPr id="16" name="AutoShape 16"/>
            <p:cNvSpPr/>
            <p:nvPr/>
          </p:nvSpPr>
          <p:spPr>
            <a:xfrm flipV="1">
              <a:off x="8270081" y="2796735"/>
              <a:ext cx="0" cy="619038"/>
            </a:xfrm>
            <a:prstGeom prst="line">
              <a:avLst/>
            </a:prstGeom>
            <a:ln w="47954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7" name="AutoShape 17"/>
            <p:cNvSpPr/>
            <p:nvPr/>
          </p:nvSpPr>
          <p:spPr>
            <a:xfrm flipV="1">
              <a:off x="8262890" y="2796819"/>
              <a:ext cx="3927590" cy="0"/>
            </a:xfrm>
            <a:prstGeom prst="line">
              <a:avLst/>
            </a:prstGeom>
            <a:ln w="47954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8" name="AutoShape 18"/>
            <p:cNvSpPr/>
            <p:nvPr/>
          </p:nvSpPr>
          <p:spPr>
            <a:xfrm flipV="1">
              <a:off x="12176097" y="2782436"/>
              <a:ext cx="0" cy="619038"/>
            </a:xfrm>
            <a:prstGeom prst="line">
              <a:avLst/>
            </a:prstGeom>
            <a:ln w="47954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539633" y="2097380"/>
              <a:ext cx="1366912" cy="9502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5"/>
                </a:lnSpc>
                <a:spcBef>
                  <a:spcPct val="0"/>
                </a:spcBef>
              </a:pPr>
              <a:r>
                <a:rPr lang="en-US" sz="4303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***</a:t>
              </a:r>
            </a:p>
          </p:txBody>
        </p:sp>
        <p:sp>
          <p:nvSpPr>
            <p:cNvPr id="20" name="AutoShape 20"/>
            <p:cNvSpPr/>
            <p:nvPr/>
          </p:nvSpPr>
          <p:spPr>
            <a:xfrm>
              <a:off x="3106778" y="3543146"/>
              <a:ext cx="2133530" cy="627977"/>
            </a:xfrm>
            <a:prstGeom prst="line">
              <a:avLst/>
            </a:prstGeom>
            <a:ln w="47954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9039779" y="3551623"/>
              <a:ext cx="2133530" cy="627977"/>
            </a:xfrm>
            <a:prstGeom prst="line">
              <a:avLst/>
            </a:prstGeom>
            <a:ln w="47954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2" name="AutoShape 22"/>
            <p:cNvSpPr/>
            <p:nvPr/>
          </p:nvSpPr>
          <p:spPr>
            <a:xfrm flipV="1">
              <a:off x="3643314" y="3696100"/>
              <a:ext cx="5854317" cy="0"/>
            </a:xfrm>
            <a:prstGeom prst="line">
              <a:avLst/>
            </a:prstGeom>
            <a:ln w="47954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1929" y="378750"/>
              <a:ext cx="2242918" cy="10226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35"/>
                </a:lnSpc>
              </a:pPr>
              <a:r>
                <a:rPr lang="en-US" sz="2239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* </a:t>
              </a:r>
              <a:r>
                <a:rPr lang="en-US" sz="2239" b="1" i="1">
                  <a:solidFill>
                    <a:srgbClr val="FF3131"/>
                  </a:solidFill>
                  <a:latin typeface="Playfair Display Bold Italics"/>
                  <a:ea typeface="Playfair Display Bold Italics"/>
                  <a:cs typeface="Playfair Display Bold Italics"/>
                  <a:sym typeface="Playfair Display Bold Italics"/>
                </a:rPr>
                <a:t>p</a:t>
              </a:r>
              <a:r>
                <a:rPr lang="en-US" sz="2239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 &lt; 0.05</a:t>
              </a:r>
            </a:p>
            <a:p>
              <a:pPr algn="l">
                <a:lnSpc>
                  <a:spcPts val="3135"/>
                </a:lnSpc>
                <a:spcBef>
                  <a:spcPct val="0"/>
                </a:spcBef>
              </a:pPr>
              <a:r>
                <a:rPr lang="en-US" sz="2239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*** </a:t>
              </a:r>
              <a:r>
                <a:rPr lang="en-US" sz="2239" b="1" i="1">
                  <a:solidFill>
                    <a:srgbClr val="FF3131"/>
                  </a:solidFill>
                  <a:latin typeface="Playfair Display Bold Italics"/>
                  <a:ea typeface="Playfair Display Bold Italics"/>
                  <a:cs typeface="Playfair Display Bold Italics"/>
                  <a:sym typeface="Playfair Display Bold Italics"/>
                </a:rPr>
                <a:t>p</a:t>
              </a:r>
              <a:r>
                <a:rPr lang="en-US" sz="2239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 &lt; 0.001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7064744" y="3821451"/>
            <a:ext cx="5452837" cy="0"/>
          </a:xfrm>
          <a:prstGeom prst="line">
            <a:avLst/>
          </a:prstGeom>
          <a:ln w="38100" cap="flat">
            <a:solidFill>
              <a:srgbClr val="231F20">
                <a:alpha val="21961"/>
              </a:srgbClr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DE"/>
          </a:p>
        </p:txBody>
      </p:sp>
      <p:sp>
        <p:nvSpPr>
          <p:cNvPr id="25" name="AutoShape 25"/>
          <p:cNvSpPr/>
          <p:nvPr/>
        </p:nvSpPr>
        <p:spPr>
          <a:xfrm>
            <a:off x="4725731" y="5235326"/>
            <a:ext cx="7791851" cy="0"/>
          </a:xfrm>
          <a:prstGeom prst="line">
            <a:avLst/>
          </a:prstGeom>
          <a:ln w="38100" cap="flat">
            <a:solidFill>
              <a:srgbClr val="231F20">
                <a:alpha val="21961"/>
              </a:srgbClr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DE"/>
          </a:p>
        </p:txBody>
      </p:sp>
      <p:sp>
        <p:nvSpPr>
          <p:cNvPr id="26" name="AutoShape 26"/>
          <p:cNvSpPr/>
          <p:nvPr/>
        </p:nvSpPr>
        <p:spPr>
          <a:xfrm>
            <a:off x="7064744" y="5930651"/>
            <a:ext cx="5452837" cy="1460839"/>
          </a:xfrm>
          <a:prstGeom prst="line">
            <a:avLst/>
          </a:prstGeom>
          <a:ln w="38100" cap="flat">
            <a:solidFill>
              <a:srgbClr val="231F20">
                <a:alpha val="21961"/>
              </a:srgbClr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DE"/>
          </a:p>
        </p:txBody>
      </p:sp>
      <p:sp>
        <p:nvSpPr>
          <p:cNvPr id="27" name="Freeform 27"/>
          <p:cNvSpPr/>
          <p:nvPr/>
        </p:nvSpPr>
        <p:spPr>
          <a:xfrm>
            <a:off x="16469362" y="3625834"/>
            <a:ext cx="376415" cy="654634"/>
          </a:xfrm>
          <a:custGeom>
            <a:avLst/>
            <a:gdLst/>
            <a:ahLst/>
            <a:cxnLst/>
            <a:rect l="l" t="t" r="r" b="b"/>
            <a:pathLst>
              <a:path w="376415" h="654634">
                <a:moveTo>
                  <a:pt x="0" y="0"/>
                </a:moveTo>
                <a:lnTo>
                  <a:pt x="376414" y="0"/>
                </a:lnTo>
                <a:lnTo>
                  <a:pt x="376414" y="654634"/>
                </a:lnTo>
                <a:lnTo>
                  <a:pt x="0" y="6546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  <p:sp>
        <p:nvSpPr>
          <p:cNvPr id="28" name="Freeform 28"/>
          <p:cNvSpPr/>
          <p:nvPr/>
        </p:nvSpPr>
        <p:spPr>
          <a:xfrm>
            <a:off x="15626621" y="4879507"/>
            <a:ext cx="539242" cy="561710"/>
          </a:xfrm>
          <a:custGeom>
            <a:avLst/>
            <a:gdLst/>
            <a:ahLst/>
            <a:cxnLst/>
            <a:rect l="l" t="t" r="r" b="b"/>
            <a:pathLst>
              <a:path w="539242" h="561710">
                <a:moveTo>
                  <a:pt x="0" y="0"/>
                </a:moveTo>
                <a:lnTo>
                  <a:pt x="539242" y="0"/>
                </a:lnTo>
                <a:lnTo>
                  <a:pt x="539242" y="561710"/>
                </a:lnTo>
                <a:lnTo>
                  <a:pt x="0" y="561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  <p:sp>
        <p:nvSpPr>
          <p:cNvPr id="29" name="TextBox 29"/>
          <p:cNvSpPr txBox="1"/>
          <p:nvPr/>
        </p:nvSpPr>
        <p:spPr>
          <a:xfrm>
            <a:off x="1372417" y="200025"/>
            <a:ext cx="11720929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5499" b="1" spc="-38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Results - Behavioral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970399" y="981774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24242"/>
                </a:solidFill>
                <a:latin typeface="Arimo"/>
                <a:ea typeface="Arimo"/>
                <a:cs typeface="Arimo"/>
                <a:sym typeface="Arimo"/>
              </a:rPr>
              <a:t>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5776" y="9869762"/>
            <a:ext cx="5829445" cy="26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7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Elif Gezen | elif.gezen@psy.lmu.de |TUM-IAS SoA Workshop 2026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52550" y="1266825"/>
            <a:ext cx="6799064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Recognition Memory Performance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endParaRPr lang="en-US" sz="3300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2649200" y="3549218"/>
            <a:ext cx="5257800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Main Effect of Condition: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low control &gt; high control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646001" y="4964190"/>
            <a:ext cx="5257800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Main Effect of Control: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controlled items &gt; uncontrolled items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646001" y="6990805"/>
            <a:ext cx="4613299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Interaction Control x Condition: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main effect of control driven by high control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4040" y="1923970"/>
            <a:ext cx="18029133" cy="110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d’ above chance for all participants</a:t>
            </a:r>
          </a:p>
          <a:p>
            <a:pPr marL="669291" lvl="1" indent="-334646" algn="l">
              <a:lnSpc>
                <a:spcPts val="4340"/>
              </a:lnSpc>
              <a:spcBef>
                <a:spcPct val="0"/>
              </a:spcBef>
              <a:buFont typeface="Arial"/>
              <a:buChar char="•"/>
            </a:pPr>
            <a:r>
              <a:rPr lang="en-US" sz="310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Binomial GLMM on old items: said_old ~ item_type * control_condition + (1 | participant)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72417" y="1038225"/>
            <a:ext cx="9627175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3" name="AutoShape 3"/>
          <p:cNvSpPr/>
          <p:nvPr/>
        </p:nvSpPr>
        <p:spPr>
          <a:xfrm flipH="1" flipV="1">
            <a:off x="990600" y="-142991"/>
            <a:ext cx="38100" cy="9926717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4" name="AutoShape 4"/>
          <p:cNvSpPr/>
          <p:nvPr/>
        </p:nvSpPr>
        <p:spPr>
          <a:xfrm>
            <a:off x="0" y="9774201"/>
            <a:ext cx="18288000" cy="9525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grpSp>
        <p:nvGrpSpPr>
          <p:cNvPr id="5" name="Group 5"/>
          <p:cNvGrpSpPr/>
          <p:nvPr/>
        </p:nvGrpSpPr>
        <p:grpSpPr>
          <a:xfrm>
            <a:off x="1372417" y="2190877"/>
            <a:ext cx="10554702" cy="6392571"/>
            <a:chOff x="0" y="0"/>
            <a:chExt cx="14072936" cy="85234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072936" cy="8523428"/>
            </a:xfrm>
            <a:custGeom>
              <a:avLst/>
              <a:gdLst/>
              <a:ahLst/>
              <a:cxnLst/>
              <a:rect l="l" t="t" r="r" b="b"/>
              <a:pathLst>
                <a:path w="14072936" h="8523428">
                  <a:moveTo>
                    <a:pt x="0" y="0"/>
                  </a:moveTo>
                  <a:lnTo>
                    <a:pt x="14072936" y="0"/>
                  </a:lnTo>
                  <a:lnTo>
                    <a:pt x="14072936" y="8523428"/>
                  </a:lnTo>
                  <a:lnTo>
                    <a:pt x="0" y="8523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8551" b="-98607"/>
              </a:stretch>
            </a:blipFill>
          </p:spPr>
          <p:txBody>
            <a:bodyPr/>
            <a:lstStyle/>
            <a:p>
              <a:endParaRPr lang="en-DE"/>
            </a:p>
          </p:txBody>
        </p:sp>
        <p:sp>
          <p:nvSpPr>
            <p:cNvPr id="7" name="AutoShape 7"/>
            <p:cNvSpPr/>
            <p:nvPr/>
          </p:nvSpPr>
          <p:spPr>
            <a:xfrm flipV="1">
              <a:off x="1664288" y="3420389"/>
              <a:ext cx="0" cy="633365"/>
            </a:xfrm>
            <a:prstGeom prst="line">
              <a:avLst/>
            </a:prstGeom>
            <a:ln w="36164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8" name="AutoShape 8"/>
            <p:cNvSpPr/>
            <p:nvPr/>
          </p:nvSpPr>
          <p:spPr>
            <a:xfrm>
              <a:off x="1655247" y="3420389"/>
              <a:ext cx="1663778" cy="0"/>
            </a:xfrm>
            <a:prstGeom prst="line">
              <a:avLst/>
            </a:prstGeom>
            <a:ln w="36164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9" name="AutoShape 9"/>
            <p:cNvSpPr/>
            <p:nvPr/>
          </p:nvSpPr>
          <p:spPr>
            <a:xfrm flipV="1">
              <a:off x="3309983" y="3420389"/>
              <a:ext cx="0" cy="633365"/>
            </a:xfrm>
            <a:prstGeom prst="line">
              <a:avLst/>
            </a:prstGeom>
            <a:ln w="36164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97615" y="3079105"/>
              <a:ext cx="579041" cy="495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74"/>
                </a:lnSpc>
                <a:spcBef>
                  <a:spcPct val="0"/>
                </a:spcBef>
              </a:pPr>
              <a:r>
                <a:rPr lang="en-US" sz="2267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***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19154" y="620870"/>
              <a:ext cx="2294831" cy="10644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08"/>
                </a:lnSpc>
              </a:pPr>
              <a:r>
                <a:rPr lang="en-US" sz="2291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* </a:t>
              </a:r>
              <a:r>
                <a:rPr lang="en-US" sz="2291" b="1" i="1">
                  <a:solidFill>
                    <a:srgbClr val="FF3131"/>
                  </a:solidFill>
                  <a:latin typeface="Playfair Display Bold Italics"/>
                  <a:ea typeface="Playfair Display Bold Italics"/>
                  <a:cs typeface="Playfair Display Bold Italics"/>
                  <a:sym typeface="Playfair Display Bold Italics"/>
                </a:rPr>
                <a:t>p</a:t>
              </a:r>
              <a:r>
                <a:rPr lang="en-US" sz="2291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 &lt; 0.05</a:t>
              </a:r>
            </a:p>
            <a:p>
              <a:pPr algn="l">
                <a:lnSpc>
                  <a:spcPts val="3208"/>
                </a:lnSpc>
                <a:spcBef>
                  <a:spcPct val="0"/>
                </a:spcBef>
              </a:pPr>
              <a:r>
                <a:rPr lang="en-US" sz="2291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*** </a:t>
              </a:r>
              <a:r>
                <a:rPr lang="en-US" sz="2291" b="1" i="1">
                  <a:solidFill>
                    <a:srgbClr val="FF3131"/>
                  </a:solidFill>
                  <a:latin typeface="Playfair Display Bold Italics"/>
                  <a:ea typeface="Playfair Display Bold Italics"/>
                  <a:cs typeface="Playfair Display Bold Italics"/>
                  <a:sym typeface="Playfair Display Bold Italics"/>
                </a:rPr>
                <a:t>p</a:t>
              </a:r>
              <a:r>
                <a:rPr lang="en-US" sz="2291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 &lt; 0.001</a:t>
              </a:r>
            </a:p>
          </p:txBody>
        </p:sp>
        <p:sp>
          <p:nvSpPr>
            <p:cNvPr id="12" name="AutoShape 12"/>
            <p:cNvSpPr/>
            <p:nvPr/>
          </p:nvSpPr>
          <p:spPr>
            <a:xfrm flipV="1">
              <a:off x="9356784" y="3377253"/>
              <a:ext cx="0" cy="633365"/>
            </a:xfrm>
            <a:prstGeom prst="line">
              <a:avLst/>
            </a:prstGeom>
            <a:ln w="36164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9347743" y="3377253"/>
              <a:ext cx="1663778" cy="0"/>
            </a:xfrm>
            <a:prstGeom prst="line">
              <a:avLst/>
            </a:prstGeom>
            <a:ln w="36164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4" name="AutoShape 14"/>
            <p:cNvSpPr/>
            <p:nvPr/>
          </p:nvSpPr>
          <p:spPr>
            <a:xfrm flipV="1">
              <a:off x="11002480" y="3377253"/>
              <a:ext cx="0" cy="633365"/>
            </a:xfrm>
            <a:prstGeom prst="line">
              <a:avLst/>
            </a:prstGeom>
            <a:ln w="36164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90112" y="3035969"/>
              <a:ext cx="579041" cy="495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74"/>
                </a:lnSpc>
                <a:spcBef>
                  <a:spcPct val="0"/>
                </a:spcBef>
              </a:pPr>
              <a:r>
                <a:rPr lang="en-US" sz="2267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***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3488733" y="4640671"/>
            <a:ext cx="9013718" cy="0"/>
          </a:xfrm>
          <a:prstGeom prst="line">
            <a:avLst/>
          </a:prstGeom>
          <a:ln w="38100" cap="flat">
            <a:solidFill>
              <a:srgbClr val="231F20">
                <a:alpha val="21961"/>
              </a:srgbClr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Box 17"/>
          <p:cNvSpPr txBox="1"/>
          <p:nvPr/>
        </p:nvSpPr>
        <p:spPr>
          <a:xfrm>
            <a:off x="12645580" y="4213914"/>
            <a:ext cx="5018347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Main Effect of Detection: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detected &gt; undetected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324900" y="4359816"/>
            <a:ext cx="539242" cy="561710"/>
          </a:xfrm>
          <a:custGeom>
            <a:avLst/>
            <a:gdLst/>
            <a:ahLst/>
            <a:cxnLst/>
            <a:rect l="l" t="t" r="r" b="b"/>
            <a:pathLst>
              <a:path w="539242" h="561710">
                <a:moveTo>
                  <a:pt x="0" y="0"/>
                </a:moveTo>
                <a:lnTo>
                  <a:pt x="539242" y="0"/>
                </a:lnTo>
                <a:lnTo>
                  <a:pt x="539242" y="561710"/>
                </a:lnTo>
                <a:lnTo>
                  <a:pt x="0" y="561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  <p:sp>
        <p:nvSpPr>
          <p:cNvPr id="19" name="TextBox 19"/>
          <p:cNvSpPr txBox="1"/>
          <p:nvPr/>
        </p:nvSpPr>
        <p:spPr>
          <a:xfrm>
            <a:off x="1372417" y="200025"/>
            <a:ext cx="11720929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5499" b="1" spc="-38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Results - Behavioral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970399" y="981774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24242"/>
                </a:solidFill>
                <a:latin typeface="Arimo"/>
                <a:ea typeface="Arimo"/>
                <a:cs typeface="Arimo"/>
                <a:sym typeface="Arimo"/>
              </a:rPr>
              <a:t>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5776" y="9869762"/>
            <a:ext cx="5829445" cy="26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7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Elif Gezen | elif.gezen@psy.lmu.de |TUM-IAS SoA Workshop 2026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45580" y="5937142"/>
            <a:ext cx="5776008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 Interaction</a:t>
            </a:r>
            <a:r>
              <a:rPr lang="en-US" sz="240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 Condition x Detection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71600" y="1276350"/>
            <a:ext cx="16694348" cy="1073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Binomial GLMM on old items: said_old ~ detection_accuracy * control_condition + (1 | participant)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endParaRPr lang="en-US" sz="2900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72417" y="1038225"/>
            <a:ext cx="9627175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3" name="AutoShape 3"/>
          <p:cNvSpPr/>
          <p:nvPr/>
        </p:nvSpPr>
        <p:spPr>
          <a:xfrm flipH="1" flipV="1">
            <a:off x="990600" y="-142991"/>
            <a:ext cx="38100" cy="9926717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4" name="AutoShape 4"/>
          <p:cNvSpPr/>
          <p:nvPr/>
        </p:nvSpPr>
        <p:spPr>
          <a:xfrm>
            <a:off x="0" y="9774201"/>
            <a:ext cx="18288000" cy="9525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5" name="Freeform 5"/>
          <p:cNvSpPr/>
          <p:nvPr/>
        </p:nvSpPr>
        <p:spPr>
          <a:xfrm>
            <a:off x="3961738" y="3340878"/>
            <a:ext cx="10364524" cy="6218714"/>
          </a:xfrm>
          <a:custGeom>
            <a:avLst/>
            <a:gdLst/>
            <a:ahLst/>
            <a:cxnLst/>
            <a:rect l="l" t="t" r="r" b="b"/>
            <a:pathLst>
              <a:path w="10364524" h="6218714">
                <a:moveTo>
                  <a:pt x="0" y="0"/>
                </a:moveTo>
                <a:lnTo>
                  <a:pt x="10364524" y="0"/>
                </a:lnTo>
                <a:lnTo>
                  <a:pt x="10364524" y="6218714"/>
                </a:lnTo>
                <a:lnTo>
                  <a:pt x="0" y="62187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  <p:sp>
        <p:nvSpPr>
          <p:cNvPr id="6" name="Freeform 6"/>
          <p:cNvSpPr/>
          <p:nvPr/>
        </p:nvSpPr>
        <p:spPr>
          <a:xfrm>
            <a:off x="9791700" y="1181100"/>
            <a:ext cx="908926" cy="808945"/>
          </a:xfrm>
          <a:custGeom>
            <a:avLst/>
            <a:gdLst/>
            <a:ahLst/>
            <a:cxnLst/>
            <a:rect l="l" t="t" r="r" b="b"/>
            <a:pathLst>
              <a:path w="908926" h="808945">
                <a:moveTo>
                  <a:pt x="0" y="0"/>
                </a:moveTo>
                <a:lnTo>
                  <a:pt x="908926" y="0"/>
                </a:lnTo>
                <a:lnTo>
                  <a:pt x="908926" y="808945"/>
                </a:lnTo>
                <a:lnTo>
                  <a:pt x="0" y="808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  <p:sp>
        <p:nvSpPr>
          <p:cNvPr id="7" name="TextBox 7"/>
          <p:cNvSpPr txBox="1"/>
          <p:nvPr/>
        </p:nvSpPr>
        <p:spPr>
          <a:xfrm>
            <a:off x="1372417" y="200025"/>
            <a:ext cx="11720929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5499" b="1" spc="-38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Results - Behavioral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970399" y="981774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24242"/>
                </a:solidFill>
                <a:latin typeface="Arimo"/>
                <a:ea typeface="Arimo"/>
                <a:cs typeface="Arimo"/>
                <a:sym typeface="Arimo"/>
              </a:rPr>
              <a:t>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5776" y="9869762"/>
            <a:ext cx="5829445" cy="26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7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Elif Gezen | elif.gezen@psy.lmu.de |TUM-IAS SoA Workshop 2026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1600" y="1266825"/>
            <a:ext cx="8419207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Agency Rating vs Recognition Performance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2493" y="1923370"/>
            <a:ext cx="11160919" cy="1725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Binomial GLMM on controlled items:</a:t>
            </a: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said_old ~ agency_z * control_condition + (1 | participant)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endParaRPr lang="en-US" sz="3300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72417" y="1038225"/>
            <a:ext cx="9627175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3" name="AutoShape 3"/>
          <p:cNvSpPr/>
          <p:nvPr/>
        </p:nvSpPr>
        <p:spPr>
          <a:xfrm flipH="1" flipV="1">
            <a:off x="990600" y="-142991"/>
            <a:ext cx="38100" cy="9926717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4" name="AutoShape 4"/>
          <p:cNvSpPr/>
          <p:nvPr/>
        </p:nvSpPr>
        <p:spPr>
          <a:xfrm>
            <a:off x="0" y="9774201"/>
            <a:ext cx="18288000" cy="9525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Box 5"/>
          <p:cNvSpPr txBox="1"/>
          <p:nvPr/>
        </p:nvSpPr>
        <p:spPr>
          <a:xfrm>
            <a:off x="1372417" y="200025"/>
            <a:ext cx="11720929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5499" b="1" spc="-38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Results - Neurophysiological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970399" y="981774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24242"/>
                </a:solidFill>
                <a:latin typeface="Arimo"/>
                <a:ea typeface="Arimo"/>
                <a:cs typeface="Arimo"/>
                <a:sym typeface="Arimo"/>
              </a:rPr>
              <a:t>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5776" y="9869762"/>
            <a:ext cx="5829445" cy="26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7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Elif Gezen | elif.gezen@psy.lmu.de |TUM-IAS SoA Workshop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1600" y="1266825"/>
            <a:ext cx="11162705" cy="563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b="1" i="1">
                <a:solidFill>
                  <a:srgbClr val="424242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Time-Frequency Analyses </a:t>
            </a:r>
            <a:r>
              <a:rPr lang="en-US" sz="3300" i="1">
                <a:solidFill>
                  <a:srgbClr val="424242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(cluster based permutation tests)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1600" y="1838325"/>
            <a:ext cx="3988296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spc="-231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Main Effect of Condition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591925" y="2011263"/>
            <a:ext cx="4633912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spc="-231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ROI: P*, O* (Wu et al., 2025) </a:t>
            </a:r>
          </a:p>
        </p:txBody>
      </p:sp>
      <p:sp>
        <p:nvSpPr>
          <p:cNvPr id="11" name="Freeform 11"/>
          <p:cNvSpPr/>
          <p:nvPr/>
        </p:nvSpPr>
        <p:spPr>
          <a:xfrm>
            <a:off x="2828925" y="5648325"/>
            <a:ext cx="6565355" cy="3939213"/>
          </a:xfrm>
          <a:custGeom>
            <a:avLst/>
            <a:gdLst/>
            <a:ahLst/>
            <a:cxnLst/>
            <a:rect l="l" t="t" r="r" b="b"/>
            <a:pathLst>
              <a:path w="6565355" h="3939213">
                <a:moveTo>
                  <a:pt x="0" y="0"/>
                </a:moveTo>
                <a:lnTo>
                  <a:pt x="6565355" y="0"/>
                </a:lnTo>
                <a:lnTo>
                  <a:pt x="6565355" y="3939213"/>
                </a:lnTo>
                <a:lnTo>
                  <a:pt x="0" y="39392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  <p:sp>
        <p:nvSpPr>
          <p:cNvPr id="12" name="Freeform 12"/>
          <p:cNvSpPr/>
          <p:nvPr/>
        </p:nvSpPr>
        <p:spPr>
          <a:xfrm>
            <a:off x="1371600" y="2800350"/>
            <a:ext cx="4891980" cy="2935188"/>
          </a:xfrm>
          <a:custGeom>
            <a:avLst/>
            <a:gdLst/>
            <a:ahLst/>
            <a:cxnLst/>
            <a:rect l="l" t="t" r="r" b="b"/>
            <a:pathLst>
              <a:path w="4891980" h="2935188">
                <a:moveTo>
                  <a:pt x="0" y="0"/>
                </a:moveTo>
                <a:lnTo>
                  <a:pt x="4891980" y="0"/>
                </a:lnTo>
                <a:lnTo>
                  <a:pt x="4891980" y="2935188"/>
                </a:lnTo>
                <a:lnTo>
                  <a:pt x="0" y="29351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  <p:sp>
        <p:nvSpPr>
          <p:cNvPr id="13" name="Freeform 13"/>
          <p:cNvSpPr/>
          <p:nvPr/>
        </p:nvSpPr>
        <p:spPr>
          <a:xfrm>
            <a:off x="5953125" y="2800350"/>
            <a:ext cx="4891980" cy="2935188"/>
          </a:xfrm>
          <a:custGeom>
            <a:avLst/>
            <a:gdLst/>
            <a:ahLst/>
            <a:cxnLst/>
            <a:rect l="l" t="t" r="r" b="b"/>
            <a:pathLst>
              <a:path w="4891980" h="2935188">
                <a:moveTo>
                  <a:pt x="0" y="0"/>
                </a:moveTo>
                <a:lnTo>
                  <a:pt x="4891980" y="0"/>
                </a:lnTo>
                <a:lnTo>
                  <a:pt x="4891980" y="2935188"/>
                </a:lnTo>
                <a:lnTo>
                  <a:pt x="0" y="29351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  <p:sp>
        <p:nvSpPr>
          <p:cNvPr id="14" name="Freeform 14"/>
          <p:cNvSpPr/>
          <p:nvPr/>
        </p:nvSpPr>
        <p:spPr>
          <a:xfrm>
            <a:off x="10953750" y="2935188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0" y="0"/>
                </a:moveTo>
                <a:lnTo>
                  <a:pt x="2857500" y="0"/>
                </a:lnTo>
                <a:lnTo>
                  <a:pt x="285750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  <p:sp>
        <p:nvSpPr>
          <p:cNvPr id="15" name="Freeform 15"/>
          <p:cNvSpPr/>
          <p:nvPr/>
        </p:nvSpPr>
        <p:spPr>
          <a:xfrm>
            <a:off x="14001750" y="2935188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0" y="0"/>
                </a:moveTo>
                <a:lnTo>
                  <a:pt x="2857500" y="0"/>
                </a:lnTo>
                <a:lnTo>
                  <a:pt x="285750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  <p:sp>
        <p:nvSpPr>
          <p:cNvPr id="16" name="TextBox 16"/>
          <p:cNvSpPr txBox="1"/>
          <p:nvPr/>
        </p:nvSpPr>
        <p:spPr>
          <a:xfrm>
            <a:off x="9620250" y="8305800"/>
            <a:ext cx="7810500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Cluster 1: 0.54–2.42 s, 28–60 Hz, </a:t>
            </a:r>
            <a:r>
              <a:rPr lang="en-US" sz="2400" i="1" u="none" strike="noStrike">
                <a:solidFill>
                  <a:srgbClr val="424242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</a:t>
            </a:r>
            <a:r>
              <a:rPr lang="en-US" sz="2400" u="none" strike="noStrik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 = .014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20250" y="8858250"/>
            <a:ext cx="7810500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Cluster 2: 1.82–2.98 s, 33–60 Hz, </a:t>
            </a:r>
            <a:r>
              <a:rPr lang="en-US" sz="2400" i="1" u="none" strike="noStrike">
                <a:solidFill>
                  <a:srgbClr val="424242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</a:t>
            </a:r>
            <a:r>
              <a:rPr lang="en-US" sz="2400" u="none" strike="noStrik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 = .040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20250" y="6467475"/>
            <a:ext cx="8543117" cy="1012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Greater gamma-band power for low control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(less suppression)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72417" y="1038225"/>
            <a:ext cx="9627175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3" name="AutoShape 3"/>
          <p:cNvSpPr/>
          <p:nvPr/>
        </p:nvSpPr>
        <p:spPr>
          <a:xfrm flipH="1" flipV="1">
            <a:off x="990600" y="-142991"/>
            <a:ext cx="38100" cy="9926717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4" name="AutoShape 4"/>
          <p:cNvSpPr/>
          <p:nvPr/>
        </p:nvSpPr>
        <p:spPr>
          <a:xfrm>
            <a:off x="0" y="9774201"/>
            <a:ext cx="18288000" cy="9525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grpSp>
        <p:nvGrpSpPr>
          <p:cNvPr id="5" name="Group 5"/>
          <p:cNvGrpSpPr/>
          <p:nvPr/>
        </p:nvGrpSpPr>
        <p:grpSpPr>
          <a:xfrm>
            <a:off x="1372417" y="4025591"/>
            <a:ext cx="11417434" cy="4380063"/>
            <a:chOff x="0" y="0"/>
            <a:chExt cx="15223246" cy="58400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11831" cy="5761037"/>
            </a:xfrm>
            <a:custGeom>
              <a:avLst/>
              <a:gdLst/>
              <a:ahLst/>
              <a:cxnLst/>
              <a:rect l="l" t="t" r="r" b="b"/>
              <a:pathLst>
                <a:path w="10511831" h="5761037">
                  <a:moveTo>
                    <a:pt x="0" y="0"/>
                  </a:moveTo>
                  <a:lnTo>
                    <a:pt x="10511831" y="0"/>
                  </a:lnTo>
                  <a:lnTo>
                    <a:pt x="10511831" y="5761037"/>
                  </a:lnTo>
                  <a:lnTo>
                    <a:pt x="0" y="5761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0" r="-90"/>
              </a:stretch>
            </a:blipFill>
          </p:spPr>
          <p:txBody>
            <a:bodyPr/>
            <a:lstStyle/>
            <a:p>
              <a:endParaRPr lang="en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208773" y="5182021"/>
              <a:ext cx="2180985" cy="3725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55"/>
                </a:lnSpc>
              </a:pPr>
              <a:r>
                <a:rPr lang="en-US" sz="1682" spc="-74">
                  <a:solidFill>
                    <a:srgbClr val="424242"/>
                  </a:solidFill>
                  <a:latin typeface="Open Sans"/>
                  <a:ea typeface="Open Sans"/>
                  <a:cs typeface="Open Sans"/>
                  <a:sym typeface="Open Sans"/>
                </a:rPr>
                <a:t>Wen et al., 2020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2285137" y="3338680"/>
              <a:ext cx="8652133" cy="2501404"/>
            </a:xfrm>
            <a:custGeom>
              <a:avLst/>
              <a:gdLst/>
              <a:ahLst/>
              <a:cxnLst/>
              <a:rect l="l" t="t" r="r" b="b"/>
              <a:pathLst>
                <a:path w="8652133" h="2501404">
                  <a:moveTo>
                    <a:pt x="0" y="0"/>
                  </a:moveTo>
                  <a:lnTo>
                    <a:pt x="8652133" y="0"/>
                  </a:lnTo>
                  <a:lnTo>
                    <a:pt x="8652133" y="2501404"/>
                  </a:lnTo>
                  <a:lnTo>
                    <a:pt x="0" y="2501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309" t="-256779" r="-15803" b="-55223"/>
              </a:stretch>
            </a:blipFill>
            <a:ln w="38100" cap="sq">
              <a:solidFill>
                <a:srgbClr val="4ABB80"/>
              </a:solidFill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9" name="Freeform 9"/>
            <p:cNvSpPr/>
            <p:nvPr/>
          </p:nvSpPr>
          <p:spPr>
            <a:xfrm>
              <a:off x="3455693" y="4632876"/>
              <a:ext cx="2566221" cy="537463"/>
            </a:xfrm>
            <a:custGeom>
              <a:avLst/>
              <a:gdLst/>
              <a:ahLst/>
              <a:cxnLst/>
              <a:rect l="l" t="t" r="r" b="b"/>
              <a:pathLst>
                <a:path w="2566221" h="537463">
                  <a:moveTo>
                    <a:pt x="0" y="0"/>
                  </a:moveTo>
                  <a:lnTo>
                    <a:pt x="2566221" y="0"/>
                  </a:lnTo>
                  <a:lnTo>
                    <a:pt x="2566221" y="537462"/>
                  </a:lnTo>
                  <a:lnTo>
                    <a:pt x="0" y="5374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309" t="-392499" r="-15803" b="-76230"/>
              </a:stretch>
            </a:blipFill>
            <a:ln w="38100" cap="sq">
              <a:solidFill>
                <a:srgbClr val="4ABB80"/>
              </a:solidFill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1887028" y="3507490"/>
              <a:ext cx="3336218" cy="1668109"/>
              <a:chOff x="0" y="0"/>
              <a:chExt cx="812800" cy="4064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406400"/>
                    </a:lnTo>
                    <a:lnTo>
                      <a:pt x="0" y="406400"/>
                    </a:lnTo>
                    <a:close/>
                  </a:path>
                </a:pathLst>
              </a:custGeom>
              <a:solidFill>
                <a:srgbClr val="FF5757"/>
              </a:solidFill>
            </p:spPr>
            <p:txBody>
              <a:bodyPr/>
              <a:lstStyle/>
              <a:p>
                <a:endParaRPr lang="en-DE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812800" cy="444500"/>
              </a:xfrm>
              <a:prstGeom prst="rect">
                <a:avLst/>
              </a:prstGeom>
            </p:spPr>
            <p:txBody>
              <a:bodyPr lIns="48097" tIns="48097" rIns="48097" bIns="48097" rtlCol="0" anchor="ctr"/>
              <a:lstStyle/>
              <a:p>
                <a:pPr algn="ctr">
                  <a:lnSpc>
                    <a:spcPts val="3360"/>
                  </a:lnSpc>
                </a:pPr>
                <a:r>
                  <a:rPr lang="en-US" sz="240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prediction error</a:t>
                </a:r>
              </a:p>
            </p:txBody>
          </p:sp>
        </p:grpSp>
        <p:sp>
          <p:nvSpPr>
            <p:cNvPr id="13" name="AutoShape 13"/>
            <p:cNvSpPr/>
            <p:nvPr/>
          </p:nvSpPr>
          <p:spPr>
            <a:xfrm>
              <a:off x="10224392" y="4341545"/>
              <a:ext cx="1662637" cy="0"/>
            </a:xfrm>
            <a:prstGeom prst="line">
              <a:avLst/>
            </a:prstGeom>
            <a:ln w="32627" cap="flat">
              <a:solidFill>
                <a:srgbClr val="424242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DE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72417" y="1984704"/>
            <a:ext cx="16028121" cy="4641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1"/>
              </a:lnSpc>
            </a:pPr>
            <a:r>
              <a:rPr lang="en-US" sz="3043" b="1" spc="-213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Parieto-occipital gamma oscillations are related to, and SoA can be computed based on</a:t>
            </a:r>
            <a:r>
              <a:rPr lang="en-US" sz="3043" spc="-213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algn="l">
              <a:lnSpc>
                <a:spcPts val="3841"/>
              </a:lnSpc>
            </a:pPr>
            <a:endParaRPr lang="en-US" sz="3043" spc="-213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57194" lvl="1" indent="-328597" algn="l">
              <a:lnSpc>
                <a:spcPts val="4261"/>
              </a:lnSpc>
              <a:buFont typeface="Arial"/>
              <a:buChar char="•"/>
            </a:pPr>
            <a:r>
              <a:rPr lang="en-US" sz="3043" b="1" spc="-213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prediction error (PE) monitoring </a:t>
            </a:r>
            <a:r>
              <a:rPr lang="en-US" sz="3043" spc="-213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(Engel et al., 2001; van Pelt et al., 2016; Wen &amp; Haggard, 2020)</a:t>
            </a:r>
          </a:p>
          <a:p>
            <a:pPr algn="l">
              <a:lnSpc>
                <a:spcPts val="4261"/>
              </a:lnSpc>
            </a:pPr>
            <a:endParaRPr lang="en-US" sz="3043" spc="-213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261"/>
              </a:lnSpc>
            </a:pPr>
            <a:r>
              <a:rPr lang="en-US" sz="3043" spc="-213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4261"/>
              </a:lnSpc>
            </a:pPr>
            <a:endParaRPr lang="en-US" sz="3043" spc="-213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261"/>
              </a:lnSpc>
            </a:pPr>
            <a:endParaRPr lang="en-US" sz="3043" spc="-213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841"/>
              </a:lnSpc>
            </a:pPr>
            <a:endParaRPr lang="en-US" sz="3043" spc="-213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841"/>
              </a:lnSpc>
            </a:pPr>
            <a:endParaRPr lang="en-US" sz="3043" spc="-213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72417" y="200025"/>
            <a:ext cx="11720929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5499" b="1" spc="-38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Interim Interpretation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776" y="9869762"/>
            <a:ext cx="5829445" cy="26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7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Elif Gezen | elif.gezen@psy.lmu.de |TUM-IAS SoA Workshop 2026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71600" y="1266825"/>
            <a:ext cx="1034578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i="1">
                <a:solidFill>
                  <a:srgbClr val="424242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Why did we get the opposite effect to what we expected?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endParaRPr lang="en-US" sz="3300" i="1">
              <a:solidFill>
                <a:srgbClr val="424242"/>
              </a:solidFill>
              <a:latin typeface="Open Sans Italics"/>
              <a:ea typeface="Open Sans Italics"/>
              <a:cs typeface="Open Sans Italics"/>
              <a:sym typeface="Open Sans Itali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287000" y="4124325"/>
            <a:ext cx="6629400" cy="1725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b="1" i="1" dirty="0">
                <a:solidFill>
                  <a:srgbClr val="424242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categorical perception of </a:t>
            </a:r>
            <a:r>
              <a:rPr lang="en-US" sz="3300" b="1" i="1" dirty="0" err="1">
                <a:solidFill>
                  <a:srgbClr val="424242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SoA</a:t>
            </a:r>
            <a:r>
              <a:rPr lang="en-US" sz="3300" i="1" dirty="0">
                <a:solidFill>
                  <a:srgbClr val="424242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created by order effects due to our within-subjects block design?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970436" y="981770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72417" y="1038225"/>
            <a:ext cx="9627175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3" name="AutoShape 3"/>
          <p:cNvSpPr/>
          <p:nvPr/>
        </p:nvSpPr>
        <p:spPr>
          <a:xfrm flipH="1" flipV="1">
            <a:off x="990600" y="-142991"/>
            <a:ext cx="38100" cy="9926717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4" name="AutoShape 4"/>
          <p:cNvSpPr/>
          <p:nvPr/>
        </p:nvSpPr>
        <p:spPr>
          <a:xfrm>
            <a:off x="0" y="9774201"/>
            <a:ext cx="18288000" cy="9525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Box 5"/>
          <p:cNvSpPr txBox="1"/>
          <p:nvPr/>
        </p:nvSpPr>
        <p:spPr>
          <a:xfrm>
            <a:off x="1372417" y="1984704"/>
            <a:ext cx="16028121" cy="357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1"/>
              </a:lnSpc>
            </a:pPr>
            <a:r>
              <a:rPr lang="en-US" sz="3043" b="1" spc="-213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Parieto-occipital gamma oscillations are related to, and SoA can be computed based on</a:t>
            </a:r>
            <a:r>
              <a:rPr lang="en-US" sz="3043" spc="-213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algn="l">
              <a:lnSpc>
                <a:spcPts val="3841"/>
              </a:lnSpc>
            </a:pPr>
            <a:endParaRPr lang="en-US" sz="3043" spc="-213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57194" lvl="1" indent="-328597" algn="l">
              <a:lnSpc>
                <a:spcPts val="4261"/>
              </a:lnSpc>
              <a:buFont typeface="Arial"/>
              <a:buChar char="•"/>
            </a:pPr>
            <a:r>
              <a:rPr lang="en-US" sz="3043" b="1" spc="-213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prediction error (PE) monitoring </a:t>
            </a:r>
            <a:r>
              <a:rPr lang="en-US" sz="3043" spc="-213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(Engel et al., 2001; van Pelt et al., 2016; Wen &amp; Haggard, 2020) </a:t>
            </a:r>
          </a:p>
          <a:p>
            <a:pPr algn="l">
              <a:lnSpc>
                <a:spcPts val="4261"/>
              </a:lnSpc>
            </a:pPr>
            <a:endParaRPr lang="en-US" sz="3043" spc="-213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261"/>
              </a:lnSpc>
            </a:pPr>
            <a:endParaRPr lang="en-US" sz="3043" spc="-213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841"/>
              </a:lnSpc>
            </a:pPr>
            <a:endParaRPr lang="en-US" sz="3043" spc="-213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841"/>
              </a:lnSpc>
            </a:pPr>
            <a:endParaRPr lang="en-US" sz="3043" spc="-213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372417" y="200025"/>
            <a:ext cx="11720929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5499" b="1" spc="-38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Interim Interpretation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5776" y="9869762"/>
            <a:ext cx="5829445" cy="26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7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Elif Gezen | elif.gezen@psy.lmu.de |TUM-IAS SoA Workshop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1600" y="1266825"/>
            <a:ext cx="1034578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i="1">
                <a:solidFill>
                  <a:srgbClr val="424242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Why did we get the opposite effect to what we expected?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endParaRPr lang="en-US" sz="3300" i="1">
              <a:solidFill>
                <a:srgbClr val="424242"/>
              </a:solidFill>
              <a:latin typeface="Open Sans Italics"/>
              <a:ea typeface="Open Sans Italics"/>
              <a:cs typeface="Open Sans Italics"/>
              <a:sym typeface="Open Sans Itali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0" y="4124325"/>
            <a:ext cx="6629400" cy="1725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b="1" i="1">
                <a:solidFill>
                  <a:srgbClr val="424242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categorical perception of SoA</a:t>
            </a:r>
            <a:r>
              <a:rPr lang="en-US" sz="3300" i="1">
                <a:solidFill>
                  <a:srgbClr val="424242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created by order effects due to our within-subjects block design?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970436" y="981770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10</a:t>
            </a:r>
          </a:p>
        </p:txBody>
      </p:sp>
      <p:sp>
        <p:nvSpPr>
          <p:cNvPr id="11" name="Freeform 11"/>
          <p:cNvSpPr/>
          <p:nvPr/>
        </p:nvSpPr>
        <p:spPr>
          <a:xfrm>
            <a:off x="1971424" y="4280339"/>
            <a:ext cx="7959067" cy="4775440"/>
          </a:xfrm>
          <a:custGeom>
            <a:avLst/>
            <a:gdLst/>
            <a:ahLst/>
            <a:cxnLst/>
            <a:rect l="l" t="t" r="r" b="b"/>
            <a:pathLst>
              <a:path w="7959067" h="4775440">
                <a:moveTo>
                  <a:pt x="0" y="0"/>
                </a:moveTo>
                <a:lnTo>
                  <a:pt x="7959067" y="0"/>
                </a:lnTo>
                <a:lnTo>
                  <a:pt x="7959067" y="4775440"/>
                </a:lnTo>
                <a:lnTo>
                  <a:pt x="0" y="47754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72417" y="1038225"/>
            <a:ext cx="9627175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3" name="AutoShape 3"/>
          <p:cNvSpPr/>
          <p:nvPr/>
        </p:nvSpPr>
        <p:spPr>
          <a:xfrm flipH="1" flipV="1">
            <a:off x="990600" y="-142991"/>
            <a:ext cx="38100" cy="9926717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4" name="AutoShape 4"/>
          <p:cNvSpPr/>
          <p:nvPr/>
        </p:nvSpPr>
        <p:spPr>
          <a:xfrm>
            <a:off x="0" y="9774201"/>
            <a:ext cx="18288000" cy="9525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Box 5"/>
          <p:cNvSpPr txBox="1"/>
          <p:nvPr/>
        </p:nvSpPr>
        <p:spPr>
          <a:xfrm>
            <a:off x="1372417" y="200025"/>
            <a:ext cx="11720929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5499" b="1" spc="-38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Results - Exploratory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970399" y="981774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24242"/>
                </a:solidFill>
                <a:latin typeface="Arimo"/>
                <a:ea typeface="Arimo"/>
                <a:cs typeface="Arimo"/>
                <a:sym typeface="Arimo"/>
              </a:rPr>
              <a:t>11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5776" y="9869762"/>
            <a:ext cx="5829445" cy="26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7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Elif Gezen | elif.gezen@psy.lmu.de |TUM-IAS SoA Workshop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1600" y="1266825"/>
            <a:ext cx="13336191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Recognition Memory Performance (Hit Rates), Split by Starting Order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910654" y="3194145"/>
            <a:ext cx="9088937" cy="6465755"/>
            <a:chOff x="0" y="0"/>
            <a:chExt cx="12118583" cy="8621007"/>
          </a:xfrm>
        </p:grpSpPr>
        <p:sp>
          <p:nvSpPr>
            <p:cNvPr id="10" name="Freeform 10"/>
            <p:cNvSpPr/>
            <p:nvPr/>
          </p:nvSpPr>
          <p:spPr>
            <a:xfrm>
              <a:off x="205350" y="4482858"/>
              <a:ext cx="5508574" cy="4138149"/>
            </a:xfrm>
            <a:custGeom>
              <a:avLst/>
              <a:gdLst/>
              <a:ahLst/>
              <a:cxnLst/>
              <a:rect l="l" t="t" r="r" b="b"/>
              <a:pathLst>
                <a:path w="5508574" h="4138149">
                  <a:moveTo>
                    <a:pt x="0" y="0"/>
                  </a:moveTo>
                  <a:lnTo>
                    <a:pt x="5508574" y="0"/>
                  </a:lnTo>
                  <a:lnTo>
                    <a:pt x="5508574" y="4138149"/>
                  </a:lnTo>
                  <a:lnTo>
                    <a:pt x="0" y="4138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0325"/>
              </a:stretch>
            </a:blipFill>
          </p:spPr>
          <p:txBody>
            <a:bodyPr/>
            <a:lstStyle/>
            <a:p>
              <a:endParaRPr lang="en-DE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05350" y="373574"/>
              <a:ext cx="5508574" cy="4109284"/>
            </a:xfrm>
            <a:custGeom>
              <a:avLst/>
              <a:gdLst/>
              <a:ahLst/>
              <a:cxnLst/>
              <a:rect l="l" t="t" r="r" b="b"/>
              <a:pathLst>
                <a:path w="5508574" h="4109284">
                  <a:moveTo>
                    <a:pt x="0" y="0"/>
                  </a:moveTo>
                  <a:lnTo>
                    <a:pt x="5508574" y="0"/>
                  </a:lnTo>
                  <a:lnTo>
                    <a:pt x="5508574" y="4109284"/>
                  </a:lnTo>
                  <a:lnTo>
                    <a:pt x="0" y="4109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77" r="-97750"/>
              </a:stretch>
            </a:blipFill>
          </p:spPr>
          <p:txBody>
            <a:bodyPr/>
            <a:lstStyle/>
            <a:p>
              <a:endParaRPr lang="en-DE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5919274" cy="587527"/>
            </a:xfrm>
            <a:custGeom>
              <a:avLst/>
              <a:gdLst/>
              <a:ahLst/>
              <a:cxnLst/>
              <a:rect l="l" t="t" r="r" b="b"/>
              <a:pathLst>
                <a:path w="5919274" h="587527">
                  <a:moveTo>
                    <a:pt x="0" y="0"/>
                  </a:moveTo>
                  <a:lnTo>
                    <a:pt x="5919274" y="0"/>
                  </a:lnTo>
                  <a:lnTo>
                    <a:pt x="5919274" y="587527"/>
                  </a:lnTo>
                  <a:lnTo>
                    <a:pt x="0" y="587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2317" r="-229598" b="-1342912"/>
              </a:stretch>
            </a:blipFill>
          </p:spPr>
          <p:txBody>
            <a:bodyPr/>
            <a:lstStyle/>
            <a:p>
              <a:endParaRPr lang="en-DE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6219254" y="4497291"/>
              <a:ext cx="5566354" cy="4123717"/>
            </a:xfrm>
            <a:custGeom>
              <a:avLst/>
              <a:gdLst/>
              <a:ahLst/>
              <a:cxnLst/>
              <a:rect l="l" t="t" r="r" b="b"/>
              <a:pathLst>
                <a:path w="5566354" h="4123717">
                  <a:moveTo>
                    <a:pt x="0" y="0"/>
                  </a:moveTo>
                  <a:lnTo>
                    <a:pt x="5566354" y="0"/>
                  </a:lnTo>
                  <a:lnTo>
                    <a:pt x="5566354" y="4123716"/>
                  </a:lnTo>
                  <a:lnTo>
                    <a:pt x="0" y="4123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554"/>
              </a:stretch>
            </a:blipFill>
          </p:spPr>
          <p:txBody>
            <a:bodyPr/>
            <a:lstStyle/>
            <a:p>
              <a:endParaRPr lang="en-DE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219254" y="373574"/>
              <a:ext cx="5558489" cy="4123717"/>
            </a:xfrm>
            <a:custGeom>
              <a:avLst/>
              <a:gdLst/>
              <a:ahLst/>
              <a:cxnLst/>
              <a:rect l="l" t="t" r="r" b="b"/>
              <a:pathLst>
                <a:path w="5558489" h="4123717">
                  <a:moveTo>
                    <a:pt x="0" y="0"/>
                  </a:moveTo>
                  <a:lnTo>
                    <a:pt x="5558489" y="0"/>
                  </a:lnTo>
                  <a:lnTo>
                    <a:pt x="5558489" y="4123717"/>
                  </a:lnTo>
                  <a:lnTo>
                    <a:pt x="0" y="41237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97833"/>
              </a:stretch>
            </a:blipFill>
          </p:spPr>
          <p:txBody>
            <a:bodyPr/>
            <a:lstStyle/>
            <a:p>
              <a:endParaRPr lang="en-DE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1450656" y="1201783"/>
              <a:ext cx="3073043" cy="0"/>
            </a:xfrm>
            <a:prstGeom prst="line">
              <a:avLst/>
            </a:prstGeom>
            <a:ln w="23978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6" name="AutoShape 16"/>
            <p:cNvSpPr/>
            <p:nvPr/>
          </p:nvSpPr>
          <p:spPr>
            <a:xfrm flipV="1">
              <a:off x="1456283" y="1201717"/>
              <a:ext cx="0" cy="484350"/>
            </a:xfrm>
            <a:prstGeom prst="line">
              <a:avLst/>
            </a:prstGeom>
            <a:ln w="23978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7" name="AutoShape 17"/>
            <p:cNvSpPr/>
            <p:nvPr/>
          </p:nvSpPr>
          <p:spPr>
            <a:xfrm flipV="1">
              <a:off x="4512445" y="1190529"/>
              <a:ext cx="0" cy="484350"/>
            </a:xfrm>
            <a:prstGeom prst="line">
              <a:avLst/>
            </a:prstGeom>
            <a:ln w="23978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65234" y="695130"/>
              <a:ext cx="274367" cy="7431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14"/>
                </a:lnSpc>
                <a:spcBef>
                  <a:spcPct val="0"/>
                </a:spcBef>
              </a:pPr>
              <a:r>
                <a:rPr lang="en-US" sz="3367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*</a:t>
              </a:r>
            </a:p>
          </p:txBody>
        </p:sp>
        <p:sp>
          <p:nvSpPr>
            <p:cNvPr id="19" name="AutoShape 19"/>
            <p:cNvSpPr/>
            <p:nvPr/>
          </p:nvSpPr>
          <p:spPr>
            <a:xfrm flipV="1">
              <a:off x="929781" y="1890231"/>
              <a:ext cx="0" cy="249769"/>
            </a:xfrm>
            <a:prstGeom prst="line">
              <a:avLst/>
            </a:prstGeom>
            <a:ln w="23978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0" name="AutoShape 20"/>
            <p:cNvSpPr/>
            <p:nvPr/>
          </p:nvSpPr>
          <p:spPr>
            <a:xfrm flipV="1">
              <a:off x="926880" y="1890265"/>
              <a:ext cx="1584704" cy="0"/>
            </a:xfrm>
            <a:prstGeom prst="line">
              <a:avLst/>
            </a:prstGeom>
            <a:ln w="23978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1" name="AutoShape 21"/>
            <p:cNvSpPr/>
            <p:nvPr/>
          </p:nvSpPr>
          <p:spPr>
            <a:xfrm flipV="1">
              <a:off x="2505780" y="1884462"/>
              <a:ext cx="0" cy="249769"/>
            </a:xfrm>
            <a:prstGeom prst="line">
              <a:avLst/>
            </a:prstGeom>
            <a:ln w="23978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42020" y="1604544"/>
              <a:ext cx="551521" cy="386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1"/>
                </a:lnSpc>
                <a:spcBef>
                  <a:spcPct val="0"/>
                </a:spcBef>
              </a:pPr>
              <a:r>
                <a:rPr lang="en-US" sz="1736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***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90887" y="2043954"/>
              <a:ext cx="406006" cy="275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9"/>
                </a:lnSpc>
                <a:spcBef>
                  <a:spcPct val="0"/>
                </a:spcBef>
              </a:pPr>
              <a:r>
                <a:rPr lang="en-US" sz="1278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***</a:t>
              </a:r>
            </a:p>
          </p:txBody>
        </p:sp>
        <p:sp>
          <p:nvSpPr>
            <p:cNvPr id="24" name="AutoShape 24"/>
            <p:cNvSpPr/>
            <p:nvPr/>
          </p:nvSpPr>
          <p:spPr>
            <a:xfrm flipV="1">
              <a:off x="3481039" y="1890231"/>
              <a:ext cx="0" cy="249769"/>
            </a:xfrm>
            <a:prstGeom prst="line">
              <a:avLst/>
            </a:prstGeom>
            <a:ln w="23978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5" name="AutoShape 25"/>
            <p:cNvSpPr/>
            <p:nvPr/>
          </p:nvSpPr>
          <p:spPr>
            <a:xfrm flipV="1">
              <a:off x="3478138" y="1890265"/>
              <a:ext cx="1584704" cy="0"/>
            </a:xfrm>
            <a:prstGeom prst="line">
              <a:avLst/>
            </a:prstGeom>
            <a:ln w="23978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6" name="AutoShape 26"/>
            <p:cNvSpPr/>
            <p:nvPr/>
          </p:nvSpPr>
          <p:spPr>
            <a:xfrm flipV="1">
              <a:off x="5057038" y="1884462"/>
              <a:ext cx="0" cy="249769"/>
            </a:xfrm>
            <a:prstGeom prst="line">
              <a:avLst/>
            </a:prstGeom>
            <a:ln w="23978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93278" y="1604544"/>
              <a:ext cx="551521" cy="386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1"/>
                </a:lnSpc>
                <a:spcBef>
                  <a:spcPct val="0"/>
                </a:spcBef>
              </a:pPr>
              <a:r>
                <a:rPr lang="en-US" sz="1736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***</a:t>
              </a:r>
            </a:p>
          </p:txBody>
        </p:sp>
        <p:sp>
          <p:nvSpPr>
            <p:cNvPr id="28" name="AutoShape 28"/>
            <p:cNvSpPr/>
            <p:nvPr/>
          </p:nvSpPr>
          <p:spPr>
            <a:xfrm>
              <a:off x="1397751" y="2191393"/>
              <a:ext cx="860836" cy="253376"/>
            </a:xfrm>
            <a:prstGeom prst="line">
              <a:avLst/>
            </a:prstGeom>
            <a:ln w="23978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3791597" y="2194813"/>
              <a:ext cx="860836" cy="253376"/>
            </a:xfrm>
            <a:prstGeom prst="line">
              <a:avLst/>
            </a:prstGeom>
            <a:ln w="23978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0" name="AutoShape 30"/>
            <p:cNvSpPr/>
            <p:nvPr/>
          </p:nvSpPr>
          <p:spPr>
            <a:xfrm flipV="1">
              <a:off x="1614232" y="2253107"/>
              <a:ext cx="2362099" cy="0"/>
            </a:xfrm>
            <a:prstGeom prst="line">
              <a:avLst/>
            </a:prstGeom>
            <a:ln w="23978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3930" y="910946"/>
              <a:ext cx="904972" cy="4162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65"/>
                </a:lnSpc>
              </a:pPr>
              <a:r>
                <a:rPr lang="en-US" sz="903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* </a:t>
              </a:r>
              <a:r>
                <a:rPr lang="en-US" sz="903" b="1" i="1">
                  <a:solidFill>
                    <a:srgbClr val="FF3131"/>
                  </a:solidFill>
                  <a:latin typeface="Playfair Display Bold Italics"/>
                  <a:ea typeface="Playfair Display Bold Italics"/>
                  <a:cs typeface="Playfair Display Bold Italics"/>
                  <a:sym typeface="Playfair Display Bold Italics"/>
                </a:rPr>
                <a:t>p</a:t>
              </a:r>
              <a:r>
                <a:rPr lang="en-US" sz="903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 &lt; 0.05</a:t>
              </a:r>
            </a:p>
            <a:p>
              <a:pPr algn="l">
                <a:lnSpc>
                  <a:spcPts val="1265"/>
                </a:lnSpc>
                <a:spcBef>
                  <a:spcPct val="0"/>
                </a:spcBef>
              </a:pPr>
              <a:r>
                <a:rPr lang="en-US" sz="903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*** </a:t>
              </a:r>
              <a:r>
                <a:rPr lang="en-US" sz="903" b="1" i="1">
                  <a:solidFill>
                    <a:srgbClr val="FF3131"/>
                  </a:solidFill>
                  <a:latin typeface="Playfair Display Bold Italics"/>
                  <a:ea typeface="Playfair Display Bold Italics"/>
                  <a:cs typeface="Playfair Display Bold Italics"/>
                  <a:sym typeface="Playfair Display Bold Italics"/>
                </a:rPr>
                <a:t>p</a:t>
              </a:r>
              <a:r>
                <a:rPr lang="en-US" sz="903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 &lt; 0.001</a:t>
              </a:r>
            </a:p>
          </p:txBody>
        </p:sp>
        <p:sp>
          <p:nvSpPr>
            <p:cNvPr id="32" name="AutoShape 32"/>
            <p:cNvSpPr/>
            <p:nvPr/>
          </p:nvSpPr>
          <p:spPr>
            <a:xfrm>
              <a:off x="869939" y="6359231"/>
              <a:ext cx="716196" cy="0"/>
            </a:xfrm>
            <a:prstGeom prst="line">
              <a:avLst/>
            </a:prstGeom>
            <a:ln w="11989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3" name="AutoShape 33"/>
            <p:cNvSpPr/>
            <p:nvPr/>
          </p:nvSpPr>
          <p:spPr>
            <a:xfrm flipV="1">
              <a:off x="1582244" y="6359231"/>
              <a:ext cx="0" cy="272641"/>
            </a:xfrm>
            <a:prstGeom prst="line">
              <a:avLst/>
            </a:prstGeom>
            <a:ln w="11989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03409" y="6213772"/>
              <a:ext cx="249256" cy="2117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66"/>
                </a:lnSpc>
                <a:spcBef>
                  <a:spcPct val="0"/>
                </a:spcBef>
              </a:pPr>
              <a:r>
                <a:rPr lang="en-US" sz="976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***</a:t>
              </a:r>
            </a:p>
          </p:txBody>
        </p:sp>
        <p:sp>
          <p:nvSpPr>
            <p:cNvPr id="35" name="AutoShape 35"/>
            <p:cNvSpPr/>
            <p:nvPr/>
          </p:nvSpPr>
          <p:spPr>
            <a:xfrm flipV="1">
              <a:off x="869939" y="6351448"/>
              <a:ext cx="0" cy="272641"/>
            </a:xfrm>
            <a:prstGeom prst="line">
              <a:avLst/>
            </a:prstGeom>
            <a:ln w="11989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6" name="AutoShape 36"/>
            <p:cNvSpPr/>
            <p:nvPr/>
          </p:nvSpPr>
          <p:spPr>
            <a:xfrm>
              <a:off x="3913311" y="6284770"/>
              <a:ext cx="716196" cy="0"/>
            </a:xfrm>
            <a:prstGeom prst="line">
              <a:avLst/>
            </a:prstGeom>
            <a:ln w="11989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7" name="AutoShape 37"/>
            <p:cNvSpPr/>
            <p:nvPr/>
          </p:nvSpPr>
          <p:spPr>
            <a:xfrm flipV="1">
              <a:off x="4625616" y="6284770"/>
              <a:ext cx="0" cy="272641"/>
            </a:xfrm>
            <a:prstGeom prst="line">
              <a:avLst/>
            </a:prstGeom>
            <a:ln w="11989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146781" y="6139311"/>
              <a:ext cx="249256" cy="2117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66"/>
                </a:lnSpc>
                <a:spcBef>
                  <a:spcPct val="0"/>
                </a:spcBef>
              </a:pPr>
              <a:r>
                <a:rPr lang="en-US" sz="976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***</a:t>
              </a:r>
            </a:p>
          </p:txBody>
        </p:sp>
        <p:sp>
          <p:nvSpPr>
            <p:cNvPr id="39" name="AutoShape 39"/>
            <p:cNvSpPr/>
            <p:nvPr/>
          </p:nvSpPr>
          <p:spPr>
            <a:xfrm flipV="1">
              <a:off x="3913311" y="6276987"/>
              <a:ext cx="0" cy="272641"/>
            </a:xfrm>
            <a:prstGeom prst="line">
              <a:avLst/>
            </a:prstGeom>
            <a:ln w="11989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6380768" y="14818"/>
              <a:ext cx="5737816" cy="557891"/>
            </a:xfrm>
            <a:custGeom>
              <a:avLst/>
              <a:gdLst/>
              <a:ahLst/>
              <a:cxnLst/>
              <a:rect l="l" t="t" r="r" b="b"/>
              <a:pathLst>
                <a:path w="5737816" h="557891">
                  <a:moveTo>
                    <a:pt x="0" y="0"/>
                  </a:moveTo>
                  <a:lnTo>
                    <a:pt x="5737815" y="0"/>
                  </a:lnTo>
                  <a:lnTo>
                    <a:pt x="5737815" y="557891"/>
                  </a:lnTo>
                  <a:lnTo>
                    <a:pt x="0" y="557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037" r="-227183" b="-1362585"/>
              </a:stretch>
            </a:blipFill>
          </p:spPr>
          <p:txBody>
            <a:bodyPr/>
            <a:lstStyle/>
            <a:p>
              <a:endParaRPr lang="en-DE"/>
            </a:p>
          </p:txBody>
        </p:sp>
        <p:sp>
          <p:nvSpPr>
            <p:cNvPr id="41" name="AutoShape 41"/>
            <p:cNvSpPr/>
            <p:nvPr/>
          </p:nvSpPr>
          <p:spPr>
            <a:xfrm flipV="1">
              <a:off x="7130953" y="2000986"/>
              <a:ext cx="0" cy="249769"/>
            </a:xfrm>
            <a:prstGeom prst="line">
              <a:avLst/>
            </a:prstGeom>
            <a:ln w="23978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2" name="AutoShape 42"/>
            <p:cNvSpPr/>
            <p:nvPr/>
          </p:nvSpPr>
          <p:spPr>
            <a:xfrm>
              <a:off x="7128052" y="2001020"/>
              <a:ext cx="1584704" cy="0"/>
            </a:xfrm>
            <a:prstGeom prst="line">
              <a:avLst/>
            </a:prstGeom>
            <a:ln w="23978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3" name="AutoShape 43"/>
            <p:cNvSpPr/>
            <p:nvPr/>
          </p:nvSpPr>
          <p:spPr>
            <a:xfrm flipV="1">
              <a:off x="8706952" y="1995216"/>
              <a:ext cx="0" cy="249769"/>
            </a:xfrm>
            <a:prstGeom prst="line">
              <a:avLst/>
            </a:prstGeom>
            <a:ln w="23978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43192" y="1715299"/>
              <a:ext cx="551521" cy="386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1"/>
                </a:lnSpc>
                <a:spcBef>
                  <a:spcPct val="0"/>
                </a:spcBef>
              </a:pPr>
              <a:r>
                <a:rPr lang="en-US" sz="1736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***</a:t>
              </a:r>
            </a:p>
          </p:txBody>
        </p:sp>
        <p:sp>
          <p:nvSpPr>
            <p:cNvPr id="45" name="AutoShape 45"/>
            <p:cNvSpPr/>
            <p:nvPr/>
          </p:nvSpPr>
          <p:spPr>
            <a:xfrm flipV="1">
              <a:off x="9682212" y="2000986"/>
              <a:ext cx="0" cy="249769"/>
            </a:xfrm>
            <a:prstGeom prst="line">
              <a:avLst/>
            </a:prstGeom>
            <a:ln w="23978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6" name="AutoShape 46"/>
            <p:cNvSpPr/>
            <p:nvPr/>
          </p:nvSpPr>
          <p:spPr>
            <a:xfrm>
              <a:off x="9679310" y="2001020"/>
              <a:ext cx="1584704" cy="0"/>
            </a:xfrm>
            <a:prstGeom prst="line">
              <a:avLst/>
            </a:prstGeom>
            <a:ln w="23978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7" name="AutoShape 47"/>
            <p:cNvSpPr/>
            <p:nvPr/>
          </p:nvSpPr>
          <p:spPr>
            <a:xfrm flipV="1">
              <a:off x="11258210" y="1995216"/>
              <a:ext cx="0" cy="249769"/>
            </a:xfrm>
            <a:prstGeom prst="line">
              <a:avLst/>
            </a:prstGeom>
            <a:ln w="23978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194450" y="1715299"/>
              <a:ext cx="551521" cy="386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1"/>
                </a:lnSpc>
                <a:spcBef>
                  <a:spcPct val="0"/>
                </a:spcBef>
              </a:pPr>
              <a:r>
                <a:rPr lang="en-US" sz="1736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***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85102" y="1021700"/>
              <a:ext cx="904972" cy="4162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65"/>
                </a:lnSpc>
              </a:pPr>
              <a:r>
                <a:rPr lang="en-US" sz="903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* </a:t>
              </a:r>
              <a:r>
                <a:rPr lang="en-US" sz="903" b="1" i="1">
                  <a:solidFill>
                    <a:srgbClr val="FF3131"/>
                  </a:solidFill>
                  <a:latin typeface="Playfair Display Bold Italics"/>
                  <a:ea typeface="Playfair Display Bold Italics"/>
                  <a:cs typeface="Playfair Display Bold Italics"/>
                  <a:sym typeface="Playfair Display Bold Italics"/>
                </a:rPr>
                <a:t>p</a:t>
              </a:r>
              <a:r>
                <a:rPr lang="en-US" sz="903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 &lt; 0.05</a:t>
              </a:r>
            </a:p>
            <a:p>
              <a:pPr algn="l">
                <a:lnSpc>
                  <a:spcPts val="1265"/>
                </a:lnSpc>
                <a:spcBef>
                  <a:spcPct val="0"/>
                </a:spcBef>
              </a:pPr>
              <a:r>
                <a:rPr lang="en-US" sz="903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*** </a:t>
              </a:r>
              <a:r>
                <a:rPr lang="en-US" sz="903" b="1" i="1">
                  <a:solidFill>
                    <a:srgbClr val="FF3131"/>
                  </a:solidFill>
                  <a:latin typeface="Playfair Display Bold Italics"/>
                  <a:ea typeface="Playfair Display Bold Italics"/>
                  <a:cs typeface="Playfair Display Bold Italics"/>
                  <a:sym typeface="Playfair Display Bold Italics"/>
                </a:rPr>
                <a:t>p</a:t>
              </a:r>
              <a:r>
                <a:rPr lang="en-US" sz="903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 &lt; 0.001</a:t>
              </a:r>
            </a:p>
          </p:txBody>
        </p:sp>
        <p:sp>
          <p:nvSpPr>
            <p:cNvPr id="50" name="AutoShape 50"/>
            <p:cNvSpPr/>
            <p:nvPr/>
          </p:nvSpPr>
          <p:spPr>
            <a:xfrm>
              <a:off x="7049796" y="6085245"/>
              <a:ext cx="716196" cy="0"/>
            </a:xfrm>
            <a:prstGeom prst="line">
              <a:avLst/>
            </a:prstGeom>
            <a:ln w="11989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1" name="AutoShape 51"/>
            <p:cNvSpPr/>
            <p:nvPr/>
          </p:nvSpPr>
          <p:spPr>
            <a:xfrm flipV="1">
              <a:off x="7762100" y="6085245"/>
              <a:ext cx="0" cy="272641"/>
            </a:xfrm>
            <a:prstGeom prst="line">
              <a:avLst/>
            </a:prstGeom>
            <a:ln w="11989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83266" y="5939785"/>
              <a:ext cx="249256" cy="2117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66"/>
                </a:lnSpc>
                <a:spcBef>
                  <a:spcPct val="0"/>
                </a:spcBef>
              </a:pPr>
              <a:r>
                <a:rPr lang="en-US" sz="976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***</a:t>
              </a:r>
            </a:p>
          </p:txBody>
        </p:sp>
        <p:sp>
          <p:nvSpPr>
            <p:cNvPr id="53" name="AutoShape 53"/>
            <p:cNvSpPr/>
            <p:nvPr/>
          </p:nvSpPr>
          <p:spPr>
            <a:xfrm flipV="1">
              <a:off x="7049796" y="6077461"/>
              <a:ext cx="0" cy="272641"/>
            </a:xfrm>
            <a:prstGeom prst="line">
              <a:avLst/>
            </a:prstGeom>
            <a:ln w="11989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4" name="AutoShape 54"/>
            <p:cNvSpPr/>
            <p:nvPr/>
          </p:nvSpPr>
          <p:spPr>
            <a:xfrm>
              <a:off x="9995474" y="6053292"/>
              <a:ext cx="716196" cy="0"/>
            </a:xfrm>
            <a:prstGeom prst="line">
              <a:avLst/>
            </a:prstGeom>
            <a:ln w="11989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5" name="AutoShape 55"/>
            <p:cNvSpPr/>
            <p:nvPr/>
          </p:nvSpPr>
          <p:spPr>
            <a:xfrm flipV="1">
              <a:off x="10707778" y="6053292"/>
              <a:ext cx="0" cy="272641"/>
            </a:xfrm>
            <a:prstGeom prst="line">
              <a:avLst/>
            </a:prstGeom>
            <a:ln w="11989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228944" y="5907833"/>
              <a:ext cx="249256" cy="2117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66"/>
                </a:lnSpc>
                <a:spcBef>
                  <a:spcPct val="0"/>
                </a:spcBef>
              </a:pPr>
              <a:r>
                <a:rPr lang="en-US" sz="976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***</a:t>
              </a:r>
            </a:p>
          </p:txBody>
        </p:sp>
        <p:sp>
          <p:nvSpPr>
            <p:cNvPr id="57" name="AutoShape 57"/>
            <p:cNvSpPr/>
            <p:nvPr/>
          </p:nvSpPr>
          <p:spPr>
            <a:xfrm flipV="1">
              <a:off x="9995474" y="6045509"/>
              <a:ext cx="0" cy="272641"/>
            </a:xfrm>
            <a:prstGeom prst="line">
              <a:avLst/>
            </a:prstGeom>
            <a:ln w="11989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1847317" y="3320357"/>
            <a:ext cx="5524500" cy="155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9"/>
              </a:lnSpc>
            </a:pPr>
            <a:r>
              <a:rPr lang="en-US" sz="2949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Main Effect of Condition </a:t>
            </a:r>
          </a:p>
          <a:p>
            <a:pPr algn="l">
              <a:lnSpc>
                <a:spcPts val="4129"/>
              </a:lnSpc>
              <a:spcBef>
                <a:spcPct val="0"/>
              </a:spcBef>
            </a:pPr>
            <a:r>
              <a:rPr lang="en-US" sz="2949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driven by participants who started with </a:t>
            </a:r>
            <a:r>
              <a:rPr lang="en-US" sz="2949" b="1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 control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1847317" y="6383020"/>
            <a:ext cx="5524500" cy="2601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8"/>
              </a:lnSpc>
              <a:spcBef>
                <a:spcPct val="0"/>
              </a:spcBef>
            </a:pPr>
            <a:r>
              <a:rPr lang="en-US" sz="2949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The </a:t>
            </a:r>
            <a:r>
              <a:rPr lang="en-US" sz="2949" b="1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controlled item advantage</a:t>
            </a:r>
            <a:r>
              <a:rPr lang="en-US" sz="2949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, and the </a:t>
            </a:r>
            <a:r>
              <a:rPr lang="en-US" sz="2949" b="1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benefit of correctly detecting control</a:t>
            </a:r>
            <a:r>
              <a:rPr lang="en-US" sz="2949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 remains </a:t>
            </a:r>
            <a:r>
              <a:rPr lang="en-US" sz="2949" b="1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robust to order effects.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72417" y="2059305"/>
            <a:ext cx="16614874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Binomial GLMM on all old items: said_old ~ control_condition * item_type * starts_with + (1 | participant)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4017265" y="2524125"/>
            <a:ext cx="4814975" cy="734310"/>
            <a:chOff x="0" y="0"/>
            <a:chExt cx="6419967" cy="979080"/>
          </a:xfrm>
        </p:grpSpPr>
        <p:sp>
          <p:nvSpPr>
            <p:cNvPr id="62" name="AutoShape 62"/>
            <p:cNvSpPr/>
            <p:nvPr/>
          </p:nvSpPr>
          <p:spPr>
            <a:xfrm>
              <a:off x="947" y="466072"/>
              <a:ext cx="6419020" cy="0"/>
            </a:xfrm>
            <a:prstGeom prst="line">
              <a:avLst/>
            </a:prstGeom>
            <a:ln w="25400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3" name="AutoShape 63"/>
            <p:cNvSpPr/>
            <p:nvPr/>
          </p:nvSpPr>
          <p:spPr>
            <a:xfrm flipV="1">
              <a:off x="12700" y="466003"/>
              <a:ext cx="0" cy="513076"/>
            </a:xfrm>
            <a:prstGeom prst="line">
              <a:avLst/>
            </a:prstGeom>
            <a:ln w="25400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4" name="AutoShape 64"/>
            <p:cNvSpPr/>
            <p:nvPr/>
          </p:nvSpPr>
          <p:spPr>
            <a:xfrm flipV="1">
              <a:off x="6396460" y="454151"/>
              <a:ext cx="0" cy="513076"/>
            </a:xfrm>
            <a:prstGeom prst="line">
              <a:avLst/>
            </a:prstGeom>
            <a:ln w="25400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955739" y="-66675"/>
              <a:ext cx="573102" cy="783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93"/>
                </a:lnSpc>
                <a:spcBef>
                  <a:spcPct val="0"/>
                </a:spcBef>
              </a:pPr>
              <a:r>
                <a:rPr lang="en-US" sz="3567" b="1">
                  <a:solidFill>
                    <a:srgbClr val="FF313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*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72417" y="1038225"/>
            <a:ext cx="9627175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3" name="AutoShape 3"/>
          <p:cNvSpPr/>
          <p:nvPr/>
        </p:nvSpPr>
        <p:spPr>
          <a:xfrm flipH="1" flipV="1">
            <a:off x="990600" y="-142991"/>
            <a:ext cx="38100" cy="9926717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4" name="AutoShape 4"/>
          <p:cNvSpPr/>
          <p:nvPr/>
        </p:nvSpPr>
        <p:spPr>
          <a:xfrm>
            <a:off x="0" y="9774201"/>
            <a:ext cx="18288000" cy="9525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Box 5"/>
          <p:cNvSpPr txBox="1"/>
          <p:nvPr/>
        </p:nvSpPr>
        <p:spPr>
          <a:xfrm>
            <a:off x="1372417" y="200025"/>
            <a:ext cx="11720929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5499" b="1" spc="-38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Results - Neurophysiological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970399" y="981774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24242"/>
                </a:solidFill>
                <a:latin typeface="Arimo"/>
                <a:ea typeface="Arimo"/>
                <a:cs typeface="Arimo"/>
                <a:sym typeface="Arimo"/>
              </a:rPr>
              <a:t>12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5776" y="9869762"/>
            <a:ext cx="5829445" cy="26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7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Elif Gezen | elif.gezen@psy.lmu.de |TUM-IAS SoA Workshop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1600" y="1266825"/>
            <a:ext cx="11162705" cy="563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b="1" i="1">
                <a:solidFill>
                  <a:srgbClr val="424242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Time-Frequency Analyses </a:t>
            </a:r>
            <a:r>
              <a:rPr lang="en-US" sz="3300" i="1">
                <a:solidFill>
                  <a:srgbClr val="424242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(cluster based permutation tests)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1600" y="1838325"/>
            <a:ext cx="3988296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spc="-231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Main Effect of Condition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1371600" y="3190875"/>
            <a:ext cx="4191000" cy="2514600"/>
          </a:xfrm>
          <a:custGeom>
            <a:avLst/>
            <a:gdLst/>
            <a:ahLst/>
            <a:cxnLst/>
            <a:rect l="l" t="t" r="r" b="b"/>
            <a:pathLst>
              <a:path w="4191000" h="2514600">
                <a:moveTo>
                  <a:pt x="0" y="0"/>
                </a:moveTo>
                <a:lnTo>
                  <a:pt x="4191000" y="0"/>
                </a:lnTo>
                <a:lnTo>
                  <a:pt x="41910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  <p:sp>
        <p:nvSpPr>
          <p:cNvPr id="11" name="Freeform 11"/>
          <p:cNvSpPr/>
          <p:nvPr/>
        </p:nvSpPr>
        <p:spPr>
          <a:xfrm>
            <a:off x="5276850" y="3190875"/>
            <a:ext cx="4191000" cy="2514600"/>
          </a:xfrm>
          <a:custGeom>
            <a:avLst/>
            <a:gdLst/>
            <a:ahLst/>
            <a:cxnLst/>
            <a:rect l="l" t="t" r="r" b="b"/>
            <a:pathLst>
              <a:path w="4191000" h="2514600">
                <a:moveTo>
                  <a:pt x="0" y="0"/>
                </a:moveTo>
                <a:lnTo>
                  <a:pt x="4191000" y="0"/>
                </a:lnTo>
                <a:lnTo>
                  <a:pt x="41910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  <p:sp>
        <p:nvSpPr>
          <p:cNvPr id="12" name="Freeform 12"/>
          <p:cNvSpPr/>
          <p:nvPr/>
        </p:nvSpPr>
        <p:spPr>
          <a:xfrm>
            <a:off x="3086100" y="5715000"/>
            <a:ext cx="4657725" cy="2794635"/>
          </a:xfrm>
          <a:custGeom>
            <a:avLst/>
            <a:gdLst/>
            <a:ahLst/>
            <a:cxnLst/>
            <a:rect l="l" t="t" r="r" b="b"/>
            <a:pathLst>
              <a:path w="4657725" h="2794635">
                <a:moveTo>
                  <a:pt x="0" y="0"/>
                </a:moveTo>
                <a:lnTo>
                  <a:pt x="4657725" y="0"/>
                </a:lnTo>
                <a:lnTo>
                  <a:pt x="4657725" y="2794635"/>
                </a:lnTo>
                <a:lnTo>
                  <a:pt x="0" y="27946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  <p:sp>
        <p:nvSpPr>
          <p:cNvPr id="13" name="TextBox 13"/>
          <p:cNvSpPr txBox="1"/>
          <p:nvPr/>
        </p:nvSpPr>
        <p:spPr>
          <a:xfrm>
            <a:off x="1371600" y="8963025"/>
            <a:ext cx="6913215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High-start cluster: 0.46–1.54 s, 34–59 Hz, </a:t>
            </a:r>
            <a:r>
              <a:rPr lang="en-US" sz="2400" i="1" u="none" strike="noStrike">
                <a:solidFill>
                  <a:srgbClr val="424242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</a:t>
            </a:r>
            <a:r>
              <a:rPr lang="en-US" sz="2400" u="none" strike="noStrik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 = .028</a:t>
            </a:r>
          </a:p>
        </p:txBody>
      </p:sp>
      <p:sp>
        <p:nvSpPr>
          <p:cNvPr id="14" name="Freeform 14"/>
          <p:cNvSpPr/>
          <p:nvPr/>
        </p:nvSpPr>
        <p:spPr>
          <a:xfrm>
            <a:off x="9810750" y="3190875"/>
            <a:ext cx="4191000" cy="2514600"/>
          </a:xfrm>
          <a:custGeom>
            <a:avLst/>
            <a:gdLst/>
            <a:ahLst/>
            <a:cxnLst/>
            <a:rect l="l" t="t" r="r" b="b"/>
            <a:pathLst>
              <a:path w="4191000" h="2514600">
                <a:moveTo>
                  <a:pt x="0" y="0"/>
                </a:moveTo>
                <a:lnTo>
                  <a:pt x="4191000" y="0"/>
                </a:lnTo>
                <a:lnTo>
                  <a:pt x="41910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  <p:sp>
        <p:nvSpPr>
          <p:cNvPr id="15" name="Freeform 15"/>
          <p:cNvSpPr/>
          <p:nvPr/>
        </p:nvSpPr>
        <p:spPr>
          <a:xfrm>
            <a:off x="13716000" y="3190875"/>
            <a:ext cx="4191000" cy="2514600"/>
          </a:xfrm>
          <a:custGeom>
            <a:avLst/>
            <a:gdLst/>
            <a:ahLst/>
            <a:cxnLst/>
            <a:rect l="l" t="t" r="r" b="b"/>
            <a:pathLst>
              <a:path w="4191000" h="2514600">
                <a:moveTo>
                  <a:pt x="0" y="0"/>
                </a:moveTo>
                <a:lnTo>
                  <a:pt x="4191000" y="0"/>
                </a:lnTo>
                <a:lnTo>
                  <a:pt x="41910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  <p:sp>
        <p:nvSpPr>
          <p:cNvPr id="16" name="Freeform 16"/>
          <p:cNvSpPr/>
          <p:nvPr/>
        </p:nvSpPr>
        <p:spPr>
          <a:xfrm>
            <a:off x="11525250" y="5715000"/>
            <a:ext cx="4657725" cy="2794635"/>
          </a:xfrm>
          <a:custGeom>
            <a:avLst/>
            <a:gdLst/>
            <a:ahLst/>
            <a:cxnLst/>
            <a:rect l="l" t="t" r="r" b="b"/>
            <a:pathLst>
              <a:path w="4657725" h="2794635">
                <a:moveTo>
                  <a:pt x="0" y="0"/>
                </a:moveTo>
                <a:lnTo>
                  <a:pt x="4657725" y="0"/>
                </a:lnTo>
                <a:lnTo>
                  <a:pt x="4657725" y="2794635"/>
                </a:lnTo>
                <a:lnTo>
                  <a:pt x="0" y="27946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  <p:sp>
        <p:nvSpPr>
          <p:cNvPr id="17" name="TextBox 17"/>
          <p:cNvSpPr txBox="1"/>
          <p:nvPr/>
        </p:nvSpPr>
        <p:spPr>
          <a:xfrm>
            <a:off x="4171950" y="2743200"/>
            <a:ext cx="2491829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168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High-Start Subgroup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639675" y="2743200"/>
            <a:ext cx="243765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168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Low-Start Subgroup</a:t>
            </a:r>
          </a:p>
        </p:txBody>
      </p:sp>
      <p:sp>
        <p:nvSpPr>
          <p:cNvPr id="19" name="Freeform 19"/>
          <p:cNvSpPr/>
          <p:nvPr/>
        </p:nvSpPr>
        <p:spPr>
          <a:xfrm>
            <a:off x="7820025" y="6315075"/>
            <a:ext cx="2645351" cy="1587211"/>
          </a:xfrm>
          <a:custGeom>
            <a:avLst/>
            <a:gdLst/>
            <a:ahLst/>
            <a:cxnLst/>
            <a:rect l="l" t="t" r="r" b="b"/>
            <a:pathLst>
              <a:path w="2645351" h="1587211">
                <a:moveTo>
                  <a:pt x="0" y="0"/>
                </a:moveTo>
                <a:lnTo>
                  <a:pt x="2645351" y="0"/>
                </a:lnTo>
                <a:lnTo>
                  <a:pt x="2645351" y="1587211"/>
                </a:lnTo>
                <a:lnTo>
                  <a:pt x="0" y="1587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 w="28575" cap="sq">
            <a:solidFill>
              <a:srgbClr val="000000"/>
            </a:solidFill>
            <a:prstDash val="dash"/>
            <a:miter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72417" y="1038225"/>
            <a:ext cx="9627175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3" name="AutoShape 3"/>
          <p:cNvSpPr/>
          <p:nvPr/>
        </p:nvSpPr>
        <p:spPr>
          <a:xfrm flipH="1" flipV="1">
            <a:off x="990600" y="-142991"/>
            <a:ext cx="38100" cy="9926717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4" name="AutoShape 4"/>
          <p:cNvSpPr/>
          <p:nvPr/>
        </p:nvSpPr>
        <p:spPr>
          <a:xfrm>
            <a:off x="0" y="9774201"/>
            <a:ext cx="18288000" cy="9525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Box 5"/>
          <p:cNvSpPr txBox="1"/>
          <p:nvPr/>
        </p:nvSpPr>
        <p:spPr>
          <a:xfrm>
            <a:off x="1372417" y="200025"/>
            <a:ext cx="11720929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5499" b="1" spc="-38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Results - Summary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970399" y="981774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24242"/>
                </a:solidFill>
                <a:latin typeface="Arimo"/>
                <a:ea typeface="Arimo"/>
                <a:cs typeface="Arimo"/>
                <a:sym typeface="Arimo"/>
              </a:rPr>
              <a:t>13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5776" y="9869762"/>
            <a:ext cx="5829445" cy="26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7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Elif Gezen | elif.gezen@psy.lmu.de |TUM-IAS SoA Workshop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8972" y="1669873"/>
            <a:ext cx="16597982" cy="4939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 spc="-123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Low control </a:t>
            </a:r>
            <a:r>
              <a:rPr lang="en-US" sz="2799" spc="-123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compared to high control over item movement </a:t>
            </a:r>
            <a:r>
              <a:rPr lang="en-US" sz="2799" b="1" spc="-123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enhances subsequent recognition</a:t>
            </a:r>
            <a:r>
              <a:rPr lang="en-US" sz="2799" spc="-123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 performance.</a:t>
            </a:r>
          </a:p>
          <a:p>
            <a:pPr marL="1209039" lvl="2" indent="-403013" algn="l">
              <a:lnSpc>
                <a:spcPts val="3919"/>
              </a:lnSpc>
              <a:buFont typeface="Arial"/>
              <a:buChar char="⚬"/>
            </a:pPr>
            <a:r>
              <a:rPr lang="en-US" sz="2799" spc="-123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This effect is related to </a:t>
            </a:r>
            <a:r>
              <a:rPr lang="en-US" sz="2799" b="1" spc="-123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starting order</a:t>
            </a:r>
            <a:r>
              <a:rPr lang="en-US" sz="2799" spc="-123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 (driven by participants who started with high control)</a:t>
            </a:r>
          </a:p>
          <a:p>
            <a:pPr marL="1209039" lvl="2" indent="-403013" algn="l">
              <a:lnSpc>
                <a:spcPts val="3919"/>
              </a:lnSpc>
              <a:buFont typeface="Arial"/>
              <a:buChar char="⚬"/>
            </a:pPr>
            <a:r>
              <a:rPr lang="en-US" sz="2799" spc="-123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It is accompanied by parieto-occipital gamma oscillations within 2 seconds from movement onset.</a:t>
            </a:r>
          </a:p>
          <a:p>
            <a:pPr algn="l">
              <a:lnSpc>
                <a:spcPts val="3919"/>
              </a:lnSpc>
            </a:pPr>
            <a:endParaRPr lang="en-US" sz="2799" spc="-123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 spc="-123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Participants’ subjective agency ratings do not predict subsequent recognition performance. </a:t>
            </a:r>
          </a:p>
          <a:p>
            <a:pPr algn="l">
              <a:lnSpc>
                <a:spcPts val="3919"/>
              </a:lnSpc>
            </a:pPr>
            <a:endParaRPr lang="en-US" sz="2799" b="1" spc="-123">
              <a:solidFill>
                <a:srgbClr val="424242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919"/>
              </a:lnSpc>
            </a:pPr>
            <a:endParaRPr lang="en-US" sz="2799" b="1" spc="-123">
              <a:solidFill>
                <a:srgbClr val="424242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919"/>
              </a:lnSpc>
            </a:pPr>
            <a:endParaRPr lang="en-US" sz="2799" b="1" spc="-123">
              <a:solidFill>
                <a:srgbClr val="424242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919"/>
              </a:lnSpc>
            </a:pPr>
            <a:endParaRPr lang="en-US" sz="2799" b="1" spc="-123">
              <a:solidFill>
                <a:srgbClr val="424242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88972" y="4835171"/>
            <a:ext cx="16597982" cy="4939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endParaRPr/>
          </a:p>
          <a:p>
            <a:pPr algn="l">
              <a:lnSpc>
                <a:spcPts val="3919"/>
              </a:lnSpc>
            </a:pPr>
            <a:endParaRPr/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 spc="-123">
                <a:solidFill>
                  <a:srgbClr val="424242">
                    <a:alpha val="31765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Controlled items are remembered better than uncontrolled ones in all conditions.</a:t>
            </a:r>
          </a:p>
          <a:p>
            <a:pPr algn="l">
              <a:lnSpc>
                <a:spcPts val="3919"/>
              </a:lnSpc>
            </a:pPr>
            <a:endParaRPr lang="en-US" sz="2799" b="1" spc="-123">
              <a:solidFill>
                <a:srgbClr val="424242">
                  <a:alpha val="31765"/>
                </a:srgbClr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 spc="-123">
                <a:solidFill>
                  <a:srgbClr val="424242">
                    <a:alpha val="31765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Consciously detecting control enhances subsequent recognition performance</a:t>
            </a:r>
            <a:r>
              <a:rPr lang="en-US" sz="2799" spc="-123">
                <a:solidFill>
                  <a:srgbClr val="424242">
                    <a:alpha val="31765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regardless of control condition.</a:t>
            </a:r>
          </a:p>
          <a:p>
            <a:pPr marL="1209039" lvl="2" indent="-403013" algn="l">
              <a:lnSpc>
                <a:spcPts val="3919"/>
              </a:lnSpc>
              <a:buFont typeface="Arial"/>
              <a:buChar char="⚬"/>
            </a:pPr>
            <a:r>
              <a:rPr lang="en-US" sz="2799" spc="-123">
                <a:solidFill>
                  <a:srgbClr val="424242">
                    <a:alpha val="31765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This effect is</a:t>
            </a:r>
            <a:r>
              <a:rPr lang="en-US" sz="2799" b="1" spc="-123">
                <a:solidFill>
                  <a:srgbClr val="424242">
                    <a:alpha val="31765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robust to order effects</a:t>
            </a:r>
            <a:r>
              <a:rPr lang="en-US" sz="2799" spc="-123">
                <a:solidFill>
                  <a:srgbClr val="424242">
                    <a:alpha val="31765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3919"/>
              </a:lnSpc>
            </a:pPr>
            <a:endParaRPr lang="en-US" sz="2799" spc="-123">
              <a:solidFill>
                <a:srgbClr val="424242">
                  <a:alpha val="31765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919"/>
              </a:lnSpc>
            </a:pPr>
            <a:endParaRPr lang="en-US" sz="2799" spc="-123">
              <a:solidFill>
                <a:srgbClr val="424242">
                  <a:alpha val="31765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919"/>
              </a:lnSpc>
            </a:pPr>
            <a:endParaRPr lang="en-US" sz="2799" spc="-123">
              <a:solidFill>
                <a:srgbClr val="424242">
                  <a:alpha val="31765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72417" y="1038225"/>
            <a:ext cx="9627175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3" name="AutoShape 3"/>
          <p:cNvSpPr/>
          <p:nvPr/>
        </p:nvSpPr>
        <p:spPr>
          <a:xfrm flipH="1" flipV="1">
            <a:off x="990600" y="-142991"/>
            <a:ext cx="38100" cy="9926717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4" name="AutoShape 4"/>
          <p:cNvSpPr/>
          <p:nvPr/>
        </p:nvSpPr>
        <p:spPr>
          <a:xfrm>
            <a:off x="0" y="9774201"/>
            <a:ext cx="18288000" cy="9525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Box 5"/>
          <p:cNvSpPr txBox="1"/>
          <p:nvPr/>
        </p:nvSpPr>
        <p:spPr>
          <a:xfrm>
            <a:off x="1372417" y="200025"/>
            <a:ext cx="11720929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5499" b="1" spc="-38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Discussion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970399" y="981774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24242"/>
                </a:solidFill>
                <a:latin typeface="Arimo"/>
                <a:ea typeface="Arimo"/>
                <a:cs typeface="Arimo"/>
                <a:sym typeface="Arimo"/>
              </a:rPr>
              <a:t>14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5776" y="9869762"/>
            <a:ext cx="5829445" cy="26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7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Elif Gezen | elif.gezen@psy.lmu.de |TUM-IAS SoA Workshop 2026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887844" y="7497778"/>
            <a:ext cx="12369107" cy="1587167"/>
            <a:chOff x="0" y="0"/>
            <a:chExt cx="16492142" cy="2116222"/>
          </a:xfrm>
        </p:grpSpPr>
        <p:sp>
          <p:nvSpPr>
            <p:cNvPr id="9" name="TextBox 9"/>
            <p:cNvSpPr txBox="1"/>
            <p:nvPr/>
          </p:nvSpPr>
          <p:spPr>
            <a:xfrm>
              <a:off x="13296149" y="1853174"/>
              <a:ext cx="3195994" cy="2630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1"/>
                </a:lnSpc>
              </a:pPr>
              <a:r>
                <a:rPr lang="en-US" sz="1207" spc="-53">
                  <a:solidFill>
                    <a:srgbClr val="424242"/>
                  </a:solidFill>
                  <a:latin typeface="Open Sans"/>
                  <a:ea typeface="Open Sans"/>
                  <a:cs typeface="Open Sans"/>
                  <a:sym typeface="Open Sans"/>
                </a:rPr>
                <a:t>adapted from Wen &amp; Haggard, 2018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0" y="0"/>
              <a:ext cx="3550385" cy="1775192"/>
              <a:chOff x="0" y="0"/>
              <a:chExt cx="812800" cy="4064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406400"/>
                    </a:lnTo>
                    <a:lnTo>
                      <a:pt x="0" y="406400"/>
                    </a:lnTo>
                    <a:close/>
                  </a:path>
                </a:pathLst>
              </a:custGeom>
              <a:solidFill>
                <a:srgbClr val="FF5757"/>
              </a:solidFill>
            </p:spPr>
            <p:txBody>
              <a:bodyPr/>
              <a:lstStyle/>
              <a:p>
                <a:endParaRPr lang="en-DE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812800" cy="444500"/>
              </a:xfrm>
              <a:prstGeom prst="rect">
                <a:avLst/>
              </a:prstGeom>
            </p:spPr>
            <p:txBody>
              <a:bodyPr lIns="43832" tIns="43832" rIns="43832" bIns="43832" rtlCol="0" anchor="ctr"/>
              <a:lstStyle/>
              <a:p>
                <a:pPr algn="ctr">
                  <a:lnSpc>
                    <a:spcPts val="3359"/>
                  </a:lnSpc>
                </a:pPr>
                <a:r>
                  <a:rPr lang="en-US" sz="2399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reduction of control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4313919" y="0"/>
              <a:ext cx="3550385" cy="1775192"/>
              <a:chOff x="0" y="0"/>
              <a:chExt cx="812800" cy="4064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406400"/>
                    </a:lnTo>
                    <a:lnTo>
                      <a:pt x="0" y="406400"/>
                    </a:lnTo>
                    <a:close/>
                  </a:path>
                </a:pathLst>
              </a:custGeom>
              <a:solidFill>
                <a:srgbClr val="FF5757"/>
              </a:solidFill>
            </p:spPr>
            <p:txBody>
              <a:bodyPr/>
              <a:lstStyle/>
              <a:p>
                <a:endParaRPr lang="en-DE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812800" cy="444500"/>
              </a:xfrm>
              <a:prstGeom prst="rect">
                <a:avLst/>
              </a:prstGeom>
            </p:spPr>
            <p:txBody>
              <a:bodyPr lIns="43832" tIns="43832" rIns="43832" bIns="43832" rtlCol="0" anchor="ctr"/>
              <a:lstStyle/>
              <a:p>
                <a:pPr algn="ctr">
                  <a:lnSpc>
                    <a:spcPts val="3359"/>
                  </a:lnSpc>
                </a:pPr>
                <a:r>
                  <a:rPr lang="en-US" sz="2399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prediction error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627839" y="0"/>
              <a:ext cx="3550385" cy="1775192"/>
              <a:chOff x="0" y="0"/>
              <a:chExt cx="812800" cy="4064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406400"/>
                    </a:lnTo>
                    <a:lnTo>
                      <a:pt x="0" y="406400"/>
                    </a:lnTo>
                    <a:close/>
                  </a:path>
                </a:pathLst>
              </a:custGeom>
              <a:solidFill>
                <a:srgbClr val="FF5757"/>
              </a:solidFill>
            </p:spPr>
            <p:txBody>
              <a:bodyPr/>
              <a:lstStyle/>
              <a:p>
                <a:endParaRPr lang="en-DE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812800" cy="444500"/>
              </a:xfrm>
              <a:prstGeom prst="rect">
                <a:avLst/>
              </a:prstGeom>
            </p:spPr>
            <p:txBody>
              <a:bodyPr lIns="43832" tIns="43832" rIns="43832" bIns="43832" rtlCol="0" anchor="ctr"/>
              <a:lstStyle/>
              <a:p>
                <a:pPr algn="ctr">
                  <a:lnSpc>
                    <a:spcPts val="3359"/>
                  </a:lnSpc>
                </a:pPr>
                <a:r>
                  <a:rPr lang="en-US" sz="2399" dirty="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relative boost in saliency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2941758" y="0"/>
              <a:ext cx="3550385" cy="1775192"/>
              <a:chOff x="0" y="0"/>
              <a:chExt cx="812800" cy="4064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406400"/>
                    </a:lnTo>
                    <a:lnTo>
                      <a:pt x="0" y="406400"/>
                    </a:lnTo>
                    <a:close/>
                  </a:path>
                </a:pathLst>
              </a:custGeom>
              <a:solidFill>
                <a:srgbClr val="FF5757"/>
              </a:solidFill>
            </p:spPr>
            <p:txBody>
              <a:bodyPr/>
              <a:lstStyle/>
              <a:p>
                <a:endParaRPr lang="en-DE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812800" cy="444500"/>
              </a:xfrm>
              <a:prstGeom prst="rect">
                <a:avLst/>
              </a:prstGeom>
            </p:spPr>
            <p:txBody>
              <a:bodyPr lIns="43832" tIns="43832" rIns="43832" bIns="43832" rtlCol="0" anchor="ctr"/>
              <a:lstStyle/>
              <a:p>
                <a:pPr algn="ctr">
                  <a:lnSpc>
                    <a:spcPts val="3359"/>
                  </a:lnSpc>
                </a:pPr>
                <a:r>
                  <a:rPr lang="en-US" sz="2399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attraction of attention</a:t>
                </a:r>
              </a:p>
            </p:txBody>
          </p:sp>
        </p:grpSp>
        <p:sp>
          <p:nvSpPr>
            <p:cNvPr id="22" name="AutoShape 22"/>
            <p:cNvSpPr/>
            <p:nvPr/>
          </p:nvSpPr>
          <p:spPr>
            <a:xfrm>
              <a:off x="3550385" y="887596"/>
              <a:ext cx="763535" cy="0"/>
            </a:xfrm>
            <a:prstGeom prst="line">
              <a:avLst/>
            </a:prstGeom>
            <a:ln w="38100" cap="flat">
              <a:solidFill>
                <a:srgbClr val="424242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3" name="AutoShape 23"/>
            <p:cNvSpPr/>
            <p:nvPr/>
          </p:nvSpPr>
          <p:spPr>
            <a:xfrm flipV="1">
              <a:off x="7864304" y="909512"/>
              <a:ext cx="763535" cy="0"/>
            </a:xfrm>
            <a:prstGeom prst="line">
              <a:avLst/>
            </a:prstGeom>
            <a:ln w="38100" cap="flat">
              <a:solidFill>
                <a:srgbClr val="424242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4" name="AutoShape 24"/>
            <p:cNvSpPr/>
            <p:nvPr/>
          </p:nvSpPr>
          <p:spPr>
            <a:xfrm flipV="1">
              <a:off x="12178223" y="909512"/>
              <a:ext cx="763535" cy="0"/>
            </a:xfrm>
            <a:prstGeom prst="line">
              <a:avLst/>
            </a:prstGeom>
            <a:ln w="38100" cap="flat">
              <a:solidFill>
                <a:srgbClr val="424242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DE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4256951" y="7310503"/>
            <a:ext cx="3165351" cy="1714500"/>
            <a:chOff x="0" y="0"/>
            <a:chExt cx="4220469" cy="2286000"/>
          </a:xfrm>
        </p:grpSpPr>
        <p:grpSp>
          <p:nvGrpSpPr>
            <p:cNvPr id="26" name="Group 26"/>
            <p:cNvGrpSpPr/>
            <p:nvPr/>
          </p:nvGrpSpPr>
          <p:grpSpPr>
            <a:xfrm>
              <a:off x="701217" y="249700"/>
              <a:ext cx="3260610" cy="1775192"/>
              <a:chOff x="0" y="0"/>
              <a:chExt cx="746461" cy="4064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7464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746461" h="406400">
                    <a:moveTo>
                      <a:pt x="0" y="0"/>
                    </a:moveTo>
                    <a:lnTo>
                      <a:pt x="746461" y="0"/>
                    </a:lnTo>
                    <a:lnTo>
                      <a:pt x="746461" y="406400"/>
                    </a:lnTo>
                    <a:lnTo>
                      <a:pt x="0" y="406400"/>
                    </a:lnTo>
                    <a:close/>
                  </a:path>
                </a:pathLst>
              </a:custGeom>
              <a:solidFill>
                <a:srgbClr val="FF5757"/>
              </a:solidFill>
            </p:spPr>
            <p:txBody>
              <a:bodyPr/>
              <a:lstStyle/>
              <a:p>
                <a:endParaRPr lang="en-DE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746461" cy="444500"/>
              </a:xfrm>
              <a:prstGeom prst="rect">
                <a:avLst/>
              </a:prstGeom>
            </p:spPr>
            <p:txBody>
              <a:bodyPr lIns="43832" tIns="43832" rIns="43832" bIns="43832" rtlCol="0" anchor="ctr"/>
              <a:lstStyle/>
              <a:p>
                <a:pPr algn="ctr">
                  <a:lnSpc>
                    <a:spcPts val="3359"/>
                  </a:lnSpc>
                </a:pPr>
                <a:r>
                  <a:rPr lang="en-US" sz="2399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enhanced encoding?</a:t>
                </a:r>
              </a:p>
            </p:txBody>
          </p:sp>
        </p:grpSp>
        <p:sp>
          <p:nvSpPr>
            <p:cNvPr id="29" name="AutoShape 29"/>
            <p:cNvSpPr/>
            <p:nvPr/>
          </p:nvSpPr>
          <p:spPr>
            <a:xfrm flipV="1">
              <a:off x="0" y="1159213"/>
              <a:ext cx="701217" cy="0"/>
            </a:xfrm>
            <a:prstGeom prst="line">
              <a:avLst/>
            </a:prstGeom>
            <a:ln w="38100" cap="flat">
              <a:solidFill>
                <a:srgbClr val="424242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448569" y="0"/>
              <a:ext cx="3771900" cy="2286000"/>
            </a:xfrm>
            <a:custGeom>
              <a:avLst/>
              <a:gdLst/>
              <a:ahLst/>
              <a:cxnLst/>
              <a:rect l="l" t="t" r="r" b="b"/>
              <a:pathLst>
                <a:path w="3771900" h="2286000">
                  <a:moveTo>
                    <a:pt x="0" y="0"/>
                  </a:moveTo>
                  <a:lnTo>
                    <a:pt x="3771900" y="0"/>
                  </a:lnTo>
                  <a:lnTo>
                    <a:pt x="37719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301" t="-270214" r="-155462" b="-63345"/>
              </a:stretch>
            </a:blipFill>
            <a:ln w="38100" cap="sq">
              <a:solidFill>
                <a:srgbClr val="4ABB80"/>
              </a:solidFill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339749" y="1256413"/>
            <a:ext cx="16630650" cy="141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 b="1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Categorical perception of control rather than graded  </a:t>
            </a:r>
          </a:p>
          <a:p>
            <a:pPr marL="1165860" lvl="2" indent="-388620" algn="l">
              <a:lnSpc>
                <a:spcPts val="3779"/>
              </a:lnSpc>
              <a:buFont typeface="Arial"/>
              <a:buChar char="⚬"/>
            </a:pPr>
            <a:r>
              <a:rPr lang="en-US" sz="2700" b="1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Control differences are perceived within 2 s of movement onset</a:t>
            </a:r>
            <a:r>
              <a:rPr lang="en-US" sz="270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 (Wen et al., 2020)</a:t>
            </a:r>
          </a:p>
          <a:p>
            <a:pPr algn="l">
              <a:lnSpc>
                <a:spcPts val="3779"/>
              </a:lnSpc>
            </a:pPr>
            <a:endParaRPr lang="en-US" sz="2700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1887844" y="2826133"/>
            <a:ext cx="6600472" cy="3960283"/>
          </a:xfrm>
          <a:custGeom>
            <a:avLst/>
            <a:gdLst/>
            <a:ahLst/>
            <a:cxnLst/>
            <a:rect l="l" t="t" r="r" b="b"/>
            <a:pathLst>
              <a:path w="6600472" h="3960283">
                <a:moveTo>
                  <a:pt x="0" y="0"/>
                </a:moveTo>
                <a:lnTo>
                  <a:pt x="6600472" y="0"/>
                </a:lnTo>
                <a:lnTo>
                  <a:pt x="6600472" y="3960283"/>
                </a:lnTo>
                <a:lnTo>
                  <a:pt x="0" y="39602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  <p:grpSp>
        <p:nvGrpSpPr>
          <p:cNvPr id="33" name="Group 33"/>
          <p:cNvGrpSpPr/>
          <p:nvPr/>
        </p:nvGrpSpPr>
        <p:grpSpPr>
          <a:xfrm>
            <a:off x="8736253" y="3439543"/>
            <a:ext cx="8362903" cy="1360170"/>
            <a:chOff x="0" y="0"/>
            <a:chExt cx="11150537" cy="1813560"/>
          </a:xfrm>
        </p:grpSpPr>
        <p:sp>
          <p:nvSpPr>
            <p:cNvPr id="34" name="TextBox 34"/>
            <p:cNvSpPr txBox="1"/>
            <p:nvPr/>
          </p:nvSpPr>
          <p:spPr>
            <a:xfrm>
              <a:off x="0" y="-57150"/>
              <a:ext cx="11150537" cy="1870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 spc="-189" dirty="0">
                  <a:solidFill>
                    <a:srgbClr val="424242"/>
                  </a:solidFill>
                  <a:latin typeface="Open Sans"/>
                  <a:ea typeface="Open Sans"/>
                  <a:cs typeface="Open Sans"/>
                  <a:sym typeface="Open Sans"/>
                </a:rPr>
                <a:t>coherent representations → further processing in memory </a:t>
              </a:r>
            </a:p>
            <a:p>
              <a:pPr algn="l">
                <a:lnSpc>
                  <a:spcPts val="3779"/>
                </a:lnSpc>
              </a:pPr>
              <a:r>
                <a:rPr lang="en-US" sz="2700" b="1" spc="-189" dirty="0">
                  <a:solidFill>
                    <a:srgbClr val="42424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</a:p>
            <a:p>
              <a:pPr algn="l">
                <a:lnSpc>
                  <a:spcPts val="3779"/>
                </a:lnSpc>
              </a:pPr>
              <a:endParaRPr lang="en-US" sz="2700" b="1" spc="-189" dirty="0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20307" y="673735"/>
              <a:ext cx="2522086" cy="3867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520"/>
                </a:lnSpc>
              </a:pPr>
              <a:r>
                <a:rPr lang="en-US" sz="1800" spc="-126">
                  <a:solidFill>
                    <a:srgbClr val="424242"/>
                  </a:solidFill>
                  <a:latin typeface="Open Sans"/>
                  <a:ea typeface="Open Sans"/>
                  <a:cs typeface="Open Sans"/>
                  <a:sym typeface="Open Sans"/>
                </a:rPr>
                <a:t>Jensen et al., 2007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736253" y="5527423"/>
            <a:ext cx="8362903" cy="675257"/>
            <a:chOff x="0" y="0"/>
            <a:chExt cx="11150537" cy="900342"/>
          </a:xfrm>
        </p:grpSpPr>
        <p:sp>
          <p:nvSpPr>
            <p:cNvPr id="37" name="TextBox 37"/>
            <p:cNvSpPr txBox="1"/>
            <p:nvPr/>
          </p:nvSpPr>
          <p:spPr>
            <a:xfrm>
              <a:off x="0" y="-57150"/>
              <a:ext cx="11150537" cy="600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 spc="-189" dirty="0">
                  <a:solidFill>
                    <a:srgbClr val="424242"/>
                  </a:solidFill>
                  <a:latin typeface="Open Sans"/>
                  <a:ea typeface="Open Sans"/>
                  <a:cs typeface="Open Sans"/>
                  <a:sym typeface="Open Sans"/>
                </a:rPr>
                <a:t>item-level subsequent memory effects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94723" y="513627"/>
              <a:ext cx="2647671" cy="3867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520"/>
                </a:lnSpc>
              </a:pPr>
              <a:r>
                <a:rPr lang="en-US" sz="1800" spc="-126">
                  <a:solidFill>
                    <a:srgbClr val="424242"/>
                  </a:solidFill>
                  <a:latin typeface="Open Sans"/>
                  <a:ea typeface="Open Sans"/>
                  <a:cs typeface="Open Sans"/>
                  <a:sym typeface="Open Sans"/>
                </a:rPr>
                <a:t>Osipova et al., 2006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736253" y="4443478"/>
            <a:ext cx="8362903" cy="776222"/>
            <a:chOff x="0" y="0"/>
            <a:chExt cx="11150537" cy="1034962"/>
          </a:xfrm>
        </p:grpSpPr>
        <p:sp>
          <p:nvSpPr>
            <p:cNvPr id="40" name="TextBox 40"/>
            <p:cNvSpPr txBox="1"/>
            <p:nvPr/>
          </p:nvSpPr>
          <p:spPr>
            <a:xfrm>
              <a:off x="0" y="-57150"/>
              <a:ext cx="11150537" cy="600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 spc="-189" dirty="0">
                  <a:solidFill>
                    <a:srgbClr val="424242"/>
                  </a:solidFill>
                  <a:latin typeface="Open Sans"/>
                  <a:ea typeface="Open Sans"/>
                  <a:cs typeface="Open Sans"/>
                  <a:sym typeface="Open Sans"/>
                </a:rPr>
                <a:t>working memory maintenance → long term memory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20307" y="648247"/>
              <a:ext cx="2522086" cy="3867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520"/>
                </a:lnSpc>
              </a:pPr>
              <a:r>
                <a:rPr lang="en-US" sz="1800" spc="-126" dirty="0">
                  <a:solidFill>
                    <a:srgbClr val="424242"/>
                  </a:solidFill>
                  <a:latin typeface="Open Sans"/>
                  <a:ea typeface="Open Sans"/>
                  <a:cs typeface="Open Sans"/>
                  <a:sym typeface="Open Sans"/>
                </a:rPr>
                <a:t>Jensen et al., 2007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72417" y="1038225"/>
            <a:ext cx="9627175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3" name="AutoShape 3"/>
          <p:cNvSpPr/>
          <p:nvPr/>
        </p:nvSpPr>
        <p:spPr>
          <a:xfrm flipH="1" flipV="1">
            <a:off x="990600" y="-142991"/>
            <a:ext cx="38100" cy="9926717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4" name="AutoShape 4"/>
          <p:cNvSpPr/>
          <p:nvPr/>
        </p:nvSpPr>
        <p:spPr>
          <a:xfrm>
            <a:off x="0" y="9774201"/>
            <a:ext cx="18288000" cy="9525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Box 5"/>
          <p:cNvSpPr txBox="1"/>
          <p:nvPr/>
        </p:nvSpPr>
        <p:spPr>
          <a:xfrm>
            <a:off x="1372417" y="200025"/>
            <a:ext cx="11720929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5499" b="1" spc="-38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Results - Summary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970399" y="981774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24242"/>
                </a:solidFill>
                <a:latin typeface="Arimo"/>
                <a:ea typeface="Arimo"/>
                <a:cs typeface="Arimo"/>
                <a:sym typeface="Arimo"/>
              </a:rPr>
              <a:t>15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5776" y="9869762"/>
            <a:ext cx="5829445" cy="26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7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Elif Gezen | elif.gezen@psy.lmu.de |TUM-IAS SoA Workshop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8972" y="1669873"/>
            <a:ext cx="16597982" cy="4939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 spc="-123">
                <a:solidFill>
                  <a:srgbClr val="424242">
                    <a:alpha val="31765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Low control </a:t>
            </a:r>
            <a:r>
              <a:rPr lang="en-US" sz="2799" spc="-123">
                <a:solidFill>
                  <a:srgbClr val="424242">
                    <a:alpha val="31765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compared to high control over item movement </a:t>
            </a:r>
            <a:r>
              <a:rPr lang="en-US" sz="2799" b="1" spc="-123">
                <a:solidFill>
                  <a:srgbClr val="424242">
                    <a:alpha val="31765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enhances subsequent recognition</a:t>
            </a:r>
            <a:r>
              <a:rPr lang="en-US" sz="2799" spc="-123">
                <a:solidFill>
                  <a:srgbClr val="424242">
                    <a:alpha val="31765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performance.</a:t>
            </a:r>
          </a:p>
          <a:p>
            <a:pPr marL="1209039" lvl="2" indent="-403013" algn="l">
              <a:lnSpc>
                <a:spcPts val="3919"/>
              </a:lnSpc>
              <a:buFont typeface="Arial"/>
              <a:buChar char="⚬"/>
            </a:pPr>
            <a:r>
              <a:rPr lang="en-US" sz="2799" spc="-123">
                <a:solidFill>
                  <a:srgbClr val="424242">
                    <a:alpha val="31765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This effect is related to </a:t>
            </a:r>
            <a:r>
              <a:rPr lang="en-US" sz="2799" b="1" spc="-123">
                <a:solidFill>
                  <a:srgbClr val="424242">
                    <a:alpha val="31765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starting order</a:t>
            </a:r>
            <a:r>
              <a:rPr lang="en-US" sz="2799" spc="-123">
                <a:solidFill>
                  <a:srgbClr val="424242">
                    <a:alpha val="31765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(driven by participants who started with high control)</a:t>
            </a:r>
          </a:p>
          <a:p>
            <a:pPr marL="1209039" lvl="2" indent="-403013" algn="l">
              <a:lnSpc>
                <a:spcPts val="3919"/>
              </a:lnSpc>
              <a:buFont typeface="Arial"/>
              <a:buChar char="⚬"/>
            </a:pPr>
            <a:r>
              <a:rPr lang="en-US" sz="2799" spc="-123">
                <a:solidFill>
                  <a:srgbClr val="424242">
                    <a:alpha val="31765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It is accompanied by parieto-occipital gamma oscillations within 2 seconds from movement onset.</a:t>
            </a:r>
          </a:p>
          <a:p>
            <a:pPr algn="l">
              <a:lnSpc>
                <a:spcPts val="3919"/>
              </a:lnSpc>
            </a:pPr>
            <a:endParaRPr lang="en-US" sz="2799" spc="-123">
              <a:solidFill>
                <a:srgbClr val="424242">
                  <a:alpha val="31765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 spc="-123">
                <a:solidFill>
                  <a:srgbClr val="424242">
                    <a:alpha val="31765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Participants’ subjective agency ratings do not predict subsequent recognition performance. </a:t>
            </a:r>
          </a:p>
          <a:p>
            <a:pPr algn="l">
              <a:lnSpc>
                <a:spcPts val="3919"/>
              </a:lnSpc>
            </a:pPr>
            <a:endParaRPr lang="en-US" sz="2799" b="1" spc="-123">
              <a:solidFill>
                <a:srgbClr val="424242">
                  <a:alpha val="31765"/>
                </a:srgbClr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919"/>
              </a:lnSpc>
            </a:pPr>
            <a:endParaRPr lang="en-US" sz="2799" b="1" spc="-123">
              <a:solidFill>
                <a:srgbClr val="424242">
                  <a:alpha val="31765"/>
                </a:srgbClr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919"/>
              </a:lnSpc>
            </a:pPr>
            <a:endParaRPr lang="en-US" sz="2799" b="1" spc="-123">
              <a:solidFill>
                <a:srgbClr val="424242">
                  <a:alpha val="31765"/>
                </a:srgbClr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919"/>
              </a:lnSpc>
            </a:pPr>
            <a:endParaRPr lang="en-US" sz="2799" b="1" spc="-123">
              <a:solidFill>
                <a:srgbClr val="424242">
                  <a:alpha val="31765"/>
                </a:srgbClr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88972" y="4835171"/>
            <a:ext cx="16597982" cy="4939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endParaRPr/>
          </a:p>
          <a:p>
            <a:pPr algn="l">
              <a:lnSpc>
                <a:spcPts val="3919"/>
              </a:lnSpc>
            </a:pPr>
            <a:endParaRPr/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 spc="-123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Controlled items are remembered better than uncontrolled ones in all conditions.</a:t>
            </a:r>
          </a:p>
          <a:p>
            <a:pPr algn="l">
              <a:lnSpc>
                <a:spcPts val="3919"/>
              </a:lnSpc>
            </a:pPr>
            <a:endParaRPr lang="en-US" sz="2799" b="1" spc="-123">
              <a:solidFill>
                <a:srgbClr val="424242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 spc="-123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Consciously detecting control enhances subsequent recognition performance</a:t>
            </a:r>
            <a:r>
              <a:rPr lang="en-US" sz="2799" spc="-123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 regardless of control condition.</a:t>
            </a:r>
          </a:p>
          <a:p>
            <a:pPr marL="1209039" lvl="2" indent="-403013" algn="l">
              <a:lnSpc>
                <a:spcPts val="3919"/>
              </a:lnSpc>
              <a:buFont typeface="Arial"/>
              <a:buChar char="⚬"/>
            </a:pPr>
            <a:r>
              <a:rPr lang="en-US" sz="2799" spc="-123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This effect is</a:t>
            </a:r>
            <a:r>
              <a:rPr lang="en-US" sz="2799" b="1" spc="-123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robust to order effects</a:t>
            </a:r>
            <a:r>
              <a:rPr lang="en-US" sz="2799" spc="-123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3919"/>
              </a:lnSpc>
            </a:pPr>
            <a:endParaRPr lang="en-US" sz="2799" spc="-123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919"/>
              </a:lnSpc>
            </a:pPr>
            <a:endParaRPr lang="en-US" sz="2799" spc="-123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919"/>
              </a:lnSpc>
            </a:pPr>
            <a:endParaRPr lang="en-US" sz="2799" spc="-123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72417" y="1038225"/>
            <a:ext cx="9627175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3" name="AutoShape 3"/>
          <p:cNvSpPr/>
          <p:nvPr/>
        </p:nvSpPr>
        <p:spPr>
          <a:xfrm flipH="1" flipV="1">
            <a:off x="990600" y="-142991"/>
            <a:ext cx="38100" cy="9926717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4" name="AutoShape 4"/>
          <p:cNvSpPr/>
          <p:nvPr/>
        </p:nvSpPr>
        <p:spPr>
          <a:xfrm>
            <a:off x="0" y="9774201"/>
            <a:ext cx="18288000" cy="9525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Box 5"/>
          <p:cNvSpPr txBox="1"/>
          <p:nvPr/>
        </p:nvSpPr>
        <p:spPr>
          <a:xfrm>
            <a:off x="1335534" y="4899108"/>
            <a:ext cx="16634864" cy="318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 spc="-210" dirty="0">
                <a:solidFill>
                  <a:srgbClr val="55B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Low level action monitoring</a:t>
            </a:r>
            <a:r>
              <a:rPr lang="en-US" sz="3000" b="1" spc="-210" dirty="0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&amp; </a:t>
            </a:r>
            <a:r>
              <a:rPr lang="en-US" sz="3000" b="1" spc="-210" dirty="0">
                <a:solidFill>
                  <a:srgbClr val="FD79C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judgements of agency</a:t>
            </a:r>
            <a:r>
              <a:rPr lang="en-US" sz="3000" b="1" spc="-210" dirty="0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are </a:t>
            </a:r>
            <a:r>
              <a:rPr lang="en-US" sz="3000" b="1" spc="-210" dirty="0" err="1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neurally</a:t>
            </a:r>
            <a:r>
              <a:rPr lang="en-US" sz="3000" b="1" spc="-210" dirty="0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distinguished processes</a:t>
            </a:r>
            <a:r>
              <a:rPr lang="en-US" sz="3000" spc="-210" dirty="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 (Miele et al., 2011)</a:t>
            </a:r>
          </a:p>
          <a:p>
            <a:pPr algn="l">
              <a:lnSpc>
                <a:spcPts val="4200"/>
              </a:lnSpc>
            </a:pPr>
            <a:endParaRPr lang="en-US" sz="3000" spc="-210" dirty="0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200"/>
              </a:lnSpc>
            </a:pPr>
            <a:endParaRPr lang="en-US" sz="3000" spc="-210" dirty="0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200"/>
              </a:lnSpc>
            </a:pPr>
            <a:endParaRPr lang="en-US" sz="3000" spc="-210" dirty="0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200"/>
              </a:lnSpc>
            </a:pPr>
            <a:endParaRPr lang="en-US" sz="3000" spc="-210" dirty="0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372417" y="200025"/>
            <a:ext cx="11720929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5499" b="1" spc="-38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Discussion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970399" y="981774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24242"/>
                </a:solidFill>
                <a:latin typeface="Arimo"/>
                <a:ea typeface="Arimo"/>
                <a:cs typeface="Arimo"/>
                <a:sym typeface="Arimo"/>
              </a:rPr>
              <a:t>16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776" y="9869762"/>
            <a:ext cx="5829445" cy="26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7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Elif Gezen | elif.gezen@psy.lmu.de |TUM-IAS SoA Workshop 2026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677814" y="3093436"/>
            <a:ext cx="3429000" cy="514350"/>
            <a:chOff x="0" y="0"/>
            <a:chExt cx="4572000" cy="685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572000" cy="685800"/>
            </a:xfrm>
            <a:custGeom>
              <a:avLst/>
              <a:gdLst/>
              <a:ahLst/>
              <a:cxnLst/>
              <a:rect l="l" t="t" r="r" b="b"/>
              <a:pathLst>
                <a:path w="4572000" h="685800">
                  <a:moveTo>
                    <a:pt x="146403" y="0"/>
                  </a:moveTo>
                  <a:lnTo>
                    <a:pt x="4425597" y="0"/>
                  </a:lnTo>
                  <a:cubicBezTo>
                    <a:pt x="4506453" y="0"/>
                    <a:pt x="4572000" y="65547"/>
                    <a:pt x="4572000" y="146403"/>
                  </a:cubicBezTo>
                  <a:lnTo>
                    <a:pt x="4572000" y="539397"/>
                  </a:lnTo>
                  <a:cubicBezTo>
                    <a:pt x="4572000" y="620253"/>
                    <a:pt x="4506453" y="685800"/>
                    <a:pt x="4425597" y="685800"/>
                  </a:cubicBezTo>
                  <a:lnTo>
                    <a:pt x="146403" y="685800"/>
                  </a:lnTo>
                  <a:cubicBezTo>
                    <a:pt x="65547" y="685800"/>
                    <a:pt x="0" y="620253"/>
                    <a:pt x="0" y="539397"/>
                  </a:cubicBezTo>
                  <a:lnTo>
                    <a:pt x="0" y="146403"/>
                  </a:lnTo>
                  <a:cubicBezTo>
                    <a:pt x="0" y="65547"/>
                    <a:pt x="65547" y="0"/>
                    <a:pt x="146403" y="0"/>
                  </a:cubicBezTo>
                  <a:close/>
                </a:path>
              </a:pathLst>
            </a:custGeom>
            <a:solidFill>
              <a:srgbClr val="55BFFF"/>
            </a:solidFill>
          </p:spPr>
          <p:txBody>
            <a:bodyPr/>
            <a:lstStyle/>
            <a:p>
              <a:endParaRPr lang="en-D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5720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012314" y="3093436"/>
            <a:ext cx="3429000" cy="514350"/>
            <a:chOff x="0" y="0"/>
            <a:chExt cx="4572000" cy="685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572000" cy="685800"/>
            </a:xfrm>
            <a:custGeom>
              <a:avLst/>
              <a:gdLst/>
              <a:ahLst/>
              <a:cxnLst/>
              <a:rect l="l" t="t" r="r" b="b"/>
              <a:pathLst>
                <a:path w="4572000" h="685800">
                  <a:moveTo>
                    <a:pt x="146403" y="0"/>
                  </a:moveTo>
                  <a:lnTo>
                    <a:pt x="4425597" y="0"/>
                  </a:lnTo>
                  <a:cubicBezTo>
                    <a:pt x="4506453" y="0"/>
                    <a:pt x="4572000" y="65547"/>
                    <a:pt x="4572000" y="146403"/>
                  </a:cubicBezTo>
                  <a:lnTo>
                    <a:pt x="4572000" y="539397"/>
                  </a:lnTo>
                  <a:cubicBezTo>
                    <a:pt x="4572000" y="620253"/>
                    <a:pt x="4506453" y="685800"/>
                    <a:pt x="4425597" y="685800"/>
                  </a:cubicBezTo>
                  <a:lnTo>
                    <a:pt x="146403" y="685800"/>
                  </a:lnTo>
                  <a:cubicBezTo>
                    <a:pt x="65547" y="685800"/>
                    <a:pt x="0" y="620253"/>
                    <a:pt x="0" y="539397"/>
                  </a:cubicBezTo>
                  <a:lnTo>
                    <a:pt x="0" y="146403"/>
                  </a:lnTo>
                  <a:cubicBezTo>
                    <a:pt x="0" y="65547"/>
                    <a:pt x="65547" y="0"/>
                    <a:pt x="146403" y="0"/>
                  </a:cubicBezTo>
                  <a:close/>
                </a:path>
              </a:pathLst>
            </a:custGeom>
            <a:solidFill>
              <a:srgbClr val="F87AC4"/>
            </a:solidFill>
          </p:spPr>
          <p:txBody>
            <a:bodyPr/>
            <a:lstStyle/>
            <a:p>
              <a:endParaRPr lang="en-DE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5720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677814" y="3150586"/>
            <a:ext cx="342900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Lower-level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12314" y="3150586"/>
            <a:ext cx="342900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Higher-level 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141442" y="2588701"/>
            <a:ext cx="1962559" cy="1481732"/>
            <a:chOff x="0" y="0"/>
            <a:chExt cx="2616746" cy="1975643"/>
          </a:xfrm>
        </p:grpSpPr>
        <p:sp>
          <p:nvSpPr>
            <p:cNvPr id="18" name="Freeform 18"/>
            <p:cNvSpPr/>
            <p:nvPr/>
          </p:nvSpPr>
          <p:spPr>
            <a:xfrm>
              <a:off x="370743" y="350945"/>
              <a:ext cx="1875259" cy="1322058"/>
            </a:xfrm>
            <a:custGeom>
              <a:avLst/>
              <a:gdLst/>
              <a:ahLst/>
              <a:cxnLst/>
              <a:rect l="l" t="t" r="r" b="b"/>
              <a:pathLst>
                <a:path w="1875259" h="1322058">
                  <a:moveTo>
                    <a:pt x="0" y="0"/>
                  </a:moveTo>
                  <a:lnTo>
                    <a:pt x="1875259" y="0"/>
                  </a:lnTo>
                  <a:lnTo>
                    <a:pt x="1875259" y="1322057"/>
                  </a:lnTo>
                  <a:lnTo>
                    <a:pt x="0" y="1322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DE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2616746" cy="1975643"/>
            </a:xfrm>
            <a:custGeom>
              <a:avLst/>
              <a:gdLst/>
              <a:ahLst/>
              <a:cxnLst/>
              <a:rect l="l" t="t" r="r" b="b"/>
              <a:pathLst>
                <a:path w="2616746" h="1975643">
                  <a:moveTo>
                    <a:pt x="0" y="0"/>
                  </a:moveTo>
                  <a:lnTo>
                    <a:pt x="2616746" y="0"/>
                  </a:lnTo>
                  <a:lnTo>
                    <a:pt x="2616746" y="1975643"/>
                  </a:lnTo>
                  <a:lnTo>
                    <a:pt x="0" y="1975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76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DE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595850" y="2108641"/>
            <a:ext cx="5637031" cy="480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i="1">
                <a:solidFill>
                  <a:srgbClr val="424242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advantage for the controlled item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99592" y="2256755"/>
            <a:ext cx="5637031" cy="480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i="1">
                <a:solidFill>
                  <a:srgbClr val="424242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advantage for conscious detection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72417" y="5442033"/>
            <a:ext cx="16634864" cy="371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endParaRPr dirty="0"/>
          </a:p>
          <a:p>
            <a:pPr algn="l">
              <a:lnSpc>
                <a:spcPts val="4200"/>
              </a:lnSpc>
            </a:pPr>
            <a:endParaRPr dirty="0"/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 spc="-210" dirty="0">
                <a:solidFill>
                  <a:srgbClr val="55B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Predictive mechanisms</a:t>
            </a:r>
            <a:r>
              <a:rPr lang="en-US" sz="3000" spc="-210" dirty="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 that compute </a:t>
            </a:r>
            <a:r>
              <a:rPr lang="en-US" sz="3000" spc="-210" dirty="0" err="1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SoA</a:t>
            </a:r>
            <a:r>
              <a:rPr lang="en-US" sz="3000" spc="-210" dirty="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 b="1" spc="-210" dirty="0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might operate unconsciously</a:t>
            </a:r>
            <a:r>
              <a:rPr lang="en-US" sz="3000" spc="-210" dirty="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 (Wen et al., 2023)</a:t>
            </a:r>
          </a:p>
          <a:p>
            <a:pPr algn="l">
              <a:lnSpc>
                <a:spcPts val="4200"/>
              </a:lnSpc>
            </a:pPr>
            <a:endParaRPr lang="en-US" sz="3000" spc="-210" dirty="0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200"/>
              </a:lnSpc>
            </a:pPr>
            <a:endParaRPr lang="en-US" sz="3000" spc="-210" dirty="0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200"/>
              </a:lnSpc>
            </a:pPr>
            <a:endParaRPr lang="en-US" sz="3000" spc="-210" dirty="0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200"/>
              </a:lnSpc>
            </a:pPr>
            <a:endParaRPr lang="en-US" sz="3000" spc="-210" dirty="0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372417" y="6727908"/>
            <a:ext cx="16634864" cy="264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endParaRPr dirty="0"/>
          </a:p>
          <a:p>
            <a:pPr algn="l">
              <a:lnSpc>
                <a:spcPts val="4200"/>
              </a:lnSpc>
            </a:pPr>
            <a:endParaRPr dirty="0"/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 spc="-210" dirty="0">
                <a:solidFill>
                  <a:srgbClr val="55B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Embodied </a:t>
            </a:r>
            <a:r>
              <a:rPr lang="en-US" sz="3000" b="1" spc="-210" dirty="0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vs </a:t>
            </a:r>
            <a:r>
              <a:rPr lang="en-US" sz="3000" b="1" spc="-210" dirty="0">
                <a:solidFill>
                  <a:srgbClr val="F87A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external </a:t>
            </a:r>
            <a:r>
              <a:rPr lang="en-US" sz="3000" b="1" spc="-210" dirty="0" err="1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SoA</a:t>
            </a:r>
            <a:r>
              <a:rPr lang="en-US" sz="3000" spc="-210" dirty="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 (Wen et al., 2023)</a:t>
            </a:r>
          </a:p>
          <a:p>
            <a:pPr algn="l">
              <a:lnSpc>
                <a:spcPts val="4200"/>
              </a:lnSpc>
            </a:pPr>
            <a:endParaRPr lang="en-US" sz="3000" spc="-210" dirty="0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200"/>
              </a:lnSpc>
            </a:pPr>
            <a:endParaRPr lang="en-US" sz="3000" spc="-210" dirty="0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72417" y="1038225"/>
            <a:ext cx="9627175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3" name="AutoShape 3"/>
          <p:cNvSpPr/>
          <p:nvPr/>
        </p:nvSpPr>
        <p:spPr>
          <a:xfrm flipH="1" flipV="1">
            <a:off x="990600" y="-142991"/>
            <a:ext cx="38100" cy="9926717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4" name="AutoShape 4"/>
          <p:cNvSpPr/>
          <p:nvPr/>
        </p:nvSpPr>
        <p:spPr>
          <a:xfrm>
            <a:off x="0" y="9774201"/>
            <a:ext cx="18288000" cy="9525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Box 5"/>
          <p:cNvSpPr txBox="1"/>
          <p:nvPr/>
        </p:nvSpPr>
        <p:spPr>
          <a:xfrm>
            <a:off x="1372417" y="200025"/>
            <a:ext cx="11720929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5499" b="1" spc="-38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Limitations &amp; Open Questions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970399" y="981774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24242"/>
                </a:solidFill>
                <a:latin typeface="Arimo"/>
                <a:ea typeface="Arimo"/>
                <a:cs typeface="Arimo"/>
                <a:sym typeface="Arimo"/>
              </a:rPr>
              <a:t>17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5776" y="9869762"/>
            <a:ext cx="5829445" cy="26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7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Elif Gezen | elif.gezen@psy.lmu.de |TUM-IAS SoA Workshop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2417" y="7154758"/>
            <a:ext cx="15763184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-210" dirty="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Does partial loss of control (e.g. human-AI shared control) enhance memory for real-life occurrences?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435583" y="2239858"/>
            <a:ext cx="9564009" cy="1009650"/>
            <a:chOff x="0" y="0"/>
            <a:chExt cx="12752012" cy="134620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57150"/>
              <a:ext cx="12167812" cy="666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buFont typeface="Arial"/>
                <a:buChar char="•"/>
              </a:pPr>
              <a:r>
                <a:rPr lang="en-US" sz="3000" spc="-210">
                  <a:solidFill>
                    <a:srgbClr val="424242"/>
                  </a:solidFill>
                  <a:latin typeface="Open Sans"/>
                  <a:ea typeface="Open Sans"/>
                  <a:cs typeface="Open Sans"/>
                  <a:sym typeface="Open Sans"/>
                </a:rPr>
                <a:t>Is it the</a:t>
              </a:r>
              <a:r>
                <a:rPr lang="en-US" sz="3000" b="1" spc="-210">
                  <a:solidFill>
                    <a:srgbClr val="42424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loss of </a:t>
              </a:r>
              <a:r>
                <a:rPr lang="en-US" sz="3000" spc="-210">
                  <a:solidFill>
                    <a:srgbClr val="424242"/>
                  </a:solidFill>
                  <a:latin typeface="Open Sans"/>
                  <a:ea typeface="Open Sans"/>
                  <a:cs typeface="Open Sans"/>
                  <a:sym typeface="Open Sans"/>
                </a:rPr>
                <a:t>control, or</a:t>
              </a:r>
              <a:r>
                <a:rPr lang="en-US" sz="3000" b="1" spc="-210">
                  <a:solidFill>
                    <a:srgbClr val="42424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low</a:t>
              </a:r>
              <a:r>
                <a:rPr lang="en-US" sz="3000" spc="-210">
                  <a:solidFill>
                    <a:srgbClr val="424242"/>
                  </a:solidFill>
                  <a:latin typeface="Open Sans"/>
                  <a:ea typeface="Open Sans"/>
                  <a:cs typeface="Open Sans"/>
                  <a:sym typeface="Open Sans"/>
                </a:rPr>
                <a:t> control?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4200" y="679450"/>
              <a:ext cx="12167812" cy="666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buFont typeface="Arial"/>
                <a:buChar char="•"/>
              </a:pPr>
              <a:r>
                <a:rPr lang="en-US" sz="3000" i="1" spc="-210" dirty="0">
                  <a:solidFill>
                    <a:srgbClr val="424242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trial-wise, more systematic manipulation of control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72417" y="4459183"/>
            <a:ext cx="14669534" cy="1543050"/>
            <a:chOff x="0" y="0"/>
            <a:chExt cx="19559379" cy="205740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57150"/>
              <a:ext cx="19559379" cy="1377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buFont typeface="Arial"/>
                <a:buChar char="•"/>
              </a:pPr>
              <a:r>
                <a:rPr lang="en-US" sz="3000" spc="-210" dirty="0">
                  <a:solidFill>
                    <a:srgbClr val="424242"/>
                  </a:solidFill>
                  <a:latin typeface="Open Sans"/>
                  <a:ea typeface="Open Sans"/>
                  <a:cs typeface="Open Sans"/>
                  <a:sym typeface="Open Sans"/>
                </a:rPr>
                <a:t>Would the effect of control on memory translate to an item-level subsequent memory effect?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4200" y="1390650"/>
              <a:ext cx="12167812" cy="666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buFont typeface="Arial"/>
                <a:buChar char="•"/>
              </a:pPr>
              <a:r>
                <a:rPr lang="en-US" sz="3000" i="1" spc="-210">
                  <a:solidFill>
                    <a:srgbClr val="424242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design that allows for this (single images during encoding)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990600" y="-142991"/>
            <a:ext cx="38100" cy="9926717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3" name="AutoShape 3"/>
          <p:cNvSpPr/>
          <p:nvPr/>
        </p:nvSpPr>
        <p:spPr>
          <a:xfrm>
            <a:off x="0" y="9774201"/>
            <a:ext cx="18288000" cy="9525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/>
          </a:p>
        </p:txBody>
      </p:sp>
      <p:sp>
        <p:nvSpPr>
          <p:cNvPr id="4" name="Freeform 4"/>
          <p:cNvSpPr/>
          <p:nvPr/>
        </p:nvSpPr>
        <p:spPr>
          <a:xfrm>
            <a:off x="1228725" y="371475"/>
            <a:ext cx="2683588" cy="1341794"/>
          </a:xfrm>
          <a:custGeom>
            <a:avLst/>
            <a:gdLst/>
            <a:ahLst/>
            <a:cxnLst/>
            <a:rect l="l" t="t" r="r" b="b"/>
            <a:pathLst>
              <a:path w="2683588" h="1341794">
                <a:moveTo>
                  <a:pt x="0" y="0"/>
                </a:moveTo>
                <a:lnTo>
                  <a:pt x="2683588" y="0"/>
                </a:lnTo>
                <a:lnTo>
                  <a:pt x="2683588" y="1341794"/>
                </a:lnTo>
                <a:lnTo>
                  <a:pt x="0" y="1341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3048" t="-155567" r="-104923" b="-155061"/>
            </a:stretch>
          </a:blipFill>
        </p:spPr>
        <p:txBody>
          <a:bodyPr/>
          <a:lstStyle/>
          <a:p>
            <a:endParaRPr lang="en-DE"/>
          </a:p>
        </p:txBody>
      </p:sp>
      <p:grpSp>
        <p:nvGrpSpPr>
          <p:cNvPr id="5" name="Group 5"/>
          <p:cNvGrpSpPr/>
          <p:nvPr/>
        </p:nvGrpSpPr>
        <p:grpSpPr>
          <a:xfrm>
            <a:off x="1190625" y="2628900"/>
            <a:ext cx="7991475" cy="4892225"/>
            <a:chOff x="0" y="0"/>
            <a:chExt cx="10655300" cy="6522967"/>
          </a:xfrm>
        </p:grpSpPr>
        <p:sp>
          <p:nvSpPr>
            <p:cNvPr id="6" name="AutoShape 6"/>
            <p:cNvSpPr/>
            <p:nvPr/>
          </p:nvSpPr>
          <p:spPr>
            <a:xfrm>
              <a:off x="50362" y="1317168"/>
              <a:ext cx="10554138" cy="0"/>
            </a:xfrm>
            <a:prstGeom prst="line">
              <a:avLst/>
            </a:prstGeom>
            <a:ln w="25381" cap="flat">
              <a:solidFill>
                <a:srgbClr val="424242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647700" y="2336800"/>
              <a:ext cx="2521618" cy="3602832"/>
              <a:chOff x="0" y="0"/>
              <a:chExt cx="753957" cy="107723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53957" cy="1077237"/>
              </a:xfrm>
              <a:custGeom>
                <a:avLst/>
                <a:gdLst/>
                <a:ahLst/>
                <a:cxnLst/>
                <a:rect l="l" t="t" r="r" b="b"/>
                <a:pathLst>
                  <a:path w="753957" h="1077237">
                    <a:moveTo>
                      <a:pt x="0" y="0"/>
                    </a:moveTo>
                    <a:lnTo>
                      <a:pt x="753957" y="0"/>
                    </a:lnTo>
                    <a:lnTo>
                      <a:pt x="753957" y="1077237"/>
                    </a:lnTo>
                    <a:lnTo>
                      <a:pt x="0" y="1077237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18793" r="-18793"/>
                </a:stretch>
              </a:blipFill>
              <a:ln w="19050" cap="sq">
                <a:solidFill>
                  <a:srgbClr val="42424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DE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0" y="6057900"/>
              <a:ext cx="3818635" cy="465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84"/>
                </a:lnSpc>
                <a:spcBef>
                  <a:spcPct val="0"/>
                </a:spcBef>
              </a:pPr>
              <a:r>
                <a:rPr lang="en-US" sz="2131" spc="-93">
                  <a:solidFill>
                    <a:srgbClr val="424242"/>
                  </a:solidFill>
                  <a:latin typeface="Open Sans"/>
                  <a:ea typeface="Open Sans"/>
                  <a:cs typeface="Open Sans"/>
                  <a:sym typeface="Open Sans"/>
                </a:rPr>
                <a:t>Simone Schütz-Bosbach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7480300" y="2336800"/>
              <a:ext cx="2521618" cy="3602832"/>
              <a:chOff x="0" y="0"/>
              <a:chExt cx="753957" cy="107723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53957" cy="1077237"/>
              </a:xfrm>
              <a:custGeom>
                <a:avLst/>
                <a:gdLst/>
                <a:ahLst/>
                <a:cxnLst/>
                <a:rect l="l" t="t" r="r" b="b"/>
                <a:pathLst>
                  <a:path w="753957" h="1077237">
                    <a:moveTo>
                      <a:pt x="0" y="0"/>
                    </a:moveTo>
                    <a:lnTo>
                      <a:pt x="753957" y="0"/>
                    </a:lnTo>
                    <a:lnTo>
                      <a:pt x="753957" y="1077237"/>
                    </a:lnTo>
                    <a:lnTo>
                      <a:pt x="0" y="1077237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21438" r="-21438"/>
                </a:stretch>
              </a:blipFill>
              <a:ln w="19050" cap="sq">
                <a:solidFill>
                  <a:srgbClr val="42424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DE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6832600" y="6057900"/>
              <a:ext cx="3822700" cy="465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84"/>
                </a:lnSpc>
                <a:spcBef>
                  <a:spcPct val="0"/>
                </a:spcBef>
              </a:pPr>
              <a:r>
                <a:rPr lang="en-US" sz="2131" spc="-93">
                  <a:solidFill>
                    <a:srgbClr val="424242"/>
                  </a:solidFill>
                  <a:latin typeface="Open Sans"/>
                  <a:ea typeface="Open Sans"/>
                  <a:cs typeface="Open Sans"/>
                  <a:sym typeface="Open Sans"/>
                </a:rPr>
                <a:t>Simon Knogler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4064000" y="2336800"/>
              <a:ext cx="2521618" cy="3602832"/>
              <a:chOff x="0" y="0"/>
              <a:chExt cx="753957" cy="107723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753957" cy="1077237"/>
              </a:xfrm>
              <a:custGeom>
                <a:avLst/>
                <a:gdLst/>
                <a:ahLst/>
                <a:cxnLst/>
                <a:rect l="l" t="t" r="r" b="b"/>
                <a:pathLst>
                  <a:path w="753957" h="1077237">
                    <a:moveTo>
                      <a:pt x="0" y="0"/>
                    </a:moveTo>
                    <a:lnTo>
                      <a:pt x="753957" y="0"/>
                    </a:lnTo>
                    <a:lnTo>
                      <a:pt x="753957" y="1077237"/>
                    </a:lnTo>
                    <a:lnTo>
                      <a:pt x="0" y="1077237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21438" r="-21438"/>
                </a:stretch>
              </a:blipFill>
              <a:ln w="19050" cap="sq">
                <a:solidFill>
                  <a:srgbClr val="42424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DE"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3416300" y="6057900"/>
              <a:ext cx="3822700" cy="465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84"/>
                </a:lnSpc>
                <a:spcBef>
                  <a:spcPct val="0"/>
                </a:spcBef>
              </a:pPr>
              <a:r>
                <a:rPr lang="en-US" sz="2131" spc="-93">
                  <a:solidFill>
                    <a:srgbClr val="424242"/>
                  </a:solidFill>
                  <a:latin typeface="Open Sans"/>
                  <a:ea typeface="Open Sans"/>
                  <a:cs typeface="Open Sans"/>
                  <a:sym typeface="Open Sans"/>
                </a:rPr>
                <a:t>Püren Gürkan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81300" y="152400"/>
              <a:ext cx="5085646" cy="952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49"/>
                </a:lnSpc>
              </a:pPr>
              <a:r>
                <a:rPr lang="en-US" sz="5499" b="1" spc="-384">
                  <a:solidFill>
                    <a:srgbClr val="424242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Thank You!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7970399" y="981774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24242"/>
                </a:solidFill>
                <a:latin typeface="Arimo"/>
                <a:ea typeface="Arimo"/>
                <a:cs typeface="Arimo"/>
                <a:sym typeface="Arimo"/>
              </a:rPr>
              <a:t>18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5776" y="9869762"/>
            <a:ext cx="5829445" cy="26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70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Elif Gezen | elif.gezen@psy.lmu.de |TUM-IAS SoA Workshop 2026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991725" y="2628900"/>
            <a:ext cx="7915603" cy="4360318"/>
            <a:chOff x="0" y="0"/>
            <a:chExt cx="10554138" cy="5813757"/>
          </a:xfrm>
        </p:grpSpPr>
        <p:sp>
          <p:nvSpPr>
            <p:cNvPr id="20" name="AutoShape 20"/>
            <p:cNvSpPr/>
            <p:nvPr/>
          </p:nvSpPr>
          <p:spPr>
            <a:xfrm>
              <a:off x="0" y="1308100"/>
              <a:ext cx="10554138" cy="0"/>
            </a:xfrm>
            <a:prstGeom prst="line">
              <a:avLst/>
            </a:prstGeom>
            <a:ln w="25400" cap="flat">
              <a:solidFill>
                <a:srgbClr val="424242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3499305" y="2204887"/>
              <a:ext cx="3608870" cy="3608870"/>
            </a:xfrm>
            <a:custGeom>
              <a:avLst/>
              <a:gdLst/>
              <a:ahLst/>
              <a:cxnLst/>
              <a:rect l="l" t="t" r="r" b="b"/>
              <a:pathLst>
                <a:path w="3608870" h="3608870">
                  <a:moveTo>
                    <a:pt x="0" y="0"/>
                  </a:moveTo>
                  <a:lnTo>
                    <a:pt x="3608870" y="0"/>
                  </a:lnTo>
                  <a:lnTo>
                    <a:pt x="3608870" y="3608870"/>
                  </a:lnTo>
                  <a:lnTo>
                    <a:pt x="0" y="3608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DE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60917" y="152400"/>
              <a:ext cx="5085646" cy="952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49"/>
                </a:lnSpc>
              </a:pPr>
              <a:r>
                <a:rPr lang="en-US" sz="5499" b="1" spc="-384">
                  <a:solidFill>
                    <a:srgbClr val="424242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Contact Me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14505494" y="374347"/>
            <a:ext cx="3398077" cy="1325250"/>
          </a:xfrm>
          <a:custGeom>
            <a:avLst/>
            <a:gdLst/>
            <a:ahLst/>
            <a:cxnLst/>
            <a:rect l="l" t="t" r="r" b="b"/>
            <a:pathLst>
              <a:path w="3398077" h="1325250">
                <a:moveTo>
                  <a:pt x="0" y="0"/>
                </a:moveTo>
                <a:lnTo>
                  <a:pt x="3398077" y="0"/>
                </a:lnTo>
                <a:lnTo>
                  <a:pt x="3398077" y="1325250"/>
                </a:lnTo>
                <a:lnTo>
                  <a:pt x="0" y="1325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1406</Words>
  <Application>Microsoft Office PowerPoint</Application>
  <PresentationFormat>Custom</PresentationFormat>
  <Paragraphs>227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Arimo</vt:lpstr>
      <vt:lpstr>Calibri</vt:lpstr>
      <vt:lpstr>Playfair Display Bold</vt:lpstr>
      <vt:lpstr>Open Sans</vt:lpstr>
      <vt:lpstr>Arial</vt:lpstr>
      <vt:lpstr>Open Sans Bold</vt:lpstr>
      <vt:lpstr>Open Sans Bold Italics</vt:lpstr>
      <vt:lpstr>Open Sans Italics</vt:lpstr>
      <vt:lpstr>Open Sauce Bold</vt:lpstr>
      <vt:lpstr>Playfair Display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TUM-IAS_SoAWorkshop_230926</dc:title>
  <cp:lastModifiedBy>Gezen, Elif</cp:lastModifiedBy>
  <cp:revision>5</cp:revision>
  <dcterms:created xsi:type="dcterms:W3CDTF">2006-08-16T00:00:00Z</dcterms:created>
  <dcterms:modified xsi:type="dcterms:W3CDTF">2026-10-09T10:01:22Z</dcterms:modified>
  <dc:identifier>DAHWAF9Gjak</dc:identifier>
</cp:coreProperties>
</file>